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C_BBBC118A.xml" ContentType="application/vnd.ms-powerpoint.comments+xml"/>
  <Override PartName="/ppt/comments/modernComment_10D_37EF09E2.xml" ContentType="application/vnd.ms-powerpoint.comments+xml"/>
  <Override PartName="/ppt/comments/modernComment_10E_1987E5C4.xml" ContentType="application/vnd.ms-powerpoint.comments+xml"/>
  <Override PartName="/ppt/comments/modernComment_10F_2841119.xml" ContentType="application/vnd.ms-powerpoint.comments+xml"/>
  <Override PartName="/ppt/comments/modernComment_110_B06F1B06.xml" ContentType="application/vnd.ms-powerpoint.comments+xml"/>
  <Override PartName="/ppt/comments/modernComment_111_DEDAE159.xml" ContentType="application/vnd.ms-powerpoint.comments+xml"/>
  <Override PartName="/ppt/comments/modernComment_112_2B6B66EB.xml" ContentType="application/vnd.ms-powerpoint.comments+xml"/>
  <Override PartName="/ppt/comments/modernComment_113_34E2992C.xml" ContentType="application/vnd.ms-powerpoint.comments+xml"/>
  <Override PartName="/ppt/comments/modernComment_114_675A92DB.xml" ContentType="application/vnd.ms-powerpoint.comments+xml"/>
  <Override PartName="/ppt/comments/modernComment_115_20354BA0.xml" ContentType="application/vnd.ms-powerpoint.comments+xml"/>
  <Override PartName="/ppt/comments/modernComment_116_AD99B5D0.xml" ContentType="application/vnd.ms-powerpoint.comments+xml"/>
  <Override PartName="/ppt/comments/modernComment_119_17C78FA3.xml" ContentType="application/vnd.ms-powerpoint.comments+xml"/>
  <Override PartName="/ppt/comments/modernComment_124_71D6859.xml" ContentType="application/vnd.ms-powerpoint.comments+xml"/>
  <Override PartName="/ppt/comments/modernComment_11E_AFFEA5F5.xml" ContentType="application/vnd.ms-powerpoint.comments+xml"/>
  <Override PartName="/ppt/comments/modernComment_121_CDBDBB31.xml" ContentType="application/vnd.ms-powerpoint.comments+xml"/>
  <Override PartName="/ppt/comments/modernComment_11F_783508F5.xml" ContentType="application/vnd.ms-powerpoint.comments+xml"/>
  <Override PartName="/ppt/comments/modernComment_122_1C4D6E81.xml" ContentType="application/vnd.ms-powerpoint.comments+xml"/>
  <Override PartName="/ppt/comments/modernComment_123_FD7BE6AE.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8" r:id="rId3"/>
    <p:sldId id="269" r:id="rId4"/>
    <p:sldId id="270" r:id="rId5"/>
    <p:sldId id="271" r:id="rId6"/>
    <p:sldId id="272" r:id="rId7"/>
    <p:sldId id="273" r:id="rId8"/>
    <p:sldId id="274" r:id="rId9"/>
    <p:sldId id="275" r:id="rId10"/>
    <p:sldId id="276" r:id="rId11"/>
    <p:sldId id="277" r:id="rId12"/>
    <p:sldId id="278" r:id="rId13"/>
    <p:sldId id="281" r:id="rId14"/>
    <p:sldId id="292" r:id="rId15"/>
    <p:sldId id="286" r:id="rId16"/>
    <p:sldId id="289" r:id="rId17"/>
    <p:sldId id="287" r:id="rId18"/>
    <p:sldId id="290" r:id="rId19"/>
    <p:sldId id="291"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29F1D2B-24B6-F574-AF56-E94FABC86E51}" name="Taisei Yamamoto" initials="TY" userId="dfef10533e72e40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テーマ スタイル 1 - アクセント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64" autoAdjust="0"/>
    <p:restoredTop sz="94660"/>
  </p:normalViewPr>
  <p:slideViewPr>
    <p:cSldViewPr snapToGrid="0">
      <p:cViewPr varScale="1">
        <p:scale>
          <a:sx n="59" d="100"/>
          <a:sy n="59" d="100"/>
        </p:scale>
        <p:origin x="3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omments/modernComment_10C_BBBC118A.xml><?xml version="1.0" encoding="utf-8"?>
<p188:cmLst xmlns:a="http://schemas.openxmlformats.org/drawingml/2006/main" xmlns:r="http://schemas.openxmlformats.org/officeDocument/2006/relationships" xmlns:p188="http://schemas.microsoft.com/office/powerpoint/2018/8/main">
  <p188:cm id="{5307A9FA-5E3A-4584-A3BE-582E2FF4C26A}" authorId="{229F1D2B-24B6-F574-AF56-E94FABC86E51}" created="2026-06-08T11:35:17.503">
    <pc:sldMkLst xmlns:pc="http://schemas.microsoft.com/office/powerpoint/2013/main/command">
      <pc:docMk/>
      <pc:sldMk cId="3149664650" sldId="268"/>
    </pc:sldMkLst>
    <p188:txBody>
      <a:bodyPr/>
      <a:lstStyle/>
      <a:p>
        <a:r>
          <a:rPr lang="ja-JP" altLang="en-US"/>
          <a:t>参考UIは次のページから3ページ</a:t>
        </a:r>
      </a:p>
    </p188:txBody>
  </p188:cm>
</p188:cmLst>
</file>

<file path=ppt/comments/modernComment_10D_37EF09E2.xml><?xml version="1.0" encoding="utf-8"?>
<p188:cmLst xmlns:a="http://schemas.openxmlformats.org/drawingml/2006/main" xmlns:r="http://schemas.openxmlformats.org/officeDocument/2006/relationships" xmlns:p188="http://schemas.microsoft.com/office/powerpoint/2018/8/main">
  <p188:cm id="{7EFD4E97-23FA-4A15-AF09-295324503C5F}" authorId="{229F1D2B-24B6-F574-AF56-E94FABC86E51}" created="2026-06-08T11:36:11.170">
    <pc:sldMkLst xmlns:pc="http://schemas.microsoft.com/office/powerpoint/2013/main/command">
      <pc:docMk/>
      <pc:sldMk cId="938412514" sldId="269"/>
    </pc:sldMkLst>
    <p188:txBody>
      <a:bodyPr/>
      <a:lstStyle/>
      <a:p>
        <a:r>
          <a:rPr lang="ja-JP" altLang="en-US"/>
          <a:t>表が大きいため、3分割しています。（左側）右下が全体の参考UI</a:t>
        </a:r>
      </a:p>
    </p188:txBody>
  </p188:cm>
</p188:cmLst>
</file>

<file path=ppt/comments/modernComment_10E_1987E5C4.xml><?xml version="1.0" encoding="utf-8"?>
<p188:cmLst xmlns:a="http://schemas.openxmlformats.org/drawingml/2006/main" xmlns:r="http://schemas.openxmlformats.org/officeDocument/2006/relationships" xmlns:p188="http://schemas.microsoft.com/office/powerpoint/2018/8/main">
  <p188:cm id="{0109B770-1F84-4A42-80E0-938350F68F95}" authorId="{229F1D2B-24B6-F574-AF56-E94FABC86E51}" created="2026-06-08T11:36:34.289">
    <pc:sldMkLst xmlns:pc="http://schemas.microsoft.com/office/powerpoint/2013/main/command">
      <pc:docMk/>
      <pc:sldMk cId="428336580" sldId="270"/>
    </pc:sldMkLst>
    <p188:txBody>
      <a:bodyPr/>
      <a:lstStyle/>
      <a:p>
        <a:r>
          <a:rPr lang="ja-JP" altLang="en-US"/>
          <a:t>表が大きいため、3分割しています。（真ん中）右下が全体の参考UI</a:t>
        </a:r>
      </a:p>
    </p188:txBody>
  </p188:cm>
</p188:cmLst>
</file>

<file path=ppt/comments/modernComment_10F_2841119.xml><?xml version="1.0" encoding="utf-8"?>
<p188:cmLst xmlns:a="http://schemas.openxmlformats.org/drawingml/2006/main" xmlns:r="http://schemas.openxmlformats.org/officeDocument/2006/relationships" xmlns:p188="http://schemas.microsoft.com/office/powerpoint/2018/8/main">
  <p188:cm id="{EBA1DDBB-FFF2-415D-A2FE-92A208B505FF}" authorId="{229F1D2B-24B6-F574-AF56-E94FABC86E51}" created="2026-06-08T11:36:46.303">
    <pc:sldMkLst xmlns:pc="http://schemas.microsoft.com/office/powerpoint/2013/main/command">
      <pc:docMk/>
      <pc:sldMk cId="42209561" sldId="271"/>
    </pc:sldMkLst>
    <p188:txBody>
      <a:bodyPr/>
      <a:lstStyle/>
      <a:p>
        <a:r>
          <a:rPr lang="ja-JP" altLang="en-US"/>
          <a:t>表が大きいため、3分割しています。（右側）右下が全体の参考UI</a:t>
        </a:r>
      </a:p>
    </p188:txBody>
  </p188:cm>
</p188:cmLst>
</file>

<file path=ppt/comments/modernComment_11E_AFFEA5F5.xml><?xml version="1.0" encoding="utf-8"?>
<p188:cmLst xmlns:a="http://schemas.openxmlformats.org/drawingml/2006/main" xmlns:r="http://schemas.openxmlformats.org/officeDocument/2006/relationships" xmlns:p188="http://schemas.microsoft.com/office/powerpoint/2018/8/main">
  <p188:cm id="{53BB4442-92F7-4D54-A8AB-DA36F41E8895}" authorId="{229F1D2B-24B6-F574-AF56-E94FABC86E51}" created="2026-06-08T12:12:37.910">
    <pc:sldMkLst xmlns:pc="http://schemas.microsoft.com/office/powerpoint/2013/main/command">
      <pc:docMk/>
      <pc:sldMk cId="2952701429" sldId="286"/>
    </pc:sldMkLst>
    <p188:txBody>
      <a:bodyPr/>
      <a:lstStyle/>
      <a:p>
        <a:r>
          <a:rPr lang="ja-JP" altLang="en-US"/>
          <a:t>出力ボタンを押すと一括出力してもよいかの画面が表示される。</a:t>
        </a:r>
      </a:p>
    </p188:txBody>
  </p188:cm>
  <p188:cm id="{EBC9796A-E907-4843-8CFC-D8056C1DD33E}" authorId="{229F1D2B-24B6-F574-AF56-E94FABC86E51}" created="2026-06-08T12:12:54.545">
    <pc:sldMkLst xmlns:pc="http://schemas.microsoft.com/office/powerpoint/2013/main/command">
      <pc:docMk/>
      <pc:sldMk cId="2952701429" sldId="286"/>
    </pc:sldMkLst>
    <p188:txBody>
      <a:bodyPr/>
      <a:lstStyle/>
      <a:p>
        <a:r>
          <a:rPr lang="ja-JP" altLang="en-US"/>
          <a:t>はいを押せば出力され、いいえを押すと一覧画面に戻る。</a:t>
        </a:r>
      </a:p>
    </p188:txBody>
  </p188:cm>
</p188:cmLst>
</file>

<file path=ppt/comments/modernComment_11F_783508F5.xml><?xml version="1.0" encoding="utf-8"?>
<p188:cmLst xmlns:a="http://schemas.openxmlformats.org/drawingml/2006/main" xmlns:r="http://schemas.openxmlformats.org/officeDocument/2006/relationships" xmlns:p188="http://schemas.microsoft.com/office/powerpoint/2018/8/main">
  <p188:cm id="{162FABBD-9931-4851-916A-21C8D0BD9261}" authorId="{229F1D2B-24B6-F574-AF56-E94FABC86E51}" created="2026-06-08T12:15:02.378">
    <pc:sldMkLst xmlns:pc="http://schemas.microsoft.com/office/powerpoint/2013/main/command">
      <pc:docMk/>
      <pc:sldMk cId="2016741621" sldId="287"/>
    </pc:sldMkLst>
    <p188:txBody>
      <a:bodyPr/>
      <a:lstStyle/>
      <a:p>
        <a:r>
          <a:rPr lang="ja-JP" altLang="en-US"/>
          <a:t>§2-1-5同様、選択ボタンを押し、エンジニアを選択すると、赤色の列が表示される。</a:t>
        </a:r>
      </a:p>
    </p188:txBody>
  </p188:cm>
  <p188:cm id="{4F0C402E-9BC0-434F-9E0A-9D165FF00F45}" authorId="{229F1D2B-24B6-F574-AF56-E94FABC86E51}" created="2026-06-08T12:15:59.288">
    <pc:sldMkLst xmlns:pc="http://schemas.microsoft.com/office/powerpoint/2013/main/command">
      <pc:docMk/>
      <pc:sldMk cId="2016741621" sldId="287"/>
    </pc:sldMkLst>
    <p188:txBody>
      <a:bodyPr/>
      <a:lstStyle/>
      <a:p>
        <a:r>
          <a:rPr lang="ja-JP" altLang="en-US"/>
          <a:t>同様に、もう一度選択ボタンを押せば、選択から脱出でき、選択ボタンも白色に戻る。</a:t>
        </a:r>
      </a:p>
    </p188:txBody>
  </p188:cm>
</p188:cmLst>
</file>

<file path=ppt/comments/modernComment_110_B06F1B06.xml><?xml version="1.0" encoding="utf-8"?>
<p188:cmLst xmlns:a="http://schemas.openxmlformats.org/drawingml/2006/main" xmlns:r="http://schemas.openxmlformats.org/officeDocument/2006/relationships" xmlns:p188="http://schemas.microsoft.com/office/powerpoint/2018/8/main">
  <p188:cm id="{9043DE52-4BD4-446E-83B2-9C844C911691}" authorId="{229F1D2B-24B6-F574-AF56-E94FABC86E51}" created="2026-06-08T11:37:11.063">
    <pc:sldMkLst xmlns:pc="http://schemas.microsoft.com/office/powerpoint/2013/main/command">
      <pc:docMk/>
      <pc:sldMk cId="2960071430" sldId="272"/>
    </pc:sldMkLst>
    <p188:txBody>
      <a:bodyPr/>
      <a:lstStyle/>
      <a:p>
        <a:r>
          <a:rPr lang="ja-JP" altLang="en-US"/>
          <a:t>虫眼鏡のボタンを押すと文字が入力できる。</a:t>
        </a:r>
      </a:p>
    </p188:txBody>
  </p188:cm>
  <p188:cm id="{02CB8D29-3489-409A-806D-FC96F92029F9}" authorId="{229F1D2B-24B6-F574-AF56-E94FABC86E51}" created="2026-06-08T11:37:32.119">
    <pc:sldMkLst xmlns:pc="http://schemas.microsoft.com/office/powerpoint/2013/main/command">
      <pc:docMk/>
      <pc:sldMk cId="2960071430" sldId="272"/>
    </pc:sldMkLst>
    <p188:txBody>
      <a:bodyPr/>
      <a:lstStyle/>
      <a:p>
        <a:r>
          <a:rPr lang="ja-JP" altLang="en-US"/>
          <a:t>文字を入力すると自動的にソードされる。</a:t>
        </a:r>
      </a:p>
    </p188:txBody>
  </p188:cm>
</p188:cmLst>
</file>

<file path=ppt/comments/modernComment_111_DEDAE159.xml><?xml version="1.0" encoding="utf-8"?>
<p188:cmLst xmlns:a="http://schemas.openxmlformats.org/drawingml/2006/main" xmlns:r="http://schemas.openxmlformats.org/officeDocument/2006/relationships" xmlns:p188="http://schemas.microsoft.com/office/powerpoint/2018/8/main">
  <p188:cm id="{80518760-F350-4554-B950-F121550F380B}" authorId="{229F1D2B-24B6-F574-AF56-E94FABC86E51}" created="2026-06-08T11:38:17.275">
    <pc:sldMkLst xmlns:pc="http://schemas.microsoft.com/office/powerpoint/2013/main/command">
      <pc:docMk/>
      <pc:sldMk cId="3738886489" sldId="273"/>
    </pc:sldMkLst>
    <p188:txBody>
      <a:bodyPr/>
      <a:lstStyle/>
      <a:p>
        <a:r>
          <a:rPr lang="ja-JP" altLang="en-US"/>
          <a:t>ソート対象を開くと次のページのプルダウン方式となる。</a:t>
        </a:r>
      </a:p>
    </p188:txBody>
  </p188:cm>
  <p188:cm id="{8B4855D8-FB4B-4D01-9141-DCE50611B93C}" authorId="{229F1D2B-24B6-F574-AF56-E94FABC86E51}" created="2026-06-08T11:38:29.992">
    <pc:sldMkLst xmlns:pc="http://schemas.microsoft.com/office/powerpoint/2013/main/command">
      <pc:docMk/>
      <pc:sldMk cId="3738886489" sldId="273"/>
    </pc:sldMkLst>
    <p188:txBody>
      <a:bodyPr/>
      <a:lstStyle/>
      <a:p>
        <a:r>
          <a:rPr lang="ja-JP" altLang="en-US"/>
          <a:t>昇順、降順はラジオボタン形式</a:t>
        </a:r>
      </a:p>
    </p188:txBody>
  </p188:cm>
</p188:cmLst>
</file>

<file path=ppt/comments/modernComment_112_2B6B66EB.xml><?xml version="1.0" encoding="utf-8"?>
<p188:cmLst xmlns:a="http://schemas.openxmlformats.org/drawingml/2006/main" xmlns:r="http://schemas.openxmlformats.org/officeDocument/2006/relationships" xmlns:p188="http://schemas.microsoft.com/office/powerpoint/2018/8/main">
  <p188:cm id="{1CCB5FBF-5967-45B0-8B32-78BAA2308B87}" authorId="{229F1D2B-24B6-F574-AF56-E94FABC86E51}" created="2026-06-08T11:39:06.220">
    <pc:sldMkLst xmlns:pc="http://schemas.microsoft.com/office/powerpoint/2013/main/command">
      <pc:docMk/>
      <pc:sldMk cId="728458987" sldId="274"/>
    </pc:sldMkLst>
    <p188:txBody>
      <a:bodyPr/>
      <a:lstStyle/>
      <a:p>
        <a:r>
          <a:rPr lang="ja-JP" altLang="en-US"/>
          <a:t>チェック方式で選択する。ソートの無効化はチェックを外して行う。</a:t>
        </a:r>
      </a:p>
    </p188:txBody>
  </p188:cm>
  <p188:cm id="{EAAFF7C1-AC1A-4A58-B642-1E022FD4011C}" authorId="{229F1D2B-24B6-F574-AF56-E94FABC86E51}" created="2026-06-08T11:39:45.854">
    <pc:sldMkLst xmlns:pc="http://schemas.microsoft.com/office/powerpoint/2013/main/command">
      <pc:docMk/>
      <pc:sldMk cId="728458987" sldId="274"/>
    </pc:sldMkLst>
    <p188:txBody>
      <a:bodyPr/>
      <a:lstStyle/>
      <a:p>
        <a:r>
          <a:rPr lang="ja-JP" altLang="en-US"/>
          <a:t>特に閉じるボタンはなく、ソート画面の外側をクリックするとソート画面から脱出できる。</a:t>
        </a:r>
      </a:p>
    </p188:txBody>
  </p188:cm>
</p188:cmLst>
</file>

<file path=ppt/comments/modernComment_113_34E2992C.xml><?xml version="1.0" encoding="utf-8"?>
<p188:cmLst xmlns:a="http://schemas.openxmlformats.org/drawingml/2006/main" xmlns:r="http://schemas.openxmlformats.org/officeDocument/2006/relationships" xmlns:p188="http://schemas.microsoft.com/office/powerpoint/2018/8/main">
  <p188:cm id="{94085639-738A-42AA-B5F0-F17132AE908C}" authorId="{229F1D2B-24B6-F574-AF56-E94FABC86E51}" created="2026-06-08T11:41:34.703">
    <pc:sldMkLst xmlns:pc="http://schemas.microsoft.com/office/powerpoint/2013/main/command">
      <pc:docMk/>
      <pc:sldMk cId="887265580" sldId="275"/>
    </pc:sldMkLst>
    <p188:txBody>
      <a:bodyPr/>
      <a:lstStyle/>
      <a:p>
        <a:r>
          <a:rPr lang="ja-JP" altLang="en-US"/>
          <a:t>ソートされている場合、ソートボタンが黒色に変化する。ソートされていない場合は白色に戻る。</a:t>
        </a:r>
      </a:p>
    </p188:txBody>
  </p188:cm>
</p188:cmLst>
</file>

<file path=ppt/comments/modernComment_114_675A92DB.xml><?xml version="1.0" encoding="utf-8"?>
<p188:cmLst xmlns:a="http://schemas.openxmlformats.org/drawingml/2006/main" xmlns:r="http://schemas.openxmlformats.org/officeDocument/2006/relationships" xmlns:p188="http://schemas.microsoft.com/office/powerpoint/2018/8/main">
  <p188:cm id="{F5D664AE-9946-4589-B631-94F063F965F0}" authorId="{229F1D2B-24B6-F574-AF56-E94FABC86E51}" created="2026-06-08T11:42:11.562">
    <pc:sldMkLst xmlns:pc="http://schemas.microsoft.com/office/powerpoint/2013/main/command">
      <pc:docMk/>
      <pc:sldMk cId="1733989083" sldId="276"/>
    </pc:sldMkLst>
    <p188:txBody>
      <a:bodyPr/>
      <a:lstStyle/>
      <a:p>
        <a:r>
          <a:rPr lang="ja-JP" altLang="en-US"/>
          <a:t>選択を押すと、選択ボタンが黒くなり、もう一度選択ボタンを押すと脱出し、選択ボタンも白色に戻る。</a:t>
        </a:r>
      </a:p>
    </p188:txBody>
  </p188:cm>
  <p188:cm id="{F37A3C4A-037B-419B-9F79-01C219F36577}" authorId="{229F1D2B-24B6-F574-AF56-E94FABC86E51}" created="2026-06-08T11:43:29.138">
    <pc:sldMkLst xmlns:pc="http://schemas.microsoft.com/office/powerpoint/2013/main/command">
      <pc:docMk/>
      <pc:sldMk cId="1733989083" sldId="276"/>
    </pc:sldMkLst>
    <p188:txBody>
      <a:bodyPr/>
      <a:lstStyle/>
      <a:p>
        <a:r>
          <a:rPr lang="ja-JP" altLang="en-US"/>
          <a:t>選択した行をクリックすると、行が赤色になる。</a:t>
        </a:r>
      </a:p>
    </p188:txBody>
  </p188:cm>
</p188:cmLst>
</file>

<file path=ppt/comments/modernComment_115_20354BA0.xml><?xml version="1.0" encoding="utf-8"?>
<p188:cmLst xmlns:a="http://schemas.openxmlformats.org/drawingml/2006/main" xmlns:r="http://schemas.openxmlformats.org/officeDocument/2006/relationships" xmlns:p188="http://schemas.microsoft.com/office/powerpoint/2018/8/main">
  <p188:cm id="{64E25990-A977-476B-A5AF-FD414B212338}" authorId="{229F1D2B-24B6-F574-AF56-E94FABC86E51}" created="2026-06-08T11:44:33.157">
    <pc:sldMkLst xmlns:pc="http://schemas.microsoft.com/office/powerpoint/2013/main/command">
      <pc:docMk/>
      <pc:sldMk cId="540363680" sldId="277"/>
    </pc:sldMkLst>
    <p188:txBody>
      <a:bodyPr/>
      <a:lstStyle/>
      <a:p>
        <a:r>
          <a:rPr lang="ja-JP" altLang="en-US"/>
          <a:t>削除ボタンを押すと、削除するか選択できる画面が表示される。</a:t>
        </a:r>
      </a:p>
    </p188:txBody>
  </p188:cm>
  <p188:cm id="{9DFFB393-D102-4DAC-9349-95BE265D8760}" authorId="{229F1D2B-24B6-F574-AF56-E94FABC86E51}" created="2026-06-08T11:46:03.551">
    <pc:sldMkLst xmlns:pc="http://schemas.microsoft.com/office/powerpoint/2013/main/command">
      <pc:docMk/>
      <pc:sldMk cId="540363680" sldId="277"/>
    </pc:sldMkLst>
    <p188:txBody>
      <a:bodyPr/>
      <a:lstStyle/>
      <a:p>
        <a:r>
          <a:rPr lang="ja-JP" altLang="en-US"/>
          <a:t>はいを押すと削除完了。いいえを押すと脱出して、選択ボタンが白色に戻る。</a:t>
        </a:r>
      </a:p>
    </p188:txBody>
  </p188:cm>
</p188:cmLst>
</file>

<file path=ppt/comments/modernComment_116_AD99B5D0.xml><?xml version="1.0" encoding="utf-8"?>
<p188:cmLst xmlns:a="http://schemas.openxmlformats.org/drawingml/2006/main" xmlns:r="http://schemas.openxmlformats.org/officeDocument/2006/relationships" xmlns:p188="http://schemas.microsoft.com/office/powerpoint/2018/8/main">
  <p188:cm id="{9ECC027B-569E-4DC7-8EA2-CE4EE968F5C1}" authorId="{229F1D2B-24B6-F574-AF56-E94FABC86E51}" created="2026-06-08T11:47:03.795">
    <pc:sldMkLst xmlns:pc="http://schemas.microsoft.com/office/powerpoint/2013/main/command">
      <pc:docMk/>
      <pc:sldMk cId="2912531920" sldId="278"/>
    </pc:sldMkLst>
    <p188:txBody>
      <a:bodyPr/>
      <a:lstStyle/>
      <a:p>
        <a:r>
          <a:rPr lang="ja-JP" altLang="en-US"/>
          <a:t>一覧画面から選択が白色の状態で表にある任意の名前をクリックすると詳細情報が表示される。</a:t>
        </a:r>
      </a:p>
    </p188:txBody>
  </p188:cm>
  <p188:cm id="{8D24566B-6A7A-42B3-AE1A-961AD58281BC}" authorId="{229F1D2B-24B6-F574-AF56-E94FABC86E51}" created="2026-06-08T11:49:08.603">
    <pc:sldMkLst xmlns:pc="http://schemas.microsoft.com/office/powerpoint/2013/main/command">
      <pc:docMk/>
      <pc:sldMk cId="2912531920" sldId="278"/>
    </pc:sldMkLst>
    <p188:txBody>
      <a:bodyPr/>
      <a:lstStyle/>
      <a:p>
        <a:r>
          <a:rPr lang="ja-JP" altLang="en-US"/>
          <a:t>左上の円はアイコンや顔文字etc...</a:t>
        </a:r>
      </a:p>
    </p188:txBody>
  </p188:cm>
  <p188:cm id="{E89BE0F6-C850-48FD-B60C-30778ADBBF56}" authorId="{229F1D2B-24B6-F574-AF56-E94FABC86E51}" created="2026-06-08T11:49:27">
    <pc:sldMkLst xmlns:pc="http://schemas.microsoft.com/office/powerpoint/2013/main/command">
      <pc:docMk/>
      <pc:sldMk cId="2912531920" sldId="278"/>
    </pc:sldMkLst>
    <p188:txBody>
      <a:bodyPr/>
      <a:lstStyle/>
      <a:p>
        <a:r>
          <a:rPr lang="ja-JP" altLang="en-US"/>
          <a:t>戻るボタンを選択すると一覧画面に戻る。</a:t>
        </a:r>
      </a:p>
    </p188:txBody>
  </p188:cm>
  <p188:cm id="{1AE2E872-76A9-44F6-89A7-06A8EF0F165C}" authorId="{229F1D2B-24B6-F574-AF56-E94FABC86E51}" created="2026-06-08T11:50:01.502">
    <pc:sldMkLst xmlns:pc="http://schemas.microsoft.com/office/powerpoint/2013/main/command">
      <pc:docMk/>
      <pc:sldMk cId="2912531920" sldId="278"/>
    </pc:sldMkLst>
    <p188:txBody>
      <a:bodyPr/>
      <a:lstStyle/>
      <a:p>
        <a:r>
          <a:rPr lang="ja-JP" altLang="en-US"/>
          <a:t>右下が参考UI</a:t>
        </a:r>
      </a:p>
    </p188:txBody>
  </p188:cm>
</p188:cmLst>
</file>

<file path=ppt/comments/modernComment_119_17C78FA3.xml><?xml version="1.0" encoding="utf-8"?>
<p188:cmLst xmlns:a="http://schemas.openxmlformats.org/drawingml/2006/main" xmlns:r="http://schemas.openxmlformats.org/officeDocument/2006/relationships" xmlns:p188="http://schemas.microsoft.com/office/powerpoint/2018/8/main">
  <p188:cm id="{1FB50B33-42F5-4ACD-A46E-54046ABB7BC4}" authorId="{229F1D2B-24B6-F574-AF56-E94FABC86E51}" created="2026-06-08T12:04:16.064">
    <pc:sldMkLst xmlns:pc="http://schemas.microsoft.com/office/powerpoint/2013/main/command">
      <pc:docMk/>
      <pc:sldMk cId="398954403" sldId="281"/>
    </pc:sldMkLst>
    <p188:txBody>
      <a:bodyPr/>
      <a:lstStyle/>
      <a:p>
        <a:r>
          <a:rPr lang="ja-JP" altLang="en-US"/>
          <a:t>鉛筆マークで文字を入力する。</a:t>
        </a:r>
      </a:p>
    </p188:txBody>
  </p188:cm>
  <p188:cm id="{57A939BF-CAE5-40B3-BA4F-EE12F6215012}" authorId="{229F1D2B-24B6-F574-AF56-E94FABC86E51}" created="2026-06-08T12:05:23.044">
    <pc:sldMkLst xmlns:pc="http://schemas.microsoft.com/office/powerpoint/2013/main/command">
      <pc:docMk/>
      <pc:sldMk cId="398954403" sldId="281"/>
    </pc:sldMkLst>
    <p188:txBody>
      <a:bodyPr/>
      <a:lstStyle/>
      <a:p>
        <a:r>
          <a:rPr lang="ja-JP" altLang="en-US"/>
          <a:t>+ボタンで+0.5,-ボタンで-0.5する。下限は1,上限は5で最大値・最小値の場合、+または-のボタンが消える。</a:t>
        </a:r>
      </a:p>
    </p188:txBody>
  </p188:cm>
  <p188:cm id="{42F5D521-6E5D-484A-8325-C620A86E0A63}" authorId="{229F1D2B-24B6-F574-AF56-E94FABC86E51}" created="2026-06-08T12:06:00.070">
    <pc:sldMkLst xmlns:pc="http://schemas.microsoft.com/office/powerpoint/2013/main/command">
      <pc:docMk/>
      <pc:sldMk cId="398954403" sldId="281"/>
    </pc:sldMkLst>
    <p188:txBody>
      <a:bodyPr/>
      <a:lstStyle/>
      <a:p>
        <a:r>
          <a:rPr lang="ja-JP" altLang="en-US"/>
          <a:t>更新ボタンを押すと反映され、戻るボタンを押すと編集内容を破棄することができる。</a:t>
        </a:r>
      </a:p>
    </p188:txBody>
  </p188:cm>
</p188:cmLst>
</file>

<file path=ppt/comments/modernComment_121_CDBDBB31.xml><?xml version="1.0" encoding="utf-8"?>
<p188:cmLst xmlns:a="http://schemas.openxmlformats.org/drawingml/2006/main" xmlns:r="http://schemas.openxmlformats.org/officeDocument/2006/relationships" xmlns:p188="http://schemas.microsoft.com/office/powerpoint/2018/8/main">
  <p188:cm id="{78E8A68E-C71B-4B95-8068-4AA5A861439F}" authorId="{229F1D2B-24B6-F574-AF56-E94FABC86E51}" created="2026-06-08T12:13:39.074">
    <pc:sldMkLst xmlns:pc="http://schemas.microsoft.com/office/powerpoint/2013/main/command">
      <pc:docMk/>
      <pc:sldMk cId="3451763505" sldId="289"/>
    </pc:sldMkLst>
    <p188:txBody>
      <a:bodyPr/>
      <a:lstStyle/>
      <a:p>
        <a:r>
          <a:rPr lang="ja-JP" altLang="en-US"/>
          <a:t>上の表でCSVデータが出力されました。1行目は1行で抑えたかったが、不可能。</a:t>
        </a:r>
      </a:p>
    </p188:txBody>
  </p188:cm>
  <p188:cm id="{EA818279-271C-4E67-AC41-BFC7F714E00E}" authorId="{229F1D2B-24B6-F574-AF56-E94FABC86E51}" created="2026-06-08T12:13:49.762">
    <pc:sldMkLst xmlns:pc="http://schemas.microsoft.com/office/powerpoint/2013/main/command">
      <pc:docMk/>
      <pc:sldMk cId="3451763505" sldId="289"/>
    </pc:sldMkLst>
    <p188:txBody>
      <a:bodyPr/>
      <a:lstStyle/>
      <a:p>
        <a:r>
          <a:rPr lang="ja-JP" altLang="en-US"/>
          <a:t>右下に参考UI。</a:t>
        </a:r>
      </a:p>
    </p188:txBody>
  </p188:cm>
</p188:cmLst>
</file>

<file path=ppt/comments/modernComment_122_1C4D6E81.xml><?xml version="1.0" encoding="utf-8"?>
<p188:cmLst xmlns:a="http://schemas.openxmlformats.org/drawingml/2006/main" xmlns:r="http://schemas.openxmlformats.org/officeDocument/2006/relationships" xmlns:p188="http://schemas.microsoft.com/office/powerpoint/2018/8/main">
  <p188:cm id="{8DDF691B-4D8D-42CE-9BC8-030389013716}" authorId="{229F1D2B-24B6-F574-AF56-E94FABC86E51}" created="2026-06-08T12:16:26.614">
    <pc:sldMkLst xmlns:pc="http://schemas.microsoft.com/office/powerpoint/2013/main/command">
      <pc:docMk/>
      <pc:sldMk cId="474836609" sldId="290"/>
    </pc:sldMkLst>
    <p188:txBody>
      <a:bodyPr/>
      <a:lstStyle/>
      <a:p>
        <a:r>
          <a:rPr lang="ja-JP" altLang="en-US"/>
          <a:t>選択した上で、出力ボタンを押すと画面が表示される。</a:t>
        </a:r>
      </a:p>
    </p188:txBody>
  </p188:cm>
  <p188:cm id="{DE77848E-665C-4840-ACD8-1488EBC2D849}" authorId="{229F1D2B-24B6-F574-AF56-E94FABC86E51}" created="2026-06-08T12:17:08.666">
    <pc:sldMkLst xmlns:pc="http://schemas.microsoft.com/office/powerpoint/2013/main/command">
      <pc:docMk/>
      <pc:sldMk cId="474836609" sldId="290"/>
    </pc:sldMkLst>
    <p188:txBody>
      <a:bodyPr/>
      <a:lstStyle/>
      <a:p>
        <a:r>
          <a:rPr lang="ja-JP" altLang="en-US"/>
          <a:t>§2-4-2と同様に、はいを押せば出力され、いいえを押すと一覧画面に戻る。</a:t>
        </a:r>
      </a:p>
    </p188:txBody>
  </p188:cm>
</p188:cmLst>
</file>

<file path=ppt/comments/modernComment_123_FD7BE6AE.xml><?xml version="1.0" encoding="utf-8"?>
<p188:cmLst xmlns:a="http://schemas.openxmlformats.org/drawingml/2006/main" xmlns:r="http://schemas.openxmlformats.org/officeDocument/2006/relationships" xmlns:p188="http://schemas.microsoft.com/office/powerpoint/2018/8/main">
  <p188:cm id="{32153586-1EBD-45AF-8E73-EEF5A74012C0}" authorId="{229F1D2B-24B6-F574-AF56-E94FABC86E51}" created="2026-06-08T12:17:48.721">
    <pc:sldMkLst xmlns:pc="http://schemas.microsoft.com/office/powerpoint/2013/main/command">
      <pc:docMk/>
      <pc:sldMk cId="4252755630" sldId="291"/>
    </pc:sldMkLst>
    <p188:txBody>
      <a:bodyPr/>
      <a:lstStyle/>
      <a:p>
        <a:r>
          <a:rPr lang="ja-JP" altLang="en-US"/>
          <a:t>§2-4-3同様に、上の表でCSVデータが出力されました。1行目は1行で抑えたかったが、不可能。</a:t>
        </a:r>
      </a:p>
    </p188:txBody>
  </p188:cm>
  <p188:cm id="{FDB7E763-0222-40BD-8C2A-AC26A51BA1A9}" authorId="{229F1D2B-24B6-F574-AF56-E94FABC86E51}" created="2026-06-08T12:18:16.084">
    <pc:sldMkLst xmlns:pc="http://schemas.microsoft.com/office/powerpoint/2013/main/command">
      <pc:docMk/>
      <pc:sldMk cId="4252755630" sldId="291"/>
    </pc:sldMkLst>
    <p188:txBody>
      <a:bodyPr/>
      <a:lstStyle/>
      <a:p>
        <a:r>
          <a:rPr lang="ja-JP" altLang="en-US"/>
          <a:t>右下に参考UIあり。</a:t>
        </a:r>
      </a:p>
    </p188:txBody>
  </p188:cm>
</p188:cmLst>
</file>

<file path=ppt/comments/modernComment_124_71D6859.xml><?xml version="1.0" encoding="utf-8"?>
<p188:cmLst xmlns:a="http://schemas.openxmlformats.org/drawingml/2006/main" xmlns:r="http://schemas.openxmlformats.org/officeDocument/2006/relationships" xmlns:p188="http://schemas.microsoft.com/office/powerpoint/2018/8/main">
  <p188:cm id="{461E4D72-068B-43F3-9130-6CD471DCDD47}" authorId="{229F1D2B-24B6-F574-AF56-E94FABC86E51}" created="2026-06-08T12:08:01.731">
    <pc:sldMkLst xmlns:pc="http://schemas.microsoft.com/office/powerpoint/2013/main/command">
      <pc:docMk/>
      <pc:sldMk cId="119367769" sldId="292"/>
    </pc:sldMkLst>
    <p188:txBody>
      <a:bodyPr/>
      <a:lstStyle/>
      <a:p>
        <a:r>
          <a:rPr lang="ja-JP" altLang="en-US"/>
          <a:t>鉛筆マークを押すと、文字を入力できる。ただし入社年月のyyyy/mm/ddでは、数字以外の入力は受け付けない。</a:t>
        </a:r>
      </a:p>
    </p188:txBody>
  </p188:cm>
  <p188:cm id="{279BA88A-8903-4E62-A2BF-B3E2D3E0EFEF}" authorId="{229F1D2B-24B6-F574-AF56-E94FABC86E51}" created="2026-06-08T12:10:37.954">
    <pc:sldMkLst xmlns:pc="http://schemas.microsoft.com/office/powerpoint/2013/main/command">
      <pc:docMk/>
      <pc:sldMk cId="119367769" sldId="292"/>
    </pc:sldMkLst>
    <p188:txBody>
      <a:bodyPr/>
      <a:lstStyle/>
      <a:p>
        <a:r>
          <a:rPr lang="ja-JP" altLang="en-US"/>
          <a:t>更新ボタンを押すと登録ができ、戻るボタンを押すと編集が破棄される。</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FA5BB2-B1EE-0248-4E47-7900373E697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1E7D7F4-653F-1E7A-CC11-0EE5B2D4BB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12AB637-118F-952B-05E8-2DA1D20B2541}"/>
              </a:ext>
            </a:extLst>
          </p:cNvPr>
          <p:cNvSpPr>
            <a:spLocks noGrp="1"/>
          </p:cNvSpPr>
          <p:nvPr>
            <p:ph type="dt" sz="half" idx="10"/>
          </p:nvPr>
        </p:nvSpPr>
        <p:spPr/>
        <p:txBody>
          <a:bodyPr/>
          <a:lstStyle/>
          <a:p>
            <a:fld id="{A8E3ACB6-B4A4-48A9-8A22-DE4836E07CB8}" type="datetimeFigureOut">
              <a:rPr kumimoji="1" lang="ja-JP" altLang="en-US" smtClean="0"/>
              <a:t>2026/6/7</a:t>
            </a:fld>
            <a:endParaRPr kumimoji="1" lang="ja-JP" altLang="en-US"/>
          </a:p>
        </p:txBody>
      </p:sp>
      <p:sp>
        <p:nvSpPr>
          <p:cNvPr id="5" name="フッター プレースホルダー 4">
            <a:extLst>
              <a:ext uri="{FF2B5EF4-FFF2-40B4-BE49-F238E27FC236}">
                <a16:creationId xmlns:a16="http://schemas.microsoft.com/office/drawing/2014/main" id="{D8B0927B-4EEF-DF64-3B14-777302CA0C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DF2AEC6-0283-8370-C7C9-5E41D32AD11A}"/>
              </a:ext>
            </a:extLst>
          </p:cNvPr>
          <p:cNvSpPr>
            <a:spLocks noGrp="1"/>
          </p:cNvSpPr>
          <p:nvPr>
            <p:ph type="sldNum" sz="quarter" idx="12"/>
          </p:nvPr>
        </p:nvSpPr>
        <p:spPr/>
        <p:txBody>
          <a:body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1195894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215F72-04DA-B0D2-8203-AFD120FB15F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20B37D3-AA34-C9EA-3247-68A43AB922D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BCA9DE-6D25-8D02-FB51-3AB4AD5C6967}"/>
              </a:ext>
            </a:extLst>
          </p:cNvPr>
          <p:cNvSpPr>
            <a:spLocks noGrp="1"/>
          </p:cNvSpPr>
          <p:nvPr>
            <p:ph type="dt" sz="half" idx="10"/>
          </p:nvPr>
        </p:nvSpPr>
        <p:spPr/>
        <p:txBody>
          <a:bodyPr/>
          <a:lstStyle/>
          <a:p>
            <a:fld id="{A8E3ACB6-B4A4-48A9-8A22-DE4836E07CB8}" type="datetimeFigureOut">
              <a:rPr kumimoji="1" lang="ja-JP" altLang="en-US" smtClean="0"/>
              <a:t>2026/6/7</a:t>
            </a:fld>
            <a:endParaRPr kumimoji="1" lang="ja-JP" altLang="en-US"/>
          </a:p>
        </p:txBody>
      </p:sp>
      <p:sp>
        <p:nvSpPr>
          <p:cNvPr id="5" name="フッター プレースホルダー 4">
            <a:extLst>
              <a:ext uri="{FF2B5EF4-FFF2-40B4-BE49-F238E27FC236}">
                <a16:creationId xmlns:a16="http://schemas.microsoft.com/office/drawing/2014/main" id="{3351C688-0D49-4F6E-5E1D-91114A51072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3700835-8E88-CCA4-4A56-C620F375C25B}"/>
              </a:ext>
            </a:extLst>
          </p:cNvPr>
          <p:cNvSpPr>
            <a:spLocks noGrp="1"/>
          </p:cNvSpPr>
          <p:nvPr>
            <p:ph type="sldNum" sz="quarter" idx="12"/>
          </p:nvPr>
        </p:nvSpPr>
        <p:spPr/>
        <p:txBody>
          <a:body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3573049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5E038-9EE7-E423-0A80-5C2083F8AFB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9FFC75B-5779-CFDC-6248-B84F5FDFF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839077C-9241-BF8B-F606-298D88C74800}"/>
              </a:ext>
            </a:extLst>
          </p:cNvPr>
          <p:cNvSpPr>
            <a:spLocks noGrp="1"/>
          </p:cNvSpPr>
          <p:nvPr>
            <p:ph type="dt" sz="half" idx="10"/>
          </p:nvPr>
        </p:nvSpPr>
        <p:spPr/>
        <p:txBody>
          <a:bodyPr/>
          <a:lstStyle/>
          <a:p>
            <a:fld id="{A8E3ACB6-B4A4-48A9-8A22-DE4836E07CB8}" type="datetimeFigureOut">
              <a:rPr kumimoji="1" lang="ja-JP" altLang="en-US" smtClean="0"/>
              <a:t>2026/6/7</a:t>
            </a:fld>
            <a:endParaRPr kumimoji="1" lang="ja-JP" altLang="en-US"/>
          </a:p>
        </p:txBody>
      </p:sp>
      <p:sp>
        <p:nvSpPr>
          <p:cNvPr id="5" name="フッター プレースホルダー 4">
            <a:extLst>
              <a:ext uri="{FF2B5EF4-FFF2-40B4-BE49-F238E27FC236}">
                <a16:creationId xmlns:a16="http://schemas.microsoft.com/office/drawing/2014/main" id="{369E1724-027B-ECEF-0E8B-B30CE0093A2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1371C13-E3CB-CB4E-C52F-48BCAF27ADBA}"/>
              </a:ext>
            </a:extLst>
          </p:cNvPr>
          <p:cNvSpPr>
            <a:spLocks noGrp="1"/>
          </p:cNvSpPr>
          <p:nvPr>
            <p:ph type="sldNum" sz="quarter" idx="12"/>
          </p:nvPr>
        </p:nvSpPr>
        <p:spPr/>
        <p:txBody>
          <a:body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1181557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A46A61-7B06-AD96-6314-A4D54B90F28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80533FA-9927-170A-DD2B-AF3E6E98914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4D0509B-7AAC-94B4-40C3-54FBE75B152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B369D96-C979-F877-9AB8-AB307813E6A7}"/>
              </a:ext>
            </a:extLst>
          </p:cNvPr>
          <p:cNvSpPr>
            <a:spLocks noGrp="1"/>
          </p:cNvSpPr>
          <p:nvPr>
            <p:ph type="dt" sz="half" idx="10"/>
          </p:nvPr>
        </p:nvSpPr>
        <p:spPr/>
        <p:txBody>
          <a:bodyPr/>
          <a:lstStyle/>
          <a:p>
            <a:fld id="{A8E3ACB6-B4A4-48A9-8A22-DE4836E07CB8}" type="datetimeFigureOut">
              <a:rPr kumimoji="1" lang="ja-JP" altLang="en-US" smtClean="0"/>
              <a:t>2026/6/7</a:t>
            </a:fld>
            <a:endParaRPr kumimoji="1" lang="ja-JP" altLang="en-US"/>
          </a:p>
        </p:txBody>
      </p:sp>
      <p:sp>
        <p:nvSpPr>
          <p:cNvPr id="6" name="フッター プレースホルダー 5">
            <a:extLst>
              <a:ext uri="{FF2B5EF4-FFF2-40B4-BE49-F238E27FC236}">
                <a16:creationId xmlns:a16="http://schemas.microsoft.com/office/drawing/2014/main" id="{9DA5D884-B6C1-DC78-2D56-74BD1B9DF44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6E1E829-8DD2-92C7-F746-EDB97D82D6EA}"/>
              </a:ext>
            </a:extLst>
          </p:cNvPr>
          <p:cNvSpPr>
            <a:spLocks noGrp="1"/>
          </p:cNvSpPr>
          <p:nvPr>
            <p:ph type="sldNum" sz="quarter" idx="12"/>
          </p:nvPr>
        </p:nvSpPr>
        <p:spPr/>
        <p:txBody>
          <a:body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2594553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F1707C-4805-2716-FC8B-DF3CAC72013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89A8611-A434-D106-8C2D-895CC851E5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3D20C2D-71E3-A54F-D7AE-5600ED99A1C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6E01BE9-A111-CF62-AB80-7E4F6C1D0E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690935B-8DDD-AE42-C1C6-540693F67D7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DBE5A79-FC66-1033-AB16-6BDBFF3F7814}"/>
              </a:ext>
            </a:extLst>
          </p:cNvPr>
          <p:cNvSpPr>
            <a:spLocks noGrp="1"/>
          </p:cNvSpPr>
          <p:nvPr>
            <p:ph type="dt" sz="half" idx="10"/>
          </p:nvPr>
        </p:nvSpPr>
        <p:spPr/>
        <p:txBody>
          <a:bodyPr/>
          <a:lstStyle/>
          <a:p>
            <a:fld id="{A8E3ACB6-B4A4-48A9-8A22-DE4836E07CB8}" type="datetimeFigureOut">
              <a:rPr kumimoji="1" lang="ja-JP" altLang="en-US" smtClean="0"/>
              <a:t>2026/6/7</a:t>
            </a:fld>
            <a:endParaRPr kumimoji="1" lang="ja-JP" altLang="en-US"/>
          </a:p>
        </p:txBody>
      </p:sp>
      <p:sp>
        <p:nvSpPr>
          <p:cNvPr id="8" name="フッター プレースホルダー 7">
            <a:extLst>
              <a:ext uri="{FF2B5EF4-FFF2-40B4-BE49-F238E27FC236}">
                <a16:creationId xmlns:a16="http://schemas.microsoft.com/office/drawing/2014/main" id="{2E3C224C-BF94-6F21-2E5F-AB7A804B71B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F3E9378-80E3-72BE-706F-8F1FB1836DF7}"/>
              </a:ext>
            </a:extLst>
          </p:cNvPr>
          <p:cNvSpPr>
            <a:spLocks noGrp="1"/>
          </p:cNvSpPr>
          <p:nvPr>
            <p:ph type="sldNum" sz="quarter" idx="12"/>
          </p:nvPr>
        </p:nvSpPr>
        <p:spPr/>
        <p:txBody>
          <a:body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3987332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67369A-05D9-47FD-7E1E-6A0B0E70C5E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54ADB6C-8329-81A5-CC51-49C8276074BC}"/>
              </a:ext>
            </a:extLst>
          </p:cNvPr>
          <p:cNvSpPr>
            <a:spLocks noGrp="1"/>
          </p:cNvSpPr>
          <p:nvPr>
            <p:ph type="dt" sz="half" idx="10"/>
          </p:nvPr>
        </p:nvSpPr>
        <p:spPr/>
        <p:txBody>
          <a:bodyPr/>
          <a:lstStyle/>
          <a:p>
            <a:fld id="{A8E3ACB6-B4A4-48A9-8A22-DE4836E07CB8}" type="datetimeFigureOut">
              <a:rPr kumimoji="1" lang="ja-JP" altLang="en-US" smtClean="0"/>
              <a:t>2026/6/7</a:t>
            </a:fld>
            <a:endParaRPr kumimoji="1" lang="ja-JP" altLang="en-US"/>
          </a:p>
        </p:txBody>
      </p:sp>
      <p:sp>
        <p:nvSpPr>
          <p:cNvPr id="4" name="フッター プレースホルダー 3">
            <a:extLst>
              <a:ext uri="{FF2B5EF4-FFF2-40B4-BE49-F238E27FC236}">
                <a16:creationId xmlns:a16="http://schemas.microsoft.com/office/drawing/2014/main" id="{BCE2461B-5F57-E5F7-64E9-F9B78218E44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365D735-0F12-AAA9-04EE-F565094B0F90}"/>
              </a:ext>
            </a:extLst>
          </p:cNvPr>
          <p:cNvSpPr>
            <a:spLocks noGrp="1"/>
          </p:cNvSpPr>
          <p:nvPr>
            <p:ph type="sldNum" sz="quarter" idx="12"/>
          </p:nvPr>
        </p:nvSpPr>
        <p:spPr/>
        <p:txBody>
          <a:body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866884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506D8C2-3546-C7C7-74F1-DE66BF10C1C4}"/>
              </a:ext>
            </a:extLst>
          </p:cNvPr>
          <p:cNvSpPr>
            <a:spLocks noGrp="1"/>
          </p:cNvSpPr>
          <p:nvPr>
            <p:ph type="dt" sz="half" idx="10"/>
          </p:nvPr>
        </p:nvSpPr>
        <p:spPr/>
        <p:txBody>
          <a:bodyPr/>
          <a:lstStyle/>
          <a:p>
            <a:fld id="{A8E3ACB6-B4A4-48A9-8A22-DE4836E07CB8}" type="datetimeFigureOut">
              <a:rPr kumimoji="1" lang="ja-JP" altLang="en-US" smtClean="0"/>
              <a:t>2026/6/7</a:t>
            </a:fld>
            <a:endParaRPr kumimoji="1" lang="ja-JP" altLang="en-US"/>
          </a:p>
        </p:txBody>
      </p:sp>
      <p:sp>
        <p:nvSpPr>
          <p:cNvPr id="3" name="フッター プレースホルダー 2">
            <a:extLst>
              <a:ext uri="{FF2B5EF4-FFF2-40B4-BE49-F238E27FC236}">
                <a16:creationId xmlns:a16="http://schemas.microsoft.com/office/drawing/2014/main" id="{252B0CA1-542B-C295-BA92-15EB11BC7D7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42CC984-9725-C5C4-C9E2-8705FA075B6E}"/>
              </a:ext>
            </a:extLst>
          </p:cNvPr>
          <p:cNvSpPr>
            <a:spLocks noGrp="1"/>
          </p:cNvSpPr>
          <p:nvPr>
            <p:ph type="sldNum" sz="quarter" idx="12"/>
          </p:nvPr>
        </p:nvSpPr>
        <p:spPr/>
        <p:txBody>
          <a:body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636418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85A1A6-989C-8781-902C-10BF3594136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3CE863C-56CE-38F6-B561-BE35C25EA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69C32A0-8BF3-6999-6AA0-F34602F8F7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C999DD8-E579-C47F-A4BE-982C3EE8329B}"/>
              </a:ext>
            </a:extLst>
          </p:cNvPr>
          <p:cNvSpPr>
            <a:spLocks noGrp="1"/>
          </p:cNvSpPr>
          <p:nvPr>
            <p:ph type="dt" sz="half" idx="10"/>
          </p:nvPr>
        </p:nvSpPr>
        <p:spPr/>
        <p:txBody>
          <a:bodyPr/>
          <a:lstStyle/>
          <a:p>
            <a:fld id="{A8E3ACB6-B4A4-48A9-8A22-DE4836E07CB8}" type="datetimeFigureOut">
              <a:rPr kumimoji="1" lang="ja-JP" altLang="en-US" smtClean="0"/>
              <a:t>2026/6/7</a:t>
            </a:fld>
            <a:endParaRPr kumimoji="1" lang="ja-JP" altLang="en-US"/>
          </a:p>
        </p:txBody>
      </p:sp>
      <p:sp>
        <p:nvSpPr>
          <p:cNvPr id="6" name="フッター プレースホルダー 5">
            <a:extLst>
              <a:ext uri="{FF2B5EF4-FFF2-40B4-BE49-F238E27FC236}">
                <a16:creationId xmlns:a16="http://schemas.microsoft.com/office/drawing/2014/main" id="{E238CD42-0B34-58BF-A405-E90D80F4168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3F5EC84-9441-1C8D-ED7D-36569A12FF46}"/>
              </a:ext>
            </a:extLst>
          </p:cNvPr>
          <p:cNvSpPr>
            <a:spLocks noGrp="1"/>
          </p:cNvSpPr>
          <p:nvPr>
            <p:ph type="sldNum" sz="quarter" idx="12"/>
          </p:nvPr>
        </p:nvSpPr>
        <p:spPr/>
        <p:txBody>
          <a:body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10833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4E6A27-2784-EF26-493F-C1D0A6ECE31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5AC0CA6-E2AC-0DB1-59C7-043BD90382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5C0CB6B-A955-0AEC-3EC0-AA343F2FDC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2A2FD14-14E0-E35D-AF7D-0CCF23C29313}"/>
              </a:ext>
            </a:extLst>
          </p:cNvPr>
          <p:cNvSpPr>
            <a:spLocks noGrp="1"/>
          </p:cNvSpPr>
          <p:nvPr>
            <p:ph type="dt" sz="half" idx="10"/>
          </p:nvPr>
        </p:nvSpPr>
        <p:spPr/>
        <p:txBody>
          <a:bodyPr/>
          <a:lstStyle/>
          <a:p>
            <a:fld id="{A8E3ACB6-B4A4-48A9-8A22-DE4836E07CB8}" type="datetimeFigureOut">
              <a:rPr kumimoji="1" lang="ja-JP" altLang="en-US" smtClean="0"/>
              <a:t>2026/6/7</a:t>
            </a:fld>
            <a:endParaRPr kumimoji="1" lang="ja-JP" altLang="en-US"/>
          </a:p>
        </p:txBody>
      </p:sp>
      <p:sp>
        <p:nvSpPr>
          <p:cNvPr id="6" name="フッター プレースホルダー 5">
            <a:extLst>
              <a:ext uri="{FF2B5EF4-FFF2-40B4-BE49-F238E27FC236}">
                <a16:creationId xmlns:a16="http://schemas.microsoft.com/office/drawing/2014/main" id="{A31AEDDC-7D65-F069-5A9B-7B7601AE066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31CA900-BC7F-FE16-B544-BD9384717BCE}"/>
              </a:ext>
            </a:extLst>
          </p:cNvPr>
          <p:cNvSpPr>
            <a:spLocks noGrp="1"/>
          </p:cNvSpPr>
          <p:nvPr>
            <p:ph type="sldNum" sz="quarter" idx="12"/>
          </p:nvPr>
        </p:nvSpPr>
        <p:spPr/>
        <p:txBody>
          <a:body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1431047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AB83BB-B144-043F-F72A-B12B97EB486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A066D5C-7512-7238-8A6B-31799A0362B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07AF9A-0DFB-59FA-1218-82FC33AC136B}"/>
              </a:ext>
            </a:extLst>
          </p:cNvPr>
          <p:cNvSpPr>
            <a:spLocks noGrp="1"/>
          </p:cNvSpPr>
          <p:nvPr>
            <p:ph type="dt" sz="half" idx="10"/>
          </p:nvPr>
        </p:nvSpPr>
        <p:spPr/>
        <p:txBody>
          <a:bodyPr/>
          <a:lstStyle/>
          <a:p>
            <a:fld id="{A8E3ACB6-B4A4-48A9-8A22-DE4836E07CB8}" type="datetimeFigureOut">
              <a:rPr kumimoji="1" lang="ja-JP" altLang="en-US" smtClean="0"/>
              <a:t>2026/6/7</a:t>
            </a:fld>
            <a:endParaRPr kumimoji="1" lang="ja-JP" altLang="en-US"/>
          </a:p>
        </p:txBody>
      </p:sp>
      <p:sp>
        <p:nvSpPr>
          <p:cNvPr id="5" name="フッター プレースホルダー 4">
            <a:extLst>
              <a:ext uri="{FF2B5EF4-FFF2-40B4-BE49-F238E27FC236}">
                <a16:creationId xmlns:a16="http://schemas.microsoft.com/office/drawing/2014/main" id="{AFE9DC64-CE0C-C7B0-2BF0-6DA84AF72F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5F69513-B0E9-3D19-71BC-000A82CC383A}"/>
              </a:ext>
            </a:extLst>
          </p:cNvPr>
          <p:cNvSpPr>
            <a:spLocks noGrp="1"/>
          </p:cNvSpPr>
          <p:nvPr>
            <p:ph type="sldNum" sz="quarter" idx="12"/>
          </p:nvPr>
        </p:nvSpPr>
        <p:spPr/>
        <p:txBody>
          <a:body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1485930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9137391-8FC0-7343-5E31-048C04F5003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86DEDA0-3867-55A4-4F57-E80D984BA86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944CE65-F17D-9197-9D05-EBC53E99BE1A}"/>
              </a:ext>
            </a:extLst>
          </p:cNvPr>
          <p:cNvSpPr>
            <a:spLocks noGrp="1"/>
          </p:cNvSpPr>
          <p:nvPr>
            <p:ph type="dt" sz="half" idx="10"/>
          </p:nvPr>
        </p:nvSpPr>
        <p:spPr/>
        <p:txBody>
          <a:bodyPr/>
          <a:lstStyle/>
          <a:p>
            <a:fld id="{A8E3ACB6-B4A4-48A9-8A22-DE4836E07CB8}" type="datetimeFigureOut">
              <a:rPr kumimoji="1" lang="ja-JP" altLang="en-US" smtClean="0"/>
              <a:t>2026/6/7</a:t>
            </a:fld>
            <a:endParaRPr kumimoji="1" lang="ja-JP" altLang="en-US"/>
          </a:p>
        </p:txBody>
      </p:sp>
      <p:sp>
        <p:nvSpPr>
          <p:cNvPr id="5" name="フッター プレースホルダー 4">
            <a:extLst>
              <a:ext uri="{FF2B5EF4-FFF2-40B4-BE49-F238E27FC236}">
                <a16:creationId xmlns:a16="http://schemas.microsoft.com/office/drawing/2014/main" id="{53FCD211-2019-5DDD-4C0B-D89B35AF361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0A67CBD-A8BB-EC35-27B9-6F3550BA7AB5}"/>
              </a:ext>
            </a:extLst>
          </p:cNvPr>
          <p:cNvSpPr>
            <a:spLocks noGrp="1"/>
          </p:cNvSpPr>
          <p:nvPr>
            <p:ph type="sldNum" sz="quarter" idx="12"/>
          </p:nvPr>
        </p:nvSpPr>
        <p:spPr/>
        <p:txBody>
          <a:body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2381057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014E0CD-4674-AFE1-244E-4C15EB4015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8C4EE23-AE74-6837-1FBE-96B1B91952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D9D9FF0-5B97-DA39-8A2E-5BFE0EDA51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E3ACB6-B4A4-48A9-8A22-DE4836E07CB8}" type="datetimeFigureOut">
              <a:rPr kumimoji="1" lang="ja-JP" altLang="en-US" smtClean="0"/>
              <a:t>2026/6/7</a:t>
            </a:fld>
            <a:endParaRPr kumimoji="1" lang="ja-JP" altLang="en-US"/>
          </a:p>
        </p:txBody>
      </p:sp>
      <p:sp>
        <p:nvSpPr>
          <p:cNvPr id="5" name="フッター プレースホルダー 4">
            <a:extLst>
              <a:ext uri="{FF2B5EF4-FFF2-40B4-BE49-F238E27FC236}">
                <a16:creationId xmlns:a16="http://schemas.microsoft.com/office/drawing/2014/main" id="{21193F80-2F9B-0FCE-94E4-4F03696B8B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EBA1AA7-346D-7FA1-2BAA-EB9120FF5A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6217F7-3503-4398-8AF3-94054DDE774D}" type="slidenum">
              <a:rPr kumimoji="1" lang="ja-JP" altLang="en-US" smtClean="0"/>
              <a:t>‹#›</a:t>
            </a:fld>
            <a:endParaRPr kumimoji="1" lang="ja-JP" altLang="en-US"/>
          </a:p>
        </p:txBody>
      </p:sp>
    </p:spTree>
    <p:extLst>
      <p:ext uri="{BB962C8B-B14F-4D97-AF65-F5344CB8AC3E}">
        <p14:creationId xmlns:p14="http://schemas.microsoft.com/office/powerpoint/2010/main" val="3601125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C_BBBC118A.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D_37EF09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E_1987E5C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F_2841119.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10_B06F1B0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11_DEDAE159.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12_2B6B66EB.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13_34E2992C.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14_675A92DB.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15_20354BA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16_AD99B5D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19_17C78FA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24_71D685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microsoft.com/office/2018/10/relationships/comments" Target="../comments/modernComment_11E_AFFEA5F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21_CDBDBB3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microsoft.com/office/2018/10/relationships/comments" Target="../comments/modernComment_11F_783508F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122_1C4D6E8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23_FD7BE6AE.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367A6AF-C3B4-E798-D7FF-AFC096A1CFB2}"/>
              </a:ext>
            </a:extLst>
          </p:cNvPr>
          <p:cNvSpPr txBox="1"/>
          <p:nvPr/>
        </p:nvSpPr>
        <p:spPr>
          <a:xfrm>
            <a:off x="4147457" y="2967335"/>
            <a:ext cx="3647152" cy="923330"/>
          </a:xfrm>
          <a:prstGeom prst="rect">
            <a:avLst/>
          </a:prstGeom>
          <a:noFill/>
        </p:spPr>
        <p:txBody>
          <a:bodyPr wrap="none" rtlCol="0">
            <a:spAutoFit/>
          </a:bodyPr>
          <a:lstStyle/>
          <a:p>
            <a:r>
              <a:rPr kumimoji="1" lang="ja-JP" altLang="en-US" sz="5400" dirty="0"/>
              <a:t>画面設計図</a:t>
            </a:r>
          </a:p>
        </p:txBody>
      </p:sp>
    </p:spTree>
    <p:extLst>
      <p:ext uri="{BB962C8B-B14F-4D97-AF65-F5344CB8AC3E}">
        <p14:creationId xmlns:p14="http://schemas.microsoft.com/office/powerpoint/2010/main" val="1480939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3EED4-6933-AC37-96EB-DAA2322D6485}"/>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367C50A4-D2DD-A7D5-4F6F-24B0979310A9}"/>
              </a:ext>
            </a:extLst>
          </p:cNvPr>
          <p:cNvSpPr/>
          <p:nvPr/>
        </p:nvSpPr>
        <p:spPr>
          <a:xfrm>
            <a:off x="0" y="925290"/>
            <a:ext cx="12192000"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4" name="テキスト ボックス 5">
            <a:extLst>
              <a:ext uri="{FF2B5EF4-FFF2-40B4-BE49-F238E27FC236}">
                <a16:creationId xmlns:a16="http://schemas.microsoft.com/office/drawing/2014/main" id="{43F251E0-11B4-5DA6-80D6-4D8E83C302E6}"/>
              </a:ext>
            </a:extLst>
          </p:cNvPr>
          <p:cNvSpPr txBox="1"/>
          <p:nvPr/>
        </p:nvSpPr>
        <p:spPr>
          <a:xfrm>
            <a:off x="400828" y="1097007"/>
            <a:ext cx="3475927"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3600" b="0" i="0" u="none" strike="noStrike" kern="1200" cap="none" spc="0" baseline="0" dirty="0">
                <a:solidFill>
                  <a:srgbClr val="FFFFFF"/>
                </a:solidFill>
                <a:uFillTx/>
                <a:latin typeface="游ゴシック"/>
                <a:ea typeface="游ゴシック" pitchFamily="50"/>
              </a:rPr>
              <a:t>エンジニア一覧</a:t>
            </a:r>
            <a:endParaRPr lang="en-US" sz="3600" b="0" i="0" u="none" strike="noStrike" kern="1200" cap="none" spc="0" baseline="0" dirty="0">
              <a:solidFill>
                <a:srgbClr val="FFFFFF"/>
              </a:solidFill>
              <a:uFillTx/>
              <a:latin typeface="游ゴシック"/>
              <a:ea typeface="游ゴシック" pitchFamily="50"/>
            </a:endParaRPr>
          </a:p>
        </p:txBody>
      </p:sp>
      <p:sp>
        <p:nvSpPr>
          <p:cNvPr id="6" name="正方形/長方形 6">
            <a:extLst>
              <a:ext uri="{FF2B5EF4-FFF2-40B4-BE49-F238E27FC236}">
                <a16:creationId xmlns:a16="http://schemas.microsoft.com/office/drawing/2014/main" id="{9ECB4225-C4DA-CE7A-2F99-CE06E3351129}"/>
              </a:ext>
            </a:extLst>
          </p:cNvPr>
          <p:cNvSpPr/>
          <p:nvPr/>
        </p:nvSpPr>
        <p:spPr>
          <a:xfrm>
            <a:off x="9428622" y="1134209"/>
            <a:ext cx="2573321" cy="507204"/>
          </a:xfrm>
          <a:prstGeom prst="rect">
            <a:avLst/>
          </a:prstGeom>
          <a:solidFill>
            <a:srgbClr val="D9D9D9"/>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196B138D-252F-C877-FFEB-D3CE36F8C850}"/>
              </a:ext>
            </a:extLst>
          </p:cNvPr>
          <p:cNvSpPr txBox="1"/>
          <p:nvPr/>
        </p:nvSpPr>
        <p:spPr>
          <a:xfrm>
            <a:off x="304796" y="195946"/>
            <a:ext cx="5971507"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1</a:t>
            </a:r>
            <a:r>
              <a:rPr lang="en-US" altLang="ja-JP"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　</a:t>
            </a:r>
            <a:r>
              <a:rPr lang="ja-JP" altLang="en-US" sz="3600" dirty="0">
                <a:solidFill>
                  <a:srgbClr val="000000"/>
                </a:solidFill>
                <a:latin typeface="游ゴシック"/>
                <a:ea typeface="游ゴシック" pitchFamily="50"/>
              </a:rPr>
              <a:t>一覧画面（全体）</a:t>
            </a:r>
            <a:endParaRPr lang="en-US" sz="3600" b="0" i="0" u="none" strike="noStrike" kern="1200" cap="none" spc="0" baseline="0" dirty="0">
              <a:solidFill>
                <a:srgbClr val="000000"/>
              </a:solidFill>
              <a:uFillTx/>
              <a:latin typeface="游ゴシック"/>
              <a:ea typeface="游ゴシック" pitchFamily="50"/>
            </a:endParaRPr>
          </a:p>
        </p:txBody>
      </p:sp>
      <p:sp>
        <p:nvSpPr>
          <p:cNvPr id="20" name="円: 塗りつぶしなし 19">
            <a:extLst>
              <a:ext uri="{FF2B5EF4-FFF2-40B4-BE49-F238E27FC236}">
                <a16:creationId xmlns:a16="http://schemas.microsoft.com/office/drawing/2014/main" id="{557A6876-4C4E-B645-7103-88E308E10DE7}"/>
              </a:ext>
            </a:extLst>
          </p:cNvPr>
          <p:cNvSpPr/>
          <p:nvPr/>
        </p:nvSpPr>
        <p:spPr>
          <a:xfrm>
            <a:off x="11457974" y="1194833"/>
            <a:ext cx="283642" cy="266941"/>
          </a:xfrm>
          <a:prstGeom prst="donu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正方形/長方形 23">
            <a:extLst>
              <a:ext uri="{FF2B5EF4-FFF2-40B4-BE49-F238E27FC236}">
                <a16:creationId xmlns:a16="http://schemas.microsoft.com/office/drawing/2014/main" id="{54BA6ACB-06F7-15FE-5A5B-9D9B18D2714B}"/>
              </a:ext>
            </a:extLst>
          </p:cNvPr>
          <p:cNvSpPr/>
          <p:nvPr/>
        </p:nvSpPr>
        <p:spPr>
          <a:xfrm rot="7871681">
            <a:off x="11742067" y="1340078"/>
            <a:ext cx="45719" cy="274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24BC80F4-A99A-FF81-2EE1-40CA8CC4AE42}"/>
              </a:ext>
            </a:extLst>
          </p:cNvPr>
          <p:cNvSpPr/>
          <p:nvPr/>
        </p:nvSpPr>
        <p:spPr>
          <a:xfrm>
            <a:off x="5228418"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9CA3BCAD-AF2D-8417-DCD2-4264CF959D7E}"/>
              </a:ext>
            </a:extLst>
          </p:cNvPr>
          <p:cNvSpPr/>
          <p:nvPr/>
        </p:nvSpPr>
        <p:spPr>
          <a:xfrm>
            <a:off x="7132199" y="1894627"/>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E1C6B4A8-35AB-2720-32C3-17601788BBEB}"/>
              </a:ext>
            </a:extLst>
          </p:cNvPr>
          <p:cNvSpPr/>
          <p:nvPr/>
        </p:nvSpPr>
        <p:spPr>
          <a:xfrm>
            <a:off x="9035980"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6FBF41DB-A165-4856-7773-902E73377E8F}"/>
              </a:ext>
            </a:extLst>
          </p:cNvPr>
          <p:cNvSpPr/>
          <p:nvPr/>
        </p:nvSpPr>
        <p:spPr>
          <a:xfrm>
            <a:off x="10939761"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0" name="表 29">
            <a:extLst>
              <a:ext uri="{FF2B5EF4-FFF2-40B4-BE49-F238E27FC236}">
                <a16:creationId xmlns:a16="http://schemas.microsoft.com/office/drawing/2014/main" id="{4671A992-D9BB-B313-886E-1DCD3109D478}"/>
              </a:ext>
            </a:extLst>
          </p:cNvPr>
          <p:cNvGraphicFramePr>
            <a:graphicFrameLocks noGrp="1"/>
          </p:cNvGraphicFramePr>
          <p:nvPr>
            <p:extLst>
              <p:ext uri="{D42A27DB-BD31-4B8C-83A1-F6EECF244321}">
                <p14:modId xmlns:p14="http://schemas.microsoft.com/office/powerpoint/2010/main" val="2770918107"/>
              </p:ext>
            </p:extLst>
          </p:nvPr>
        </p:nvGraphicFramePr>
        <p:xfrm>
          <a:off x="0" y="2579700"/>
          <a:ext cx="12192000" cy="4383596"/>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843818313"/>
                    </a:ext>
                  </a:extLst>
                </a:gridCol>
                <a:gridCol w="674914">
                  <a:extLst>
                    <a:ext uri="{9D8B030D-6E8A-4147-A177-3AD203B41FA5}">
                      <a16:colId xmlns:a16="http://schemas.microsoft.com/office/drawing/2014/main" val="2593793615"/>
                    </a:ext>
                  </a:extLst>
                </a:gridCol>
                <a:gridCol w="990600">
                  <a:extLst>
                    <a:ext uri="{9D8B030D-6E8A-4147-A177-3AD203B41FA5}">
                      <a16:colId xmlns:a16="http://schemas.microsoft.com/office/drawing/2014/main" val="3819324818"/>
                    </a:ext>
                  </a:extLst>
                </a:gridCol>
                <a:gridCol w="903515">
                  <a:extLst>
                    <a:ext uri="{9D8B030D-6E8A-4147-A177-3AD203B41FA5}">
                      <a16:colId xmlns:a16="http://schemas.microsoft.com/office/drawing/2014/main" val="582941768"/>
                    </a:ext>
                  </a:extLst>
                </a:gridCol>
                <a:gridCol w="1099457">
                  <a:extLst>
                    <a:ext uri="{9D8B030D-6E8A-4147-A177-3AD203B41FA5}">
                      <a16:colId xmlns:a16="http://schemas.microsoft.com/office/drawing/2014/main" val="326648018"/>
                    </a:ext>
                  </a:extLst>
                </a:gridCol>
                <a:gridCol w="642257">
                  <a:extLst>
                    <a:ext uri="{9D8B030D-6E8A-4147-A177-3AD203B41FA5}">
                      <a16:colId xmlns:a16="http://schemas.microsoft.com/office/drawing/2014/main" val="3442362932"/>
                    </a:ext>
                  </a:extLst>
                </a:gridCol>
                <a:gridCol w="707571">
                  <a:extLst>
                    <a:ext uri="{9D8B030D-6E8A-4147-A177-3AD203B41FA5}">
                      <a16:colId xmlns:a16="http://schemas.microsoft.com/office/drawing/2014/main" val="1894457544"/>
                    </a:ext>
                  </a:extLst>
                </a:gridCol>
                <a:gridCol w="1208315">
                  <a:extLst>
                    <a:ext uri="{9D8B030D-6E8A-4147-A177-3AD203B41FA5}">
                      <a16:colId xmlns:a16="http://schemas.microsoft.com/office/drawing/2014/main" val="3378677225"/>
                    </a:ext>
                  </a:extLst>
                </a:gridCol>
                <a:gridCol w="838200">
                  <a:extLst>
                    <a:ext uri="{9D8B030D-6E8A-4147-A177-3AD203B41FA5}">
                      <a16:colId xmlns:a16="http://schemas.microsoft.com/office/drawing/2014/main" val="2724634915"/>
                    </a:ext>
                  </a:extLst>
                </a:gridCol>
                <a:gridCol w="1012371">
                  <a:extLst>
                    <a:ext uri="{9D8B030D-6E8A-4147-A177-3AD203B41FA5}">
                      <a16:colId xmlns:a16="http://schemas.microsoft.com/office/drawing/2014/main" val="2886769858"/>
                    </a:ext>
                  </a:extLst>
                </a:gridCol>
                <a:gridCol w="1883229">
                  <a:extLst>
                    <a:ext uri="{9D8B030D-6E8A-4147-A177-3AD203B41FA5}">
                      <a16:colId xmlns:a16="http://schemas.microsoft.com/office/drawing/2014/main" val="638158319"/>
                    </a:ext>
                  </a:extLst>
                </a:gridCol>
                <a:gridCol w="1317171">
                  <a:extLst>
                    <a:ext uri="{9D8B030D-6E8A-4147-A177-3AD203B41FA5}">
                      <a16:colId xmlns:a16="http://schemas.microsoft.com/office/drawing/2014/main" val="3725689978"/>
                    </a:ext>
                  </a:extLst>
                </a:gridCol>
              </a:tblGrid>
              <a:tr h="534788">
                <a:tc>
                  <a:txBody>
                    <a:bodyPr/>
                    <a:lstStyle/>
                    <a:p>
                      <a:pPr algn="ctr"/>
                      <a:r>
                        <a:rPr kumimoji="1" lang="ja-JP" altLang="en-US" sz="1200" dirty="0"/>
                        <a:t>氏名</a:t>
                      </a:r>
                    </a:p>
                  </a:txBody>
                  <a:tcPr/>
                </a:tc>
                <a:tc>
                  <a:txBody>
                    <a:bodyPr/>
                    <a:lstStyle/>
                    <a:p>
                      <a:pPr algn="ctr"/>
                      <a:r>
                        <a:rPr kumimoji="1" lang="ja-JP" altLang="en-US" sz="1200" dirty="0"/>
                        <a:t>社員</a:t>
                      </a:r>
                      <a:r>
                        <a:rPr kumimoji="1" lang="en-US" altLang="ja-JP" sz="1200" dirty="0"/>
                        <a:t>ID</a:t>
                      </a:r>
                      <a:endParaRPr kumimoji="1" lang="ja-JP" altLang="en-US" sz="1200" dirty="0"/>
                    </a:p>
                  </a:txBody>
                  <a:tcPr/>
                </a:tc>
                <a:tc>
                  <a:txBody>
                    <a:bodyPr/>
                    <a:lstStyle/>
                    <a:p>
                      <a:pPr algn="ctr"/>
                      <a:r>
                        <a:rPr kumimoji="1" lang="ja-JP" altLang="en-US" sz="1200" dirty="0"/>
                        <a:t>生年月日</a:t>
                      </a:r>
                    </a:p>
                  </a:txBody>
                  <a:tcPr/>
                </a:tc>
                <a:tc>
                  <a:txBody>
                    <a:bodyPr/>
                    <a:lstStyle/>
                    <a:p>
                      <a:pPr algn="ctr"/>
                      <a:r>
                        <a:rPr kumimoji="1" lang="ja-JP" altLang="en-US" sz="1200" dirty="0"/>
                        <a:t>入社年月</a:t>
                      </a:r>
                    </a:p>
                  </a:txBody>
                  <a:tcPr/>
                </a:tc>
                <a:tc>
                  <a:txBody>
                    <a:bodyPr/>
                    <a:lstStyle/>
                    <a:p>
                      <a:pPr algn="ctr"/>
                      <a:r>
                        <a:rPr kumimoji="1" lang="ja-JP" altLang="en-US" sz="1200" dirty="0"/>
                        <a:t>エンジニア歴</a:t>
                      </a:r>
                    </a:p>
                  </a:txBody>
                  <a:tcPr/>
                </a:tc>
                <a:tc>
                  <a:txBody>
                    <a:bodyPr/>
                    <a:lstStyle/>
                    <a:p>
                      <a:pPr algn="ctr"/>
                      <a:r>
                        <a:rPr kumimoji="1" lang="ja-JP" altLang="en-US" sz="1200" dirty="0"/>
                        <a:t>言語</a:t>
                      </a:r>
                    </a:p>
                  </a:txBody>
                  <a:tcPr/>
                </a:tc>
                <a:tc>
                  <a:txBody>
                    <a:bodyPr/>
                    <a:lstStyle/>
                    <a:p>
                      <a:pPr algn="ctr"/>
                      <a:r>
                        <a:rPr kumimoji="1" lang="ja-JP" altLang="en-US" sz="1200" dirty="0"/>
                        <a:t>経歴</a:t>
                      </a:r>
                    </a:p>
                  </a:txBody>
                  <a:tcPr/>
                </a:tc>
                <a:tc>
                  <a:txBody>
                    <a:bodyPr/>
                    <a:lstStyle/>
                    <a:p>
                      <a:pPr algn="ctr"/>
                      <a:r>
                        <a:rPr kumimoji="1" lang="ja-JP" altLang="en-US" sz="1200" dirty="0"/>
                        <a:t>研修受講歴</a:t>
                      </a:r>
                    </a:p>
                  </a:txBody>
                  <a:tcPr/>
                </a:tc>
                <a:tc>
                  <a:txBody>
                    <a:bodyPr/>
                    <a:lstStyle/>
                    <a:p>
                      <a:pPr algn="ctr"/>
                      <a:r>
                        <a:rPr kumimoji="1" lang="ja-JP" altLang="en-US" sz="1200" dirty="0"/>
                        <a:t>技術力</a:t>
                      </a:r>
                    </a:p>
                  </a:txBody>
                  <a:tcPr/>
                </a:tc>
                <a:tc>
                  <a:txBody>
                    <a:bodyPr/>
                    <a:lstStyle/>
                    <a:p>
                      <a:pPr algn="ctr"/>
                      <a:r>
                        <a:rPr kumimoji="1" lang="ja-JP" altLang="en-US" sz="1200" dirty="0"/>
                        <a:t>受講態度</a:t>
                      </a:r>
                    </a:p>
                  </a:txBody>
                  <a:tcPr/>
                </a:tc>
                <a:tc>
                  <a:txBody>
                    <a:bodyPr/>
                    <a:lstStyle/>
                    <a:p>
                      <a:pPr algn="ctr"/>
                      <a:r>
                        <a:rPr kumimoji="1" lang="ja-JP" altLang="en-US" sz="1200" dirty="0"/>
                        <a:t>コミュニケーション能力</a:t>
                      </a:r>
                    </a:p>
                  </a:txBody>
                  <a:tcPr/>
                </a:tc>
                <a:tc>
                  <a:txBody>
                    <a:bodyPr/>
                    <a:lstStyle/>
                    <a:p>
                      <a:pPr algn="ctr"/>
                      <a:r>
                        <a:rPr kumimoji="1" lang="ja-JP" altLang="en-US" sz="1200" dirty="0"/>
                        <a:t>リーダーシップ</a:t>
                      </a:r>
                    </a:p>
                  </a:txBody>
                  <a:tcPr/>
                </a:tc>
                <a:extLst>
                  <a:ext uri="{0D108BD9-81ED-4DB2-BD59-A6C34878D82A}">
                    <a16:rowId xmlns:a16="http://schemas.microsoft.com/office/drawing/2014/main" val="3031805351"/>
                  </a:ext>
                </a:extLst>
              </a:tr>
              <a:tr h="534788">
                <a:tc>
                  <a:txBody>
                    <a:bodyPr/>
                    <a:lstStyle/>
                    <a:p>
                      <a:r>
                        <a:rPr kumimoji="1" lang="ja-JP" altLang="en-US" sz="1200" dirty="0"/>
                        <a:t>山田 太郎</a:t>
                      </a:r>
                    </a:p>
                  </a:txBody>
                  <a:tcPr/>
                </a:tc>
                <a:tc>
                  <a:txBody>
                    <a:bodyPr/>
                    <a:lstStyle/>
                    <a:p>
                      <a:r>
                        <a:rPr kumimoji="1" lang="en-US" altLang="ja-JP" sz="1200" dirty="0"/>
                        <a:t>00001</a:t>
                      </a:r>
                    </a:p>
                  </a:txBody>
                  <a:tcPr/>
                </a:tc>
                <a:tc>
                  <a:txBody>
                    <a:bodyPr/>
                    <a:lstStyle/>
                    <a:p>
                      <a:r>
                        <a:rPr kumimoji="1" lang="en-US" altLang="ja-JP" sz="1200" dirty="0"/>
                        <a:t>1989/2/14</a:t>
                      </a:r>
                      <a:endParaRPr kumimoji="1" lang="ja-JP" altLang="en-US" sz="1200" dirty="0"/>
                    </a:p>
                  </a:txBody>
                  <a:tcPr/>
                </a:tc>
                <a:tc>
                  <a:txBody>
                    <a:bodyPr/>
                    <a:lstStyle/>
                    <a:p>
                      <a:r>
                        <a:rPr kumimoji="1" lang="en-US" altLang="ja-JP" sz="1200" dirty="0"/>
                        <a:t>2017/4</a:t>
                      </a:r>
                      <a:endParaRPr kumimoji="1" lang="ja-JP" altLang="en-US" sz="1200" dirty="0"/>
                    </a:p>
                  </a:txBody>
                  <a:tcPr/>
                </a:tc>
                <a:tc>
                  <a:txBody>
                    <a:bodyPr/>
                    <a:lstStyle/>
                    <a:p>
                      <a:r>
                        <a:rPr kumimoji="1" lang="en-US" altLang="ja-JP" sz="1200" dirty="0"/>
                        <a:t>13</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1181288494"/>
                  </a:ext>
                </a:extLst>
              </a:tr>
              <a:tr h="534788">
                <a:tc>
                  <a:txBody>
                    <a:bodyPr/>
                    <a:lstStyle/>
                    <a:p>
                      <a:r>
                        <a:rPr kumimoji="1" lang="ja-JP" altLang="en-US" sz="1200" dirty="0"/>
                        <a:t>田中 花子</a:t>
                      </a:r>
                    </a:p>
                  </a:txBody>
                  <a:tcPr/>
                </a:tc>
                <a:tc>
                  <a:txBody>
                    <a:bodyPr/>
                    <a:lstStyle/>
                    <a:p>
                      <a:r>
                        <a:rPr kumimoji="1" lang="en-US" altLang="ja-JP" sz="1200" dirty="0"/>
                        <a:t>00002</a:t>
                      </a:r>
                      <a:endParaRPr kumimoji="1" lang="ja-JP" altLang="en-US" sz="1200" dirty="0"/>
                    </a:p>
                  </a:txBody>
                  <a:tcPr/>
                </a:tc>
                <a:tc>
                  <a:txBody>
                    <a:bodyPr/>
                    <a:lstStyle/>
                    <a:p>
                      <a:r>
                        <a:rPr kumimoji="1" lang="en-US" altLang="ja-JP" sz="1200" dirty="0"/>
                        <a:t>1992/1/23</a:t>
                      </a:r>
                      <a:endParaRPr kumimoji="1" lang="ja-JP" altLang="en-US" sz="1200" dirty="0"/>
                    </a:p>
                  </a:txBody>
                  <a:tcPr/>
                </a:tc>
                <a:tc>
                  <a:txBody>
                    <a:bodyPr/>
                    <a:lstStyle/>
                    <a:p>
                      <a:r>
                        <a:rPr kumimoji="1" lang="en-US" altLang="ja-JP" sz="1200" dirty="0"/>
                        <a:t>2017/4</a:t>
                      </a:r>
                      <a:endParaRPr kumimoji="1" lang="ja-JP" altLang="en-US" sz="1200" dirty="0"/>
                    </a:p>
                  </a:txBody>
                  <a:tcPr/>
                </a:tc>
                <a:tc>
                  <a:txBody>
                    <a:bodyPr/>
                    <a:lstStyle/>
                    <a:p>
                      <a:r>
                        <a:rPr kumimoji="1" lang="en-US" altLang="ja-JP" sz="1200" dirty="0"/>
                        <a:t>9</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p>
                    <a:p>
                      <a:endParaRPr kumimoji="1" lang="ja-JP" altLang="en-US" dirty="0"/>
                    </a:p>
                  </a:txBody>
                  <a:tcPr/>
                </a:tc>
                <a:extLst>
                  <a:ext uri="{0D108BD9-81ED-4DB2-BD59-A6C34878D82A}">
                    <a16:rowId xmlns:a16="http://schemas.microsoft.com/office/drawing/2014/main" val="2841193060"/>
                  </a:ext>
                </a:extLst>
              </a:tr>
              <a:tr h="534788">
                <a:tc>
                  <a:txBody>
                    <a:bodyPr/>
                    <a:lstStyle/>
                    <a:p>
                      <a:r>
                        <a:rPr kumimoji="1" lang="ja-JP" altLang="en-US" sz="1200" dirty="0"/>
                        <a:t>佐藤 健</a:t>
                      </a:r>
                    </a:p>
                  </a:txBody>
                  <a:tcPr/>
                </a:tc>
                <a:tc>
                  <a:txBody>
                    <a:bodyPr/>
                    <a:lstStyle/>
                    <a:p>
                      <a:r>
                        <a:rPr kumimoji="1" lang="en-US" altLang="ja-JP" sz="1200" dirty="0"/>
                        <a:t>00003</a:t>
                      </a:r>
                      <a:endParaRPr kumimoji="1" lang="ja-JP" altLang="en-US" sz="1200" dirty="0"/>
                    </a:p>
                  </a:txBody>
                  <a:tcPr/>
                </a:tc>
                <a:tc>
                  <a:txBody>
                    <a:bodyPr/>
                    <a:lstStyle/>
                    <a:p>
                      <a:r>
                        <a:rPr kumimoji="1" lang="en-US" altLang="ja-JP" sz="1200" dirty="0"/>
                        <a:t>1990/12/31</a:t>
                      </a:r>
                      <a:endParaRPr kumimoji="1" lang="ja-JP" altLang="en-US" sz="1200" dirty="0"/>
                    </a:p>
                  </a:txBody>
                  <a:tcPr/>
                </a:tc>
                <a:tc>
                  <a:txBody>
                    <a:bodyPr/>
                    <a:lstStyle/>
                    <a:p>
                      <a:r>
                        <a:rPr kumimoji="1" lang="en-US" altLang="ja-JP" sz="1200" dirty="0"/>
                        <a:t>2017/10</a:t>
                      </a:r>
                      <a:endParaRPr kumimoji="1" lang="ja-JP" altLang="en-US" sz="1200" dirty="0"/>
                    </a:p>
                  </a:txBody>
                  <a:tcPr/>
                </a:tc>
                <a:tc>
                  <a:txBody>
                    <a:bodyPr/>
                    <a:lstStyle/>
                    <a:p>
                      <a:r>
                        <a:rPr kumimoji="1" lang="en-US" altLang="ja-JP" sz="1200" dirty="0"/>
                        <a:t>8</a:t>
                      </a:r>
                      <a:r>
                        <a:rPr kumimoji="1" lang="ja-JP" altLang="en-US" sz="1200" dirty="0"/>
                        <a:t>年</a:t>
                      </a:r>
                      <a:r>
                        <a:rPr kumimoji="1" lang="en-US" altLang="ja-JP" sz="1200" dirty="0"/>
                        <a:t>8</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125601969"/>
                  </a:ext>
                </a:extLst>
              </a:tr>
              <a:tr h="534788">
                <a:tc>
                  <a:txBody>
                    <a:bodyPr/>
                    <a:lstStyle/>
                    <a:p>
                      <a:r>
                        <a:rPr kumimoji="1" lang="ja-JP" altLang="en-US" sz="1200" dirty="0"/>
                        <a:t>木村 直也</a:t>
                      </a:r>
                    </a:p>
                  </a:txBody>
                  <a:tcPr/>
                </a:tc>
                <a:tc>
                  <a:txBody>
                    <a:bodyPr/>
                    <a:lstStyle/>
                    <a:p>
                      <a:r>
                        <a:rPr kumimoji="1" lang="en-US" altLang="ja-JP" sz="1200" dirty="0"/>
                        <a:t>00004</a:t>
                      </a:r>
                      <a:endParaRPr kumimoji="1" lang="ja-JP" altLang="en-US" sz="1200" dirty="0"/>
                    </a:p>
                  </a:txBody>
                  <a:tcPr/>
                </a:tc>
                <a:tc>
                  <a:txBody>
                    <a:bodyPr/>
                    <a:lstStyle/>
                    <a:p>
                      <a:r>
                        <a:rPr kumimoji="1" lang="en-US" altLang="ja-JP" sz="1200" dirty="0"/>
                        <a:t>2000/4/12</a:t>
                      </a:r>
                      <a:endParaRPr kumimoji="1" lang="ja-JP" altLang="en-US" sz="1200" dirty="0"/>
                    </a:p>
                  </a:txBody>
                  <a:tcPr/>
                </a:tc>
                <a:tc>
                  <a:txBody>
                    <a:bodyPr/>
                    <a:lstStyle/>
                    <a:p>
                      <a:r>
                        <a:rPr kumimoji="1" lang="en-US" altLang="ja-JP" sz="1200" dirty="0"/>
                        <a:t>2024/6</a:t>
                      </a:r>
                      <a:endParaRPr kumimoji="1" lang="ja-JP" altLang="en-US" sz="1200" dirty="0"/>
                    </a:p>
                  </a:txBody>
                  <a:tcPr/>
                </a:tc>
                <a:tc>
                  <a:txBody>
                    <a:bodyPr/>
                    <a:lstStyle/>
                    <a:p>
                      <a:r>
                        <a:rPr kumimoji="1" lang="en-US" altLang="ja-JP" sz="1200" dirty="0"/>
                        <a:t>2</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1267473416"/>
                  </a:ext>
                </a:extLst>
              </a:tr>
              <a:tr h="534788">
                <a:tc>
                  <a:txBody>
                    <a:bodyPr/>
                    <a:lstStyle/>
                    <a:p>
                      <a:r>
                        <a:rPr kumimoji="1" lang="ja-JP" altLang="en-US" sz="1200" dirty="0"/>
                        <a:t>間地 佳代</a:t>
                      </a:r>
                    </a:p>
                  </a:txBody>
                  <a:tcPr/>
                </a:tc>
                <a:tc>
                  <a:txBody>
                    <a:bodyPr/>
                    <a:lstStyle/>
                    <a:p>
                      <a:r>
                        <a:rPr kumimoji="1" lang="en-US" altLang="ja-JP" sz="1200" dirty="0"/>
                        <a:t>00005</a:t>
                      </a:r>
                      <a:endParaRPr kumimoji="1" lang="ja-JP" altLang="en-US" sz="1200" dirty="0"/>
                    </a:p>
                  </a:txBody>
                  <a:tcPr/>
                </a:tc>
                <a:tc>
                  <a:txBody>
                    <a:bodyPr/>
                    <a:lstStyle/>
                    <a:p>
                      <a:r>
                        <a:rPr kumimoji="1" lang="en-US" altLang="ja-JP" sz="1200" dirty="0"/>
                        <a:t>1995/10/24</a:t>
                      </a:r>
                      <a:endParaRPr kumimoji="1" lang="ja-JP" altLang="en-US" sz="1200" dirty="0"/>
                    </a:p>
                  </a:txBody>
                  <a:tcPr/>
                </a:tc>
                <a:tc>
                  <a:txBody>
                    <a:bodyPr/>
                    <a:lstStyle/>
                    <a:p>
                      <a:r>
                        <a:rPr kumimoji="1" lang="en-US" altLang="ja-JP" sz="1200" dirty="0"/>
                        <a:t>2019/4</a:t>
                      </a:r>
                      <a:endParaRPr kumimoji="1" lang="ja-JP" altLang="en-US" sz="1200" dirty="0"/>
                    </a:p>
                  </a:txBody>
                  <a:tcPr/>
                </a:tc>
                <a:tc>
                  <a:txBody>
                    <a:bodyPr/>
                    <a:lstStyle/>
                    <a:p>
                      <a:r>
                        <a:rPr kumimoji="1" lang="en-US" altLang="ja-JP" sz="1200" dirty="0"/>
                        <a:t>10</a:t>
                      </a:r>
                      <a:r>
                        <a:rPr kumimoji="1" lang="ja-JP" altLang="en-US" sz="1200" dirty="0"/>
                        <a:t>年</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761762557"/>
                  </a:ext>
                </a:extLst>
              </a:tr>
              <a:tr h="534788">
                <a:tc>
                  <a:txBody>
                    <a:bodyPr/>
                    <a:lstStyle/>
                    <a:p>
                      <a:r>
                        <a:rPr kumimoji="1" lang="ja-JP" altLang="en-US" sz="1200" dirty="0"/>
                        <a:t>秋葉 花</a:t>
                      </a:r>
                    </a:p>
                  </a:txBody>
                  <a:tcPr/>
                </a:tc>
                <a:tc>
                  <a:txBody>
                    <a:bodyPr/>
                    <a:lstStyle/>
                    <a:p>
                      <a:r>
                        <a:rPr kumimoji="1" lang="en-US" altLang="ja-JP" sz="1200" dirty="0"/>
                        <a:t>00006</a:t>
                      </a:r>
                      <a:endParaRPr kumimoji="1" lang="ja-JP" altLang="en-US" sz="1200" dirty="0"/>
                    </a:p>
                  </a:txBody>
                  <a:tcPr/>
                </a:tc>
                <a:tc>
                  <a:txBody>
                    <a:bodyPr/>
                    <a:lstStyle/>
                    <a:p>
                      <a:r>
                        <a:rPr kumimoji="1" lang="en-US" altLang="ja-JP" sz="1200" dirty="0"/>
                        <a:t>1996/2/23</a:t>
                      </a:r>
                      <a:endParaRPr kumimoji="1" lang="ja-JP" altLang="en-US" sz="1200" dirty="0"/>
                    </a:p>
                  </a:txBody>
                  <a:tcPr/>
                </a:tc>
                <a:tc>
                  <a:txBody>
                    <a:bodyPr/>
                    <a:lstStyle/>
                    <a:p>
                      <a:r>
                        <a:rPr kumimoji="1" lang="en-US" altLang="ja-JP" sz="1200" dirty="0"/>
                        <a:t>2022/7</a:t>
                      </a:r>
                      <a:endParaRPr kumimoji="1" lang="ja-JP" altLang="en-US" sz="1200" dirty="0"/>
                    </a:p>
                  </a:txBody>
                  <a:tcPr/>
                </a:tc>
                <a:tc>
                  <a:txBody>
                    <a:bodyPr/>
                    <a:lstStyle/>
                    <a:p>
                      <a:r>
                        <a:rPr kumimoji="1" lang="en-US" altLang="ja-JP" sz="1200" dirty="0"/>
                        <a:t>3</a:t>
                      </a:r>
                      <a:r>
                        <a:rPr kumimoji="1" lang="ja-JP" altLang="en-US" sz="1200" dirty="0"/>
                        <a:t>年</a:t>
                      </a:r>
                      <a:r>
                        <a:rPr kumimoji="1" lang="en-US" altLang="ja-JP" sz="1200" dirty="0"/>
                        <a:t>10</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902287736"/>
                  </a:ext>
                </a:extLst>
              </a:tr>
              <a:tr h="534788">
                <a:tc>
                  <a:txBody>
                    <a:bodyPr/>
                    <a:lstStyle/>
                    <a:p>
                      <a:r>
                        <a:rPr kumimoji="1" lang="ja-JP" altLang="en-US" sz="1200" dirty="0"/>
                        <a:t>野原 しん</a:t>
                      </a:r>
                    </a:p>
                  </a:txBody>
                  <a:tcPr/>
                </a:tc>
                <a:tc>
                  <a:txBody>
                    <a:bodyPr/>
                    <a:lstStyle/>
                    <a:p>
                      <a:r>
                        <a:rPr kumimoji="1" lang="en-US" altLang="ja-JP" sz="1200" dirty="0"/>
                        <a:t>00007</a:t>
                      </a:r>
                      <a:endParaRPr kumimoji="1" lang="ja-JP" altLang="en-US" sz="1200" dirty="0"/>
                    </a:p>
                  </a:txBody>
                  <a:tcPr/>
                </a:tc>
                <a:tc>
                  <a:txBody>
                    <a:bodyPr/>
                    <a:lstStyle/>
                    <a:p>
                      <a:r>
                        <a:rPr kumimoji="1" lang="en-US" altLang="ja-JP" sz="1200" dirty="0"/>
                        <a:t>2003/1/30</a:t>
                      </a:r>
                      <a:endParaRPr kumimoji="1" lang="ja-JP" altLang="en-US" sz="1200" dirty="0"/>
                    </a:p>
                  </a:txBody>
                  <a:tcPr/>
                </a:tc>
                <a:tc>
                  <a:txBody>
                    <a:bodyPr/>
                    <a:lstStyle/>
                    <a:p>
                      <a:r>
                        <a:rPr kumimoji="1" lang="en-US" altLang="ja-JP" sz="1200" dirty="0"/>
                        <a:t>2025/12</a:t>
                      </a:r>
                      <a:endParaRPr kumimoji="1" lang="ja-JP" altLang="en-US" sz="1200" dirty="0"/>
                    </a:p>
                  </a:txBody>
                  <a:tcPr/>
                </a:tc>
                <a:tc>
                  <a:txBody>
                    <a:bodyPr/>
                    <a:lstStyle/>
                    <a:p>
                      <a:r>
                        <a:rPr kumimoji="1" lang="en-US" altLang="ja-JP" sz="1200" dirty="0"/>
                        <a:t>5</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924052398"/>
                  </a:ext>
                </a:extLst>
              </a:tr>
            </a:tbl>
          </a:graphicData>
        </a:graphic>
      </p:graphicFrame>
      <p:sp>
        <p:nvSpPr>
          <p:cNvPr id="31" name="テキスト ボックス 30">
            <a:extLst>
              <a:ext uri="{FF2B5EF4-FFF2-40B4-BE49-F238E27FC236}">
                <a16:creationId xmlns:a16="http://schemas.microsoft.com/office/drawing/2014/main" id="{5DC30AF7-C56A-6965-FDAE-E3A4924D5101}"/>
              </a:ext>
            </a:extLst>
          </p:cNvPr>
          <p:cNvSpPr txBox="1"/>
          <p:nvPr/>
        </p:nvSpPr>
        <p:spPr>
          <a:xfrm>
            <a:off x="5362247" y="1925891"/>
            <a:ext cx="914400" cy="369332"/>
          </a:xfrm>
          <a:prstGeom prst="rect">
            <a:avLst/>
          </a:prstGeom>
          <a:noFill/>
        </p:spPr>
        <p:txBody>
          <a:bodyPr wrap="square" rtlCol="0">
            <a:spAutoFit/>
          </a:bodyPr>
          <a:lstStyle/>
          <a:p>
            <a:r>
              <a:rPr kumimoji="1" lang="ja-JP" altLang="en-US" dirty="0">
                <a:solidFill>
                  <a:schemeClr val="bg1"/>
                </a:solidFill>
              </a:rPr>
              <a:t>ソート</a:t>
            </a:r>
          </a:p>
        </p:txBody>
      </p:sp>
      <p:sp>
        <p:nvSpPr>
          <p:cNvPr id="33" name="テキスト ボックス 32">
            <a:extLst>
              <a:ext uri="{FF2B5EF4-FFF2-40B4-BE49-F238E27FC236}">
                <a16:creationId xmlns:a16="http://schemas.microsoft.com/office/drawing/2014/main" id="{9B17BBDE-34E7-AB5F-4A5E-03B03B317468}"/>
              </a:ext>
            </a:extLst>
          </p:cNvPr>
          <p:cNvSpPr txBox="1"/>
          <p:nvPr/>
        </p:nvSpPr>
        <p:spPr>
          <a:xfrm>
            <a:off x="7361056" y="1923575"/>
            <a:ext cx="914400" cy="369332"/>
          </a:xfrm>
          <a:prstGeom prst="rect">
            <a:avLst/>
          </a:prstGeom>
          <a:noFill/>
        </p:spPr>
        <p:txBody>
          <a:bodyPr wrap="square" rtlCol="0">
            <a:spAutoFit/>
          </a:bodyPr>
          <a:lstStyle/>
          <a:p>
            <a:r>
              <a:rPr kumimoji="1" lang="ja-JP" altLang="en-US" dirty="0">
                <a:solidFill>
                  <a:schemeClr val="bg1"/>
                </a:solidFill>
              </a:rPr>
              <a:t>選択</a:t>
            </a:r>
          </a:p>
        </p:txBody>
      </p:sp>
      <p:sp>
        <p:nvSpPr>
          <p:cNvPr id="34" name="テキスト ボックス 33">
            <a:extLst>
              <a:ext uri="{FF2B5EF4-FFF2-40B4-BE49-F238E27FC236}">
                <a16:creationId xmlns:a16="http://schemas.microsoft.com/office/drawing/2014/main" id="{8F8EC6E0-4CAF-473C-367E-86426154E22E}"/>
              </a:ext>
            </a:extLst>
          </p:cNvPr>
          <p:cNvSpPr txBox="1"/>
          <p:nvPr/>
        </p:nvSpPr>
        <p:spPr>
          <a:xfrm>
            <a:off x="9243905" y="1923575"/>
            <a:ext cx="646331" cy="369332"/>
          </a:xfrm>
          <a:prstGeom prst="rect">
            <a:avLst/>
          </a:prstGeom>
          <a:noFill/>
        </p:spPr>
        <p:txBody>
          <a:bodyPr wrap="none" rtlCol="0">
            <a:spAutoFit/>
          </a:bodyPr>
          <a:lstStyle/>
          <a:p>
            <a:r>
              <a:rPr lang="ja-JP" altLang="en-US" dirty="0">
                <a:solidFill>
                  <a:schemeClr val="bg1"/>
                </a:solidFill>
              </a:rPr>
              <a:t>追加</a:t>
            </a:r>
            <a:endParaRPr kumimoji="1" lang="ja-JP" altLang="en-US" dirty="0">
              <a:solidFill>
                <a:schemeClr val="bg1"/>
              </a:solidFill>
            </a:endParaRPr>
          </a:p>
        </p:txBody>
      </p:sp>
      <p:sp>
        <p:nvSpPr>
          <p:cNvPr id="35" name="テキスト ボックス 34">
            <a:extLst>
              <a:ext uri="{FF2B5EF4-FFF2-40B4-BE49-F238E27FC236}">
                <a16:creationId xmlns:a16="http://schemas.microsoft.com/office/drawing/2014/main" id="{E7E69A5F-6BC9-9FA4-93E3-5DFD75078DE3}"/>
              </a:ext>
            </a:extLst>
          </p:cNvPr>
          <p:cNvSpPr txBox="1"/>
          <p:nvPr/>
        </p:nvSpPr>
        <p:spPr>
          <a:xfrm>
            <a:off x="11147686" y="1923575"/>
            <a:ext cx="646331" cy="369332"/>
          </a:xfrm>
          <a:prstGeom prst="rect">
            <a:avLst/>
          </a:prstGeom>
          <a:noFill/>
        </p:spPr>
        <p:txBody>
          <a:bodyPr wrap="none" rtlCol="0">
            <a:spAutoFit/>
          </a:bodyPr>
          <a:lstStyle/>
          <a:p>
            <a:r>
              <a:rPr kumimoji="1" lang="ja-JP" altLang="en-US" dirty="0">
                <a:solidFill>
                  <a:schemeClr val="bg1"/>
                </a:solidFill>
              </a:rPr>
              <a:t>出力</a:t>
            </a:r>
          </a:p>
        </p:txBody>
      </p:sp>
    </p:spTree>
    <p:extLst>
      <p:ext uri="{BB962C8B-B14F-4D97-AF65-F5344CB8AC3E}">
        <p14:creationId xmlns:p14="http://schemas.microsoft.com/office/powerpoint/2010/main" val="3149664650"/>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4CA92-B2B3-54AA-DCCA-E01D36809E44}"/>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78ED8432-18E8-13D1-026C-806C63BF0672}"/>
              </a:ext>
            </a:extLst>
          </p:cNvPr>
          <p:cNvSpPr/>
          <p:nvPr/>
        </p:nvSpPr>
        <p:spPr>
          <a:xfrm>
            <a:off x="304796" y="925290"/>
            <a:ext cx="6868881"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4" name="テキスト ボックス 5">
            <a:extLst>
              <a:ext uri="{FF2B5EF4-FFF2-40B4-BE49-F238E27FC236}">
                <a16:creationId xmlns:a16="http://schemas.microsoft.com/office/drawing/2014/main" id="{F5110626-1F96-BFB2-3F82-DA9C77A9CEC6}"/>
              </a:ext>
            </a:extLst>
          </p:cNvPr>
          <p:cNvSpPr txBox="1"/>
          <p:nvPr/>
        </p:nvSpPr>
        <p:spPr>
          <a:xfrm>
            <a:off x="400828" y="1097007"/>
            <a:ext cx="5695172"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3600" b="0" i="0" u="none" strike="noStrike" kern="1200" cap="none" spc="0" baseline="0" dirty="0">
                <a:solidFill>
                  <a:srgbClr val="FFFFFF"/>
                </a:solidFill>
                <a:uFillTx/>
                <a:latin typeface="游ゴシック"/>
                <a:ea typeface="游ゴシック" pitchFamily="50"/>
              </a:rPr>
              <a:t>エンジニア一覧</a:t>
            </a:r>
            <a:endParaRPr lang="en-US" sz="3600" b="0" i="0" u="none" strike="noStrike" kern="1200" cap="none" spc="0" baseline="0" dirty="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B71514F5-47C0-9B81-F175-486EDDFA3024}"/>
              </a:ext>
            </a:extLst>
          </p:cNvPr>
          <p:cNvSpPr txBox="1"/>
          <p:nvPr/>
        </p:nvSpPr>
        <p:spPr>
          <a:xfrm>
            <a:off x="304796" y="195946"/>
            <a:ext cx="5971507"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1</a:t>
            </a:r>
            <a:r>
              <a:rPr lang="en-US" altLang="ja-JP"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　</a:t>
            </a:r>
            <a:r>
              <a:rPr lang="ja-JP" altLang="en-US" sz="3600" dirty="0">
                <a:solidFill>
                  <a:srgbClr val="000000"/>
                </a:solidFill>
                <a:latin typeface="游ゴシック"/>
                <a:ea typeface="游ゴシック" pitchFamily="50"/>
              </a:rPr>
              <a:t>一覧画面（左側）</a:t>
            </a:r>
            <a:endParaRPr lang="en-US" sz="3600" b="0" i="0" u="none" strike="noStrike" kern="1200" cap="none" spc="0" baseline="0" dirty="0">
              <a:solidFill>
                <a:srgbClr val="000000"/>
              </a:solidFill>
              <a:uFillTx/>
              <a:latin typeface="游ゴシック"/>
              <a:ea typeface="游ゴシック" pitchFamily="50"/>
            </a:endParaRPr>
          </a:p>
        </p:txBody>
      </p:sp>
      <p:pic>
        <p:nvPicPr>
          <p:cNvPr id="19" name="図 18">
            <a:extLst>
              <a:ext uri="{FF2B5EF4-FFF2-40B4-BE49-F238E27FC236}">
                <a16:creationId xmlns:a16="http://schemas.microsoft.com/office/drawing/2014/main" id="{BDCECD20-F8CC-CA35-EB56-9BC730C0C0CF}"/>
              </a:ext>
            </a:extLst>
          </p:cNvPr>
          <p:cNvPicPr>
            <a:picLocks noChangeAspect="1"/>
          </p:cNvPicPr>
          <p:nvPr/>
        </p:nvPicPr>
        <p:blipFill>
          <a:blip r:embed="rId3"/>
          <a:stretch>
            <a:fillRect/>
          </a:stretch>
        </p:blipFill>
        <p:spPr>
          <a:xfrm>
            <a:off x="7876971" y="3815844"/>
            <a:ext cx="4010233" cy="2632187"/>
          </a:xfrm>
          <a:prstGeom prst="rect">
            <a:avLst/>
          </a:prstGeom>
        </p:spPr>
      </p:pic>
      <p:graphicFrame>
        <p:nvGraphicFramePr>
          <p:cNvPr id="25" name="表 24">
            <a:extLst>
              <a:ext uri="{FF2B5EF4-FFF2-40B4-BE49-F238E27FC236}">
                <a16:creationId xmlns:a16="http://schemas.microsoft.com/office/drawing/2014/main" id="{92B7442D-D9EA-06FF-63D6-16C0F991B09D}"/>
              </a:ext>
            </a:extLst>
          </p:cNvPr>
          <p:cNvGraphicFramePr>
            <a:graphicFrameLocks noGrp="1"/>
          </p:cNvGraphicFramePr>
          <p:nvPr/>
        </p:nvGraphicFramePr>
        <p:xfrm>
          <a:off x="304796" y="2429164"/>
          <a:ext cx="6868881" cy="4102766"/>
        </p:xfrm>
        <a:graphic>
          <a:graphicData uri="http://schemas.openxmlformats.org/drawingml/2006/table">
            <a:tbl>
              <a:tblPr firstRow="1" bandRow="1">
                <a:tableStyleId>{5C22544A-7EE6-4342-B048-85BDC9FD1C3A}</a:tableStyleId>
              </a:tblPr>
              <a:tblGrid>
                <a:gridCol w="1237677">
                  <a:extLst>
                    <a:ext uri="{9D8B030D-6E8A-4147-A177-3AD203B41FA5}">
                      <a16:colId xmlns:a16="http://schemas.microsoft.com/office/drawing/2014/main" val="638010117"/>
                    </a:ext>
                  </a:extLst>
                </a:gridCol>
                <a:gridCol w="923636">
                  <a:extLst>
                    <a:ext uri="{9D8B030D-6E8A-4147-A177-3AD203B41FA5}">
                      <a16:colId xmlns:a16="http://schemas.microsoft.com/office/drawing/2014/main" val="3779350883"/>
                    </a:ext>
                  </a:extLst>
                </a:gridCol>
                <a:gridCol w="1459346">
                  <a:extLst>
                    <a:ext uri="{9D8B030D-6E8A-4147-A177-3AD203B41FA5}">
                      <a16:colId xmlns:a16="http://schemas.microsoft.com/office/drawing/2014/main" val="3973104674"/>
                    </a:ext>
                  </a:extLst>
                </a:gridCol>
                <a:gridCol w="1283854">
                  <a:extLst>
                    <a:ext uri="{9D8B030D-6E8A-4147-A177-3AD203B41FA5}">
                      <a16:colId xmlns:a16="http://schemas.microsoft.com/office/drawing/2014/main" val="1985344831"/>
                    </a:ext>
                  </a:extLst>
                </a:gridCol>
                <a:gridCol w="1964368">
                  <a:extLst>
                    <a:ext uri="{9D8B030D-6E8A-4147-A177-3AD203B41FA5}">
                      <a16:colId xmlns:a16="http://schemas.microsoft.com/office/drawing/2014/main" val="69931994"/>
                    </a:ext>
                  </a:extLst>
                </a:gridCol>
              </a:tblGrid>
              <a:tr h="339914">
                <a:tc>
                  <a:txBody>
                    <a:bodyPr/>
                    <a:lstStyle/>
                    <a:p>
                      <a:pPr algn="ctr"/>
                      <a:r>
                        <a:rPr kumimoji="1" lang="ja-JP" altLang="en-US" dirty="0"/>
                        <a:t>氏名</a:t>
                      </a:r>
                    </a:p>
                  </a:txBody>
                  <a:tcPr/>
                </a:tc>
                <a:tc>
                  <a:txBody>
                    <a:bodyPr/>
                    <a:lstStyle/>
                    <a:p>
                      <a:pPr algn="ctr"/>
                      <a:r>
                        <a:rPr kumimoji="1" lang="ja-JP" altLang="en-US" dirty="0"/>
                        <a:t>社員</a:t>
                      </a:r>
                      <a:r>
                        <a:rPr kumimoji="1" lang="en-US" altLang="ja-JP" dirty="0"/>
                        <a:t>ID</a:t>
                      </a:r>
                      <a:endParaRPr kumimoji="1" lang="ja-JP" altLang="en-US" dirty="0"/>
                    </a:p>
                  </a:txBody>
                  <a:tcPr/>
                </a:tc>
                <a:tc>
                  <a:txBody>
                    <a:bodyPr/>
                    <a:lstStyle/>
                    <a:p>
                      <a:pPr algn="ctr"/>
                      <a:r>
                        <a:rPr kumimoji="1" lang="ja-JP" altLang="en-US" dirty="0"/>
                        <a:t>生年月日</a:t>
                      </a:r>
                    </a:p>
                  </a:txBody>
                  <a:tcPr/>
                </a:tc>
                <a:tc>
                  <a:txBody>
                    <a:bodyPr/>
                    <a:lstStyle/>
                    <a:p>
                      <a:pPr algn="ctr"/>
                      <a:r>
                        <a:rPr kumimoji="1" lang="ja-JP" altLang="en-US" dirty="0"/>
                        <a:t>入社年月</a:t>
                      </a:r>
                    </a:p>
                  </a:txBody>
                  <a:tcPr/>
                </a:tc>
                <a:tc>
                  <a:txBody>
                    <a:bodyPr/>
                    <a:lstStyle/>
                    <a:p>
                      <a:pPr algn="ctr"/>
                      <a:r>
                        <a:rPr kumimoji="1" lang="ja-JP" altLang="en-US" sz="1800" dirty="0"/>
                        <a:t>エンジニア歴</a:t>
                      </a:r>
                    </a:p>
                  </a:txBody>
                  <a:tcPr/>
                </a:tc>
                <a:extLst>
                  <a:ext uri="{0D108BD9-81ED-4DB2-BD59-A6C34878D82A}">
                    <a16:rowId xmlns:a16="http://schemas.microsoft.com/office/drawing/2014/main" val="2187143427"/>
                  </a:ext>
                </a:extLst>
              </a:tr>
              <a:tr h="533858">
                <a:tc>
                  <a:txBody>
                    <a:bodyPr/>
                    <a:lstStyle/>
                    <a:p>
                      <a:r>
                        <a:rPr kumimoji="1" lang="ja-JP" altLang="en-US" dirty="0"/>
                        <a:t>山田 太郎</a:t>
                      </a:r>
                    </a:p>
                  </a:txBody>
                  <a:tcPr/>
                </a:tc>
                <a:tc>
                  <a:txBody>
                    <a:bodyPr/>
                    <a:lstStyle/>
                    <a:p>
                      <a:r>
                        <a:rPr kumimoji="1" lang="en-US" altLang="ja-JP" dirty="0"/>
                        <a:t>00001</a:t>
                      </a:r>
                    </a:p>
                  </a:txBody>
                  <a:tcPr/>
                </a:tc>
                <a:tc>
                  <a:txBody>
                    <a:bodyPr/>
                    <a:lstStyle/>
                    <a:p>
                      <a:r>
                        <a:rPr kumimoji="1" lang="en-US" altLang="ja-JP" dirty="0"/>
                        <a:t>1989/2/14</a:t>
                      </a:r>
                      <a:endParaRPr kumimoji="1" lang="ja-JP" altLang="en-US" dirty="0"/>
                    </a:p>
                  </a:txBody>
                  <a:tcPr/>
                </a:tc>
                <a:tc>
                  <a:txBody>
                    <a:bodyPr/>
                    <a:lstStyle/>
                    <a:p>
                      <a:r>
                        <a:rPr kumimoji="1" lang="en-US" altLang="ja-JP" dirty="0"/>
                        <a:t>2017/4</a:t>
                      </a:r>
                      <a:endParaRPr kumimoji="1" lang="ja-JP" altLang="en-US" dirty="0"/>
                    </a:p>
                  </a:txBody>
                  <a:tcPr/>
                </a:tc>
                <a:tc>
                  <a:txBody>
                    <a:bodyPr/>
                    <a:lstStyle/>
                    <a:p>
                      <a:r>
                        <a:rPr kumimoji="1" lang="en-US" altLang="ja-JP" dirty="0"/>
                        <a:t>13</a:t>
                      </a:r>
                      <a:r>
                        <a:rPr kumimoji="1" lang="ja-JP" altLang="en-US" dirty="0"/>
                        <a:t>年</a:t>
                      </a:r>
                      <a:r>
                        <a:rPr kumimoji="1" lang="en-US" altLang="ja-JP" dirty="0"/>
                        <a:t>2</a:t>
                      </a:r>
                      <a:r>
                        <a:rPr kumimoji="1" lang="ja-JP" altLang="en-US" dirty="0"/>
                        <a:t>ヶ月</a:t>
                      </a:r>
                    </a:p>
                  </a:txBody>
                  <a:tcPr/>
                </a:tc>
                <a:extLst>
                  <a:ext uri="{0D108BD9-81ED-4DB2-BD59-A6C34878D82A}">
                    <a16:rowId xmlns:a16="http://schemas.microsoft.com/office/drawing/2014/main" val="233953203"/>
                  </a:ext>
                </a:extLst>
              </a:tr>
              <a:tr h="533858">
                <a:tc>
                  <a:txBody>
                    <a:bodyPr/>
                    <a:lstStyle/>
                    <a:p>
                      <a:r>
                        <a:rPr kumimoji="1" lang="ja-JP" altLang="en-US" dirty="0"/>
                        <a:t>田中 花子</a:t>
                      </a:r>
                    </a:p>
                  </a:txBody>
                  <a:tcPr/>
                </a:tc>
                <a:tc>
                  <a:txBody>
                    <a:bodyPr/>
                    <a:lstStyle/>
                    <a:p>
                      <a:r>
                        <a:rPr kumimoji="1" lang="en-US" altLang="ja-JP" dirty="0"/>
                        <a:t>00002</a:t>
                      </a:r>
                      <a:endParaRPr kumimoji="1" lang="ja-JP" altLang="en-US" dirty="0"/>
                    </a:p>
                  </a:txBody>
                  <a:tcPr/>
                </a:tc>
                <a:tc>
                  <a:txBody>
                    <a:bodyPr/>
                    <a:lstStyle/>
                    <a:p>
                      <a:r>
                        <a:rPr kumimoji="1" lang="en-US" altLang="ja-JP" dirty="0"/>
                        <a:t>1992/1/23</a:t>
                      </a:r>
                      <a:endParaRPr kumimoji="1" lang="ja-JP" altLang="en-US" dirty="0"/>
                    </a:p>
                  </a:txBody>
                  <a:tcPr/>
                </a:tc>
                <a:tc>
                  <a:txBody>
                    <a:bodyPr/>
                    <a:lstStyle/>
                    <a:p>
                      <a:r>
                        <a:rPr kumimoji="1" lang="en-US" altLang="ja-JP" dirty="0"/>
                        <a:t>2017/4</a:t>
                      </a:r>
                      <a:endParaRPr kumimoji="1" lang="ja-JP" altLang="en-US" dirty="0"/>
                    </a:p>
                  </a:txBody>
                  <a:tcPr/>
                </a:tc>
                <a:tc>
                  <a:txBody>
                    <a:bodyPr/>
                    <a:lstStyle/>
                    <a:p>
                      <a:r>
                        <a:rPr kumimoji="1" lang="en-US" altLang="ja-JP" dirty="0"/>
                        <a:t>9</a:t>
                      </a:r>
                      <a:r>
                        <a:rPr kumimoji="1" lang="ja-JP" altLang="en-US" dirty="0"/>
                        <a:t>年</a:t>
                      </a:r>
                      <a:r>
                        <a:rPr kumimoji="1" lang="en-US" altLang="ja-JP" dirty="0"/>
                        <a:t>2</a:t>
                      </a:r>
                      <a:r>
                        <a:rPr kumimoji="1" lang="ja-JP" altLang="en-US" dirty="0"/>
                        <a:t>ヶ月</a:t>
                      </a:r>
                    </a:p>
                  </a:txBody>
                  <a:tcPr/>
                </a:tc>
                <a:extLst>
                  <a:ext uri="{0D108BD9-81ED-4DB2-BD59-A6C34878D82A}">
                    <a16:rowId xmlns:a16="http://schemas.microsoft.com/office/drawing/2014/main" val="2922039770"/>
                  </a:ext>
                </a:extLst>
              </a:tr>
              <a:tr h="533858">
                <a:tc>
                  <a:txBody>
                    <a:bodyPr/>
                    <a:lstStyle/>
                    <a:p>
                      <a:r>
                        <a:rPr kumimoji="1" lang="ja-JP" altLang="en-US" dirty="0"/>
                        <a:t>佐藤 健</a:t>
                      </a:r>
                    </a:p>
                  </a:txBody>
                  <a:tcPr/>
                </a:tc>
                <a:tc>
                  <a:txBody>
                    <a:bodyPr/>
                    <a:lstStyle/>
                    <a:p>
                      <a:r>
                        <a:rPr kumimoji="1" lang="en-US" altLang="ja-JP" dirty="0"/>
                        <a:t>00003</a:t>
                      </a:r>
                      <a:endParaRPr kumimoji="1" lang="ja-JP" altLang="en-US" dirty="0"/>
                    </a:p>
                  </a:txBody>
                  <a:tcPr/>
                </a:tc>
                <a:tc>
                  <a:txBody>
                    <a:bodyPr/>
                    <a:lstStyle/>
                    <a:p>
                      <a:r>
                        <a:rPr kumimoji="1" lang="en-US" altLang="ja-JP" dirty="0"/>
                        <a:t>1990/12/31</a:t>
                      </a:r>
                      <a:endParaRPr kumimoji="1" lang="ja-JP" altLang="en-US" dirty="0"/>
                    </a:p>
                  </a:txBody>
                  <a:tcPr/>
                </a:tc>
                <a:tc>
                  <a:txBody>
                    <a:bodyPr/>
                    <a:lstStyle/>
                    <a:p>
                      <a:r>
                        <a:rPr kumimoji="1" lang="en-US" altLang="ja-JP" dirty="0"/>
                        <a:t>2017/10</a:t>
                      </a:r>
                      <a:endParaRPr kumimoji="1" lang="ja-JP" altLang="en-US" dirty="0"/>
                    </a:p>
                  </a:txBody>
                  <a:tcPr/>
                </a:tc>
                <a:tc>
                  <a:txBody>
                    <a:bodyPr/>
                    <a:lstStyle/>
                    <a:p>
                      <a:r>
                        <a:rPr kumimoji="1" lang="en-US" altLang="ja-JP" dirty="0"/>
                        <a:t>8</a:t>
                      </a:r>
                      <a:r>
                        <a:rPr kumimoji="1" lang="ja-JP" altLang="en-US" dirty="0"/>
                        <a:t>年</a:t>
                      </a:r>
                      <a:r>
                        <a:rPr kumimoji="1" lang="en-US" altLang="ja-JP" dirty="0"/>
                        <a:t>8</a:t>
                      </a:r>
                      <a:r>
                        <a:rPr kumimoji="1" lang="ja-JP" altLang="en-US" dirty="0"/>
                        <a:t>ヶ月</a:t>
                      </a:r>
                    </a:p>
                  </a:txBody>
                  <a:tcPr/>
                </a:tc>
                <a:extLst>
                  <a:ext uri="{0D108BD9-81ED-4DB2-BD59-A6C34878D82A}">
                    <a16:rowId xmlns:a16="http://schemas.microsoft.com/office/drawing/2014/main" val="1819873742"/>
                  </a:ext>
                </a:extLst>
              </a:tr>
              <a:tr h="533858">
                <a:tc>
                  <a:txBody>
                    <a:bodyPr/>
                    <a:lstStyle/>
                    <a:p>
                      <a:r>
                        <a:rPr kumimoji="1" lang="ja-JP" altLang="en-US" dirty="0"/>
                        <a:t>木村 直也</a:t>
                      </a:r>
                    </a:p>
                  </a:txBody>
                  <a:tcPr/>
                </a:tc>
                <a:tc>
                  <a:txBody>
                    <a:bodyPr/>
                    <a:lstStyle/>
                    <a:p>
                      <a:r>
                        <a:rPr kumimoji="1" lang="en-US" altLang="ja-JP" dirty="0"/>
                        <a:t>00004</a:t>
                      </a:r>
                      <a:endParaRPr kumimoji="1" lang="ja-JP" altLang="en-US" dirty="0"/>
                    </a:p>
                  </a:txBody>
                  <a:tcPr/>
                </a:tc>
                <a:tc>
                  <a:txBody>
                    <a:bodyPr/>
                    <a:lstStyle/>
                    <a:p>
                      <a:r>
                        <a:rPr kumimoji="1" lang="en-US" altLang="ja-JP" dirty="0"/>
                        <a:t>2000/4/12</a:t>
                      </a:r>
                      <a:endParaRPr kumimoji="1" lang="ja-JP" altLang="en-US" dirty="0"/>
                    </a:p>
                  </a:txBody>
                  <a:tcPr/>
                </a:tc>
                <a:tc>
                  <a:txBody>
                    <a:bodyPr/>
                    <a:lstStyle/>
                    <a:p>
                      <a:r>
                        <a:rPr kumimoji="1" lang="en-US" altLang="ja-JP" dirty="0"/>
                        <a:t>2024/6</a:t>
                      </a:r>
                      <a:endParaRPr kumimoji="1" lang="ja-JP" altLang="en-US" dirty="0"/>
                    </a:p>
                  </a:txBody>
                  <a:tcPr/>
                </a:tc>
                <a:tc>
                  <a:txBody>
                    <a:bodyPr/>
                    <a:lstStyle/>
                    <a:p>
                      <a:r>
                        <a:rPr kumimoji="1" lang="en-US" altLang="ja-JP" dirty="0"/>
                        <a:t>2</a:t>
                      </a:r>
                      <a:r>
                        <a:rPr kumimoji="1" lang="ja-JP" altLang="en-US" dirty="0"/>
                        <a:t>年</a:t>
                      </a:r>
                      <a:r>
                        <a:rPr kumimoji="1" lang="en-US" altLang="ja-JP" dirty="0"/>
                        <a:t>2</a:t>
                      </a:r>
                      <a:r>
                        <a:rPr kumimoji="1" lang="ja-JP" altLang="en-US" dirty="0"/>
                        <a:t>ヶ月</a:t>
                      </a:r>
                    </a:p>
                  </a:txBody>
                  <a:tcPr/>
                </a:tc>
                <a:extLst>
                  <a:ext uri="{0D108BD9-81ED-4DB2-BD59-A6C34878D82A}">
                    <a16:rowId xmlns:a16="http://schemas.microsoft.com/office/drawing/2014/main" val="2621587236"/>
                  </a:ext>
                </a:extLst>
              </a:tr>
              <a:tr h="533858">
                <a:tc>
                  <a:txBody>
                    <a:bodyPr/>
                    <a:lstStyle/>
                    <a:p>
                      <a:r>
                        <a:rPr kumimoji="1" lang="ja-JP" altLang="en-US" dirty="0"/>
                        <a:t>間地 佳代</a:t>
                      </a:r>
                    </a:p>
                  </a:txBody>
                  <a:tcPr/>
                </a:tc>
                <a:tc>
                  <a:txBody>
                    <a:bodyPr/>
                    <a:lstStyle/>
                    <a:p>
                      <a:r>
                        <a:rPr kumimoji="1" lang="en-US" altLang="ja-JP" dirty="0"/>
                        <a:t>00005</a:t>
                      </a:r>
                      <a:endParaRPr kumimoji="1" lang="ja-JP" altLang="en-US" dirty="0"/>
                    </a:p>
                  </a:txBody>
                  <a:tcPr/>
                </a:tc>
                <a:tc>
                  <a:txBody>
                    <a:bodyPr/>
                    <a:lstStyle/>
                    <a:p>
                      <a:r>
                        <a:rPr kumimoji="1" lang="en-US" altLang="ja-JP" dirty="0"/>
                        <a:t>1995/10/24</a:t>
                      </a:r>
                      <a:endParaRPr kumimoji="1" lang="ja-JP" altLang="en-US" dirty="0"/>
                    </a:p>
                  </a:txBody>
                  <a:tcPr/>
                </a:tc>
                <a:tc>
                  <a:txBody>
                    <a:bodyPr/>
                    <a:lstStyle/>
                    <a:p>
                      <a:r>
                        <a:rPr kumimoji="1" lang="en-US" altLang="ja-JP" dirty="0"/>
                        <a:t>2019/4</a:t>
                      </a:r>
                      <a:endParaRPr kumimoji="1" lang="ja-JP" altLang="en-US" dirty="0"/>
                    </a:p>
                  </a:txBody>
                  <a:tcPr/>
                </a:tc>
                <a:tc>
                  <a:txBody>
                    <a:bodyPr/>
                    <a:lstStyle/>
                    <a:p>
                      <a:r>
                        <a:rPr kumimoji="1" lang="en-US" altLang="ja-JP" dirty="0"/>
                        <a:t>10</a:t>
                      </a:r>
                      <a:r>
                        <a:rPr kumimoji="1" lang="ja-JP" altLang="en-US" dirty="0"/>
                        <a:t>年</a:t>
                      </a:r>
                    </a:p>
                  </a:txBody>
                  <a:tcPr/>
                </a:tc>
                <a:extLst>
                  <a:ext uri="{0D108BD9-81ED-4DB2-BD59-A6C34878D82A}">
                    <a16:rowId xmlns:a16="http://schemas.microsoft.com/office/drawing/2014/main" val="938285835"/>
                  </a:ext>
                </a:extLst>
              </a:tr>
              <a:tr h="533858">
                <a:tc>
                  <a:txBody>
                    <a:bodyPr/>
                    <a:lstStyle/>
                    <a:p>
                      <a:r>
                        <a:rPr kumimoji="1" lang="ja-JP" altLang="en-US" dirty="0"/>
                        <a:t>秋葉 花</a:t>
                      </a:r>
                    </a:p>
                  </a:txBody>
                  <a:tcPr/>
                </a:tc>
                <a:tc>
                  <a:txBody>
                    <a:bodyPr/>
                    <a:lstStyle/>
                    <a:p>
                      <a:r>
                        <a:rPr kumimoji="1" lang="en-US" altLang="ja-JP" dirty="0"/>
                        <a:t>00006</a:t>
                      </a:r>
                      <a:endParaRPr kumimoji="1" lang="ja-JP" altLang="en-US" dirty="0"/>
                    </a:p>
                  </a:txBody>
                  <a:tcPr/>
                </a:tc>
                <a:tc>
                  <a:txBody>
                    <a:bodyPr/>
                    <a:lstStyle/>
                    <a:p>
                      <a:r>
                        <a:rPr kumimoji="1" lang="en-US" altLang="ja-JP" dirty="0"/>
                        <a:t>1996/2/23</a:t>
                      </a:r>
                      <a:endParaRPr kumimoji="1" lang="ja-JP" altLang="en-US" dirty="0"/>
                    </a:p>
                  </a:txBody>
                  <a:tcPr/>
                </a:tc>
                <a:tc>
                  <a:txBody>
                    <a:bodyPr/>
                    <a:lstStyle/>
                    <a:p>
                      <a:r>
                        <a:rPr kumimoji="1" lang="en-US" altLang="ja-JP" dirty="0"/>
                        <a:t>2022/7</a:t>
                      </a:r>
                      <a:endParaRPr kumimoji="1" lang="ja-JP" altLang="en-US" dirty="0"/>
                    </a:p>
                  </a:txBody>
                  <a:tcPr/>
                </a:tc>
                <a:tc>
                  <a:txBody>
                    <a:bodyPr/>
                    <a:lstStyle/>
                    <a:p>
                      <a:r>
                        <a:rPr kumimoji="1" lang="en-US" altLang="ja-JP" dirty="0"/>
                        <a:t>3</a:t>
                      </a:r>
                      <a:r>
                        <a:rPr kumimoji="1" lang="ja-JP" altLang="en-US" dirty="0"/>
                        <a:t>年</a:t>
                      </a:r>
                      <a:r>
                        <a:rPr kumimoji="1" lang="en-US" altLang="ja-JP" dirty="0"/>
                        <a:t>10</a:t>
                      </a:r>
                      <a:r>
                        <a:rPr kumimoji="1" lang="ja-JP" altLang="en-US" dirty="0"/>
                        <a:t>ヶ月</a:t>
                      </a:r>
                    </a:p>
                  </a:txBody>
                  <a:tcPr/>
                </a:tc>
                <a:extLst>
                  <a:ext uri="{0D108BD9-81ED-4DB2-BD59-A6C34878D82A}">
                    <a16:rowId xmlns:a16="http://schemas.microsoft.com/office/drawing/2014/main" val="694648365"/>
                  </a:ext>
                </a:extLst>
              </a:tr>
              <a:tr h="533858">
                <a:tc>
                  <a:txBody>
                    <a:bodyPr/>
                    <a:lstStyle/>
                    <a:p>
                      <a:r>
                        <a:rPr kumimoji="1" lang="ja-JP" altLang="en-US" dirty="0"/>
                        <a:t>野原 しん</a:t>
                      </a:r>
                    </a:p>
                  </a:txBody>
                  <a:tcPr/>
                </a:tc>
                <a:tc>
                  <a:txBody>
                    <a:bodyPr/>
                    <a:lstStyle/>
                    <a:p>
                      <a:r>
                        <a:rPr kumimoji="1" lang="en-US" altLang="ja-JP" dirty="0"/>
                        <a:t>00007</a:t>
                      </a:r>
                      <a:endParaRPr kumimoji="1" lang="ja-JP" altLang="en-US" dirty="0"/>
                    </a:p>
                  </a:txBody>
                  <a:tcPr/>
                </a:tc>
                <a:tc>
                  <a:txBody>
                    <a:bodyPr/>
                    <a:lstStyle/>
                    <a:p>
                      <a:r>
                        <a:rPr kumimoji="1" lang="en-US" altLang="ja-JP" dirty="0"/>
                        <a:t>2003/1/30</a:t>
                      </a:r>
                      <a:endParaRPr kumimoji="1" lang="ja-JP" altLang="en-US" dirty="0"/>
                    </a:p>
                  </a:txBody>
                  <a:tcPr/>
                </a:tc>
                <a:tc>
                  <a:txBody>
                    <a:bodyPr/>
                    <a:lstStyle/>
                    <a:p>
                      <a:r>
                        <a:rPr kumimoji="1" lang="en-US" altLang="ja-JP" dirty="0"/>
                        <a:t>2025/12</a:t>
                      </a:r>
                      <a:endParaRPr kumimoji="1" lang="ja-JP" altLang="en-US" dirty="0"/>
                    </a:p>
                  </a:txBody>
                  <a:tcPr/>
                </a:tc>
                <a:tc>
                  <a:txBody>
                    <a:bodyPr/>
                    <a:lstStyle/>
                    <a:p>
                      <a:r>
                        <a:rPr kumimoji="1" lang="en-US" altLang="ja-JP" dirty="0"/>
                        <a:t>5</a:t>
                      </a:r>
                      <a:r>
                        <a:rPr kumimoji="1" lang="ja-JP" altLang="en-US" dirty="0"/>
                        <a:t>ヶ月</a:t>
                      </a:r>
                    </a:p>
                  </a:txBody>
                  <a:tcPr/>
                </a:tc>
                <a:extLst>
                  <a:ext uri="{0D108BD9-81ED-4DB2-BD59-A6C34878D82A}">
                    <a16:rowId xmlns:a16="http://schemas.microsoft.com/office/drawing/2014/main" val="1079768062"/>
                  </a:ext>
                </a:extLst>
              </a:tr>
            </a:tbl>
          </a:graphicData>
        </a:graphic>
      </p:graphicFrame>
    </p:spTree>
    <p:extLst>
      <p:ext uri="{BB962C8B-B14F-4D97-AF65-F5344CB8AC3E}">
        <p14:creationId xmlns:p14="http://schemas.microsoft.com/office/powerpoint/2010/main" val="9384125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92633-8A0E-9B00-C4D3-81938DA854DD}"/>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2304E977-3A05-0195-DC70-E0187B30AF72}"/>
              </a:ext>
            </a:extLst>
          </p:cNvPr>
          <p:cNvSpPr/>
          <p:nvPr/>
        </p:nvSpPr>
        <p:spPr>
          <a:xfrm>
            <a:off x="304796" y="925290"/>
            <a:ext cx="6868881"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04604E5F-49E7-96D0-7147-B4182F6A7054}"/>
              </a:ext>
            </a:extLst>
          </p:cNvPr>
          <p:cNvSpPr txBox="1"/>
          <p:nvPr/>
        </p:nvSpPr>
        <p:spPr>
          <a:xfrm>
            <a:off x="304796" y="195946"/>
            <a:ext cx="6433171"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1</a:t>
            </a:r>
            <a:r>
              <a:rPr lang="en-US" altLang="ja-JP"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　</a:t>
            </a:r>
            <a:r>
              <a:rPr lang="ja-JP" altLang="en-US" sz="3600" dirty="0">
                <a:solidFill>
                  <a:srgbClr val="000000"/>
                </a:solidFill>
                <a:latin typeface="游ゴシック"/>
                <a:ea typeface="游ゴシック" pitchFamily="50"/>
              </a:rPr>
              <a:t>一覧画面（真ん中）</a:t>
            </a:r>
            <a:endParaRPr lang="en-US" sz="3600" b="0" i="0" u="none" strike="noStrike" kern="1200" cap="none" spc="0" baseline="0" dirty="0">
              <a:solidFill>
                <a:srgbClr val="000000"/>
              </a:solidFill>
              <a:uFillTx/>
              <a:latin typeface="游ゴシック"/>
              <a:ea typeface="游ゴシック" pitchFamily="50"/>
            </a:endParaRPr>
          </a:p>
        </p:txBody>
      </p:sp>
      <p:pic>
        <p:nvPicPr>
          <p:cNvPr id="19" name="図 18">
            <a:extLst>
              <a:ext uri="{FF2B5EF4-FFF2-40B4-BE49-F238E27FC236}">
                <a16:creationId xmlns:a16="http://schemas.microsoft.com/office/drawing/2014/main" id="{4C0307B5-C483-3F3A-CFF2-9509C0AA3F79}"/>
              </a:ext>
            </a:extLst>
          </p:cNvPr>
          <p:cNvPicPr>
            <a:picLocks noChangeAspect="1"/>
          </p:cNvPicPr>
          <p:nvPr/>
        </p:nvPicPr>
        <p:blipFill>
          <a:blip r:embed="rId3"/>
          <a:stretch>
            <a:fillRect/>
          </a:stretch>
        </p:blipFill>
        <p:spPr>
          <a:xfrm>
            <a:off x="7876971" y="3815844"/>
            <a:ext cx="4010233" cy="2632187"/>
          </a:xfrm>
          <a:prstGeom prst="rect">
            <a:avLst/>
          </a:prstGeom>
        </p:spPr>
      </p:pic>
      <p:graphicFrame>
        <p:nvGraphicFramePr>
          <p:cNvPr id="25" name="表 24">
            <a:extLst>
              <a:ext uri="{FF2B5EF4-FFF2-40B4-BE49-F238E27FC236}">
                <a16:creationId xmlns:a16="http://schemas.microsoft.com/office/drawing/2014/main" id="{113D67EC-5712-5DC9-941E-8D05B799EDE4}"/>
              </a:ext>
            </a:extLst>
          </p:cNvPr>
          <p:cNvGraphicFramePr>
            <a:graphicFrameLocks noGrp="1"/>
          </p:cNvGraphicFramePr>
          <p:nvPr>
            <p:extLst>
              <p:ext uri="{D42A27DB-BD31-4B8C-83A1-F6EECF244321}">
                <p14:modId xmlns:p14="http://schemas.microsoft.com/office/powerpoint/2010/main" val="733884033"/>
              </p:ext>
            </p:extLst>
          </p:nvPr>
        </p:nvGraphicFramePr>
        <p:xfrm>
          <a:off x="304795" y="2429164"/>
          <a:ext cx="6868881" cy="4102766"/>
        </p:xfrm>
        <a:graphic>
          <a:graphicData uri="http://schemas.openxmlformats.org/drawingml/2006/table">
            <a:tbl>
              <a:tblPr firstRow="1" bandRow="1">
                <a:tableStyleId>{5C22544A-7EE6-4342-B048-85BDC9FD1C3A}</a:tableStyleId>
              </a:tblPr>
              <a:tblGrid>
                <a:gridCol w="1283583">
                  <a:extLst>
                    <a:ext uri="{9D8B030D-6E8A-4147-A177-3AD203B41FA5}">
                      <a16:colId xmlns:a16="http://schemas.microsoft.com/office/drawing/2014/main" val="638010117"/>
                    </a:ext>
                  </a:extLst>
                </a:gridCol>
                <a:gridCol w="1059047">
                  <a:extLst>
                    <a:ext uri="{9D8B030D-6E8A-4147-A177-3AD203B41FA5}">
                      <a16:colId xmlns:a16="http://schemas.microsoft.com/office/drawing/2014/main" val="3779350883"/>
                    </a:ext>
                  </a:extLst>
                </a:gridCol>
                <a:gridCol w="2190372">
                  <a:extLst>
                    <a:ext uri="{9D8B030D-6E8A-4147-A177-3AD203B41FA5}">
                      <a16:colId xmlns:a16="http://schemas.microsoft.com/office/drawing/2014/main" val="3973104674"/>
                    </a:ext>
                  </a:extLst>
                </a:gridCol>
                <a:gridCol w="885670">
                  <a:extLst>
                    <a:ext uri="{9D8B030D-6E8A-4147-A177-3AD203B41FA5}">
                      <a16:colId xmlns:a16="http://schemas.microsoft.com/office/drawing/2014/main" val="1985344831"/>
                    </a:ext>
                  </a:extLst>
                </a:gridCol>
                <a:gridCol w="1450209">
                  <a:extLst>
                    <a:ext uri="{9D8B030D-6E8A-4147-A177-3AD203B41FA5}">
                      <a16:colId xmlns:a16="http://schemas.microsoft.com/office/drawing/2014/main" val="1929749117"/>
                    </a:ext>
                  </a:extLst>
                </a:gridCol>
              </a:tblGrid>
              <a:tr h="339914">
                <a:tc>
                  <a:txBody>
                    <a:bodyPr/>
                    <a:lstStyle/>
                    <a:p>
                      <a:pPr algn="ctr"/>
                      <a:r>
                        <a:rPr kumimoji="1" lang="ja-JP" altLang="en-US" dirty="0"/>
                        <a:t>言語</a:t>
                      </a:r>
                    </a:p>
                  </a:txBody>
                  <a:tcPr/>
                </a:tc>
                <a:tc>
                  <a:txBody>
                    <a:bodyPr/>
                    <a:lstStyle/>
                    <a:p>
                      <a:pPr algn="ctr"/>
                      <a:r>
                        <a:rPr kumimoji="1" lang="ja-JP" altLang="en-US" dirty="0"/>
                        <a:t>経歴</a:t>
                      </a:r>
                    </a:p>
                  </a:txBody>
                  <a:tcPr/>
                </a:tc>
                <a:tc>
                  <a:txBody>
                    <a:bodyPr/>
                    <a:lstStyle/>
                    <a:p>
                      <a:pPr algn="ctr"/>
                      <a:r>
                        <a:rPr kumimoji="1" lang="ja-JP" altLang="en-US" dirty="0"/>
                        <a:t>研修受講歴</a:t>
                      </a:r>
                    </a:p>
                  </a:txBody>
                  <a:tcPr/>
                </a:tc>
                <a:tc>
                  <a:txBody>
                    <a:bodyPr/>
                    <a:lstStyle/>
                    <a:p>
                      <a:pPr algn="ctr"/>
                      <a:r>
                        <a:rPr kumimoji="1" lang="ja-JP" altLang="en-US" dirty="0"/>
                        <a:t>技術力</a:t>
                      </a:r>
                    </a:p>
                  </a:txBody>
                  <a:tcPr/>
                </a:tc>
                <a:tc>
                  <a:txBody>
                    <a:bodyPr/>
                    <a:lstStyle/>
                    <a:p>
                      <a:pPr algn="ctr"/>
                      <a:r>
                        <a:rPr kumimoji="1" lang="ja-JP" altLang="en-US" dirty="0"/>
                        <a:t>受講態度</a:t>
                      </a:r>
                    </a:p>
                  </a:txBody>
                  <a:tcPr/>
                </a:tc>
                <a:extLst>
                  <a:ext uri="{0D108BD9-81ED-4DB2-BD59-A6C34878D82A}">
                    <a16:rowId xmlns:a16="http://schemas.microsoft.com/office/drawing/2014/main" val="2187143427"/>
                  </a:ext>
                </a:extLst>
              </a:tr>
              <a:tr h="533858">
                <a:tc>
                  <a:txBody>
                    <a:bodyPr/>
                    <a:lstStyle/>
                    <a:p>
                      <a:endParaRPr kumimoji="1" lang="ja-JP" altLang="en-US" dirty="0"/>
                    </a:p>
                  </a:txBody>
                  <a:tcPr/>
                </a:tc>
                <a:tc>
                  <a:txBody>
                    <a:bodyPr/>
                    <a:lstStyle/>
                    <a:p>
                      <a:endParaRPr kumimoji="1" lang="en-US" altLang="ja-JP" dirty="0"/>
                    </a:p>
                  </a:txBody>
                  <a:tcPr/>
                </a:tc>
                <a:tc>
                  <a:txBody>
                    <a:bodyPr/>
                    <a:lstStyle/>
                    <a:p>
                      <a:endParaRPr kumimoji="1" lang="ja-JP" altLang="en-US" dirty="0"/>
                    </a:p>
                  </a:txBody>
                  <a:tcPr/>
                </a:tc>
                <a:tc>
                  <a:txBody>
                    <a:bodyPr/>
                    <a:lstStyle/>
                    <a:p>
                      <a:pPr algn="ctr"/>
                      <a:r>
                        <a:rPr kumimoji="1" lang="en-US" altLang="ja-JP" dirty="0"/>
                        <a:t>5</a:t>
                      </a:r>
                      <a:endParaRPr kumimoji="1" lang="ja-JP" altLang="en-US" dirty="0"/>
                    </a:p>
                  </a:txBody>
                  <a:tcPr/>
                </a:tc>
                <a:tc>
                  <a:txBody>
                    <a:bodyPr/>
                    <a:lstStyle/>
                    <a:p>
                      <a:pPr algn="ctr"/>
                      <a:r>
                        <a:rPr kumimoji="1" lang="en-US" altLang="ja-JP" dirty="0"/>
                        <a:t>5</a:t>
                      </a:r>
                      <a:endParaRPr kumimoji="1" lang="ja-JP" altLang="en-US" dirty="0"/>
                    </a:p>
                  </a:txBody>
                  <a:tcPr/>
                </a:tc>
                <a:extLst>
                  <a:ext uri="{0D108BD9-81ED-4DB2-BD59-A6C34878D82A}">
                    <a16:rowId xmlns:a16="http://schemas.microsoft.com/office/drawing/2014/main" val="233953203"/>
                  </a:ext>
                </a:extLst>
              </a:tr>
              <a:tr h="533858">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pPr algn="ctr"/>
                      <a:r>
                        <a:rPr kumimoji="1" lang="en-US" altLang="ja-JP" dirty="0"/>
                        <a:t>5</a:t>
                      </a:r>
                      <a:endParaRPr kumimoji="1" lang="ja-JP" altLang="en-US" dirty="0"/>
                    </a:p>
                  </a:txBody>
                  <a:tcPr/>
                </a:tc>
                <a:tc>
                  <a:txBody>
                    <a:bodyPr/>
                    <a:lstStyle/>
                    <a:p>
                      <a:pPr algn="ctr"/>
                      <a:r>
                        <a:rPr kumimoji="1" lang="en-US" altLang="ja-JP" dirty="0"/>
                        <a:t>4</a:t>
                      </a:r>
                      <a:endParaRPr kumimoji="1" lang="ja-JP" altLang="en-US" dirty="0"/>
                    </a:p>
                  </a:txBody>
                  <a:tcPr/>
                </a:tc>
                <a:extLst>
                  <a:ext uri="{0D108BD9-81ED-4DB2-BD59-A6C34878D82A}">
                    <a16:rowId xmlns:a16="http://schemas.microsoft.com/office/drawing/2014/main" val="2922039770"/>
                  </a:ext>
                </a:extLst>
              </a:tr>
              <a:tr h="533858">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pPr algn="ctr"/>
                      <a:r>
                        <a:rPr kumimoji="1" lang="en-US" altLang="ja-JP" dirty="0"/>
                        <a:t>4</a:t>
                      </a:r>
                      <a:endParaRPr kumimoji="1" lang="ja-JP" altLang="en-US" dirty="0"/>
                    </a:p>
                  </a:txBody>
                  <a:tcPr/>
                </a:tc>
                <a:tc>
                  <a:txBody>
                    <a:bodyPr/>
                    <a:lstStyle/>
                    <a:p>
                      <a:pPr algn="ctr"/>
                      <a:r>
                        <a:rPr kumimoji="1" lang="en-US" altLang="ja-JP" dirty="0"/>
                        <a:t>3</a:t>
                      </a:r>
                      <a:endParaRPr kumimoji="1" lang="ja-JP" altLang="en-US" dirty="0"/>
                    </a:p>
                  </a:txBody>
                  <a:tcPr/>
                </a:tc>
                <a:extLst>
                  <a:ext uri="{0D108BD9-81ED-4DB2-BD59-A6C34878D82A}">
                    <a16:rowId xmlns:a16="http://schemas.microsoft.com/office/drawing/2014/main" val="1819873742"/>
                  </a:ext>
                </a:extLst>
              </a:tr>
              <a:tr h="533858">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pPr algn="ctr"/>
                      <a:r>
                        <a:rPr kumimoji="1" lang="en-US" altLang="ja-JP" dirty="0"/>
                        <a:t>2.5</a:t>
                      </a:r>
                      <a:endParaRPr kumimoji="1" lang="ja-JP" altLang="en-US" dirty="0"/>
                    </a:p>
                  </a:txBody>
                  <a:tcPr/>
                </a:tc>
                <a:tc>
                  <a:txBody>
                    <a:bodyPr/>
                    <a:lstStyle/>
                    <a:p>
                      <a:pPr algn="ctr"/>
                      <a:r>
                        <a:rPr kumimoji="1" lang="en-US" altLang="ja-JP" dirty="0"/>
                        <a:t>4</a:t>
                      </a:r>
                      <a:endParaRPr kumimoji="1" lang="ja-JP" altLang="en-US" dirty="0"/>
                    </a:p>
                  </a:txBody>
                  <a:tcPr/>
                </a:tc>
                <a:extLst>
                  <a:ext uri="{0D108BD9-81ED-4DB2-BD59-A6C34878D82A}">
                    <a16:rowId xmlns:a16="http://schemas.microsoft.com/office/drawing/2014/main" val="2621587236"/>
                  </a:ext>
                </a:extLst>
              </a:tr>
              <a:tr h="533858">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pPr algn="ctr"/>
                      <a:r>
                        <a:rPr kumimoji="1" lang="en-US" altLang="ja-JP" dirty="0"/>
                        <a:t>5</a:t>
                      </a:r>
                      <a:endParaRPr kumimoji="1" lang="ja-JP" altLang="en-US" dirty="0"/>
                    </a:p>
                  </a:txBody>
                  <a:tcPr/>
                </a:tc>
                <a:tc>
                  <a:txBody>
                    <a:bodyPr/>
                    <a:lstStyle/>
                    <a:p>
                      <a:pPr algn="ctr"/>
                      <a:r>
                        <a:rPr kumimoji="1" lang="en-US" altLang="ja-JP" dirty="0"/>
                        <a:t>1</a:t>
                      </a:r>
                      <a:endParaRPr kumimoji="1" lang="ja-JP" altLang="en-US" dirty="0"/>
                    </a:p>
                  </a:txBody>
                  <a:tcPr/>
                </a:tc>
                <a:extLst>
                  <a:ext uri="{0D108BD9-81ED-4DB2-BD59-A6C34878D82A}">
                    <a16:rowId xmlns:a16="http://schemas.microsoft.com/office/drawing/2014/main" val="938285835"/>
                  </a:ext>
                </a:extLst>
              </a:tr>
              <a:tr h="533858">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pPr algn="ctr"/>
                      <a:r>
                        <a:rPr kumimoji="1" lang="en-US" altLang="ja-JP" dirty="0"/>
                        <a:t>3.5</a:t>
                      </a:r>
                      <a:endParaRPr kumimoji="1" lang="ja-JP" altLang="en-US" dirty="0"/>
                    </a:p>
                  </a:txBody>
                  <a:tcPr/>
                </a:tc>
                <a:tc>
                  <a:txBody>
                    <a:bodyPr/>
                    <a:lstStyle/>
                    <a:p>
                      <a:pPr algn="ctr"/>
                      <a:r>
                        <a:rPr kumimoji="1" lang="en-US" altLang="ja-JP" dirty="0"/>
                        <a:t>3.5</a:t>
                      </a:r>
                      <a:endParaRPr kumimoji="1" lang="ja-JP" altLang="en-US" dirty="0"/>
                    </a:p>
                  </a:txBody>
                  <a:tcPr/>
                </a:tc>
                <a:extLst>
                  <a:ext uri="{0D108BD9-81ED-4DB2-BD59-A6C34878D82A}">
                    <a16:rowId xmlns:a16="http://schemas.microsoft.com/office/drawing/2014/main" val="694648365"/>
                  </a:ext>
                </a:extLst>
              </a:tr>
              <a:tr h="533858">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pPr algn="ctr"/>
                      <a:r>
                        <a:rPr kumimoji="1" lang="en-US" altLang="ja-JP" dirty="0"/>
                        <a:t>1.5</a:t>
                      </a:r>
                      <a:endParaRPr kumimoji="1" lang="ja-JP" altLang="en-US" dirty="0"/>
                    </a:p>
                  </a:txBody>
                  <a:tcPr/>
                </a:tc>
                <a:tc>
                  <a:txBody>
                    <a:bodyPr/>
                    <a:lstStyle/>
                    <a:p>
                      <a:pPr algn="ctr"/>
                      <a:r>
                        <a:rPr kumimoji="1" lang="en-US" altLang="ja-JP" dirty="0"/>
                        <a:t>2.5</a:t>
                      </a:r>
                      <a:endParaRPr kumimoji="1" lang="ja-JP" altLang="en-US" dirty="0"/>
                    </a:p>
                  </a:txBody>
                  <a:tcPr/>
                </a:tc>
                <a:extLst>
                  <a:ext uri="{0D108BD9-81ED-4DB2-BD59-A6C34878D82A}">
                    <a16:rowId xmlns:a16="http://schemas.microsoft.com/office/drawing/2014/main" val="1079768062"/>
                  </a:ext>
                </a:extLst>
              </a:tr>
            </a:tbl>
          </a:graphicData>
        </a:graphic>
      </p:graphicFrame>
      <p:sp>
        <p:nvSpPr>
          <p:cNvPr id="2" name="正方形/長方形 1">
            <a:extLst>
              <a:ext uri="{FF2B5EF4-FFF2-40B4-BE49-F238E27FC236}">
                <a16:creationId xmlns:a16="http://schemas.microsoft.com/office/drawing/2014/main" id="{E3161DD9-86FF-1802-BAB8-025A6CE8721D}"/>
              </a:ext>
            </a:extLst>
          </p:cNvPr>
          <p:cNvSpPr/>
          <p:nvPr/>
        </p:nvSpPr>
        <p:spPr>
          <a:xfrm>
            <a:off x="5228418"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A0DD08E5-6A8C-7A16-4D99-C288423EEB91}"/>
              </a:ext>
            </a:extLst>
          </p:cNvPr>
          <p:cNvSpPr/>
          <p:nvPr/>
        </p:nvSpPr>
        <p:spPr>
          <a:xfrm>
            <a:off x="2924697" y="1859498"/>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210B38F-9BED-1F02-E7FE-BEED9DC913FD}"/>
              </a:ext>
            </a:extLst>
          </p:cNvPr>
          <p:cNvSpPr txBox="1"/>
          <p:nvPr/>
        </p:nvSpPr>
        <p:spPr>
          <a:xfrm>
            <a:off x="3022782" y="1858279"/>
            <a:ext cx="877163" cy="369332"/>
          </a:xfrm>
          <a:prstGeom prst="rect">
            <a:avLst/>
          </a:prstGeom>
          <a:noFill/>
        </p:spPr>
        <p:txBody>
          <a:bodyPr wrap="none" rtlCol="0">
            <a:spAutoFit/>
          </a:bodyPr>
          <a:lstStyle/>
          <a:p>
            <a:r>
              <a:rPr kumimoji="1" lang="ja-JP" altLang="en-US" dirty="0">
                <a:solidFill>
                  <a:schemeClr val="bg1"/>
                </a:solidFill>
              </a:rPr>
              <a:t>ソート</a:t>
            </a:r>
          </a:p>
        </p:txBody>
      </p:sp>
      <p:sp>
        <p:nvSpPr>
          <p:cNvPr id="9" name="テキスト ボックス 8">
            <a:extLst>
              <a:ext uri="{FF2B5EF4-FFF2-40B4-BE49-F238E27FC236}">
                <a16:creationId xmlns:a16="http://schemas.microsoft.com/office/drawing/2014/main" id="{3A32C32A-A214-5FF3-7B1D-CC1B33F177FB}"/>
              </a:ext>
            </a:extLst>
          </p:cNvPr>
          <p:cNvSpPr txBox="1"/>
          <p:nvPr/>
        </p:nvSpPr>
        <p:spPr>
          <a:xfrm>
            <a:off x="5436343" y="1904325"/>
            <a:ext cx="646331" cy="369332"/>
          </a:xfrm>
          <a:prstGeom prst="rect">
            <a:avLst/>
          </a:prstGeom>
          <a:noFill/>
        </p:spPr>
        <p:txBody>
          <a:bodyPr wrap="none" rtlCol="0">
            <a:spAutoFit/>
          </a:bodyPr>
          <a:lstStyle/>
          <a:p>
            <a:r>
              <a:rPr kumimoji="1" lang="ja-JP" altLang="en-US" dirty="0">
                <a:solidFill>
                  <a:schemeClr val="bg1"/>
                </a:solidFill>
              </a:rPr>
              <a:t>選択</a:t>
            </a:r>
          </a:p>
        </p:txBody>
      </p:sp>
    </p:spTree>
    <p:extLst>
      <p:ext uri="{BB962C8B-B14F-4D97-AF65-F5344CB8AC3E}">
        <p14:creationId xmlns:p14="http://schemas.microsoft.com/office/powerpoint/2010/main" val="428336580"/>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8B0A3-DAAD-0E34-13A4-BE2A03A6B689}"/>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7799B5DA-0B36-37CA-3560-6C30222ACAB2}"/>
              </a:ext>
            </a:extLst>
          </p:cNvPr>
          <p:cNvSpPr/>
          <p:nvPr/>
        </p:nvSpPr>
        <p:spPr>
          <a:xfrm>
            <a:off x="304796" y="925290"/>
            <a:ext cx="6868881"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6" name="正方形/長方形 6">
            <a:extLst>
              <a:ext uri="{FF2B5EF4-FFF2-40B4-BE49-F238E27FC236}">
                <a16:creationId xmlns:a16="http://schemas.microsoft.com/office/drawing/2014/main" id="{2001F2ED-10BC-FE5E-1191-A0236F6724A5}"/>
              </a:ext>
            </a:extLst>
          </p:cNvPr>
          <p:cNvSpPr/>
          <p:nvPr/>
        </p:nvSpPr>
        <p:spPr>
          <a:xfrm>
            <a:off x="2194561" y="1166570"/>
            <a:ext cx="4617316" cy="507204"/>
          </a:xfrm>
          <a:prstGeom prst="rect">
            <a:avLst/>
          </a:prstGeom>
          <a:solidFill>
            <a:srgbClr val="D9D9D9"/>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6CE601D2-5FDA-4490-C5D2-9B0F08AF667E}"/>
              </a:ext>
            </a:extLst>
          </p:cNvPr>
          <p:cNvSpPr txBox="1"/>
          <p:nvPr/>
        </p:nvSpPr>
        <p:spPr>
          <a:xfrm>
            <a:off x="304796" y="195946"/>
            <a:ext cx="5971507"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1</a:t>
            </a:r>
            <a:r>
              <a:rPr lang="en-US" altLang="ja-JP"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　</a:t>
            </a:r>
            <a:r>
              <a:rPr lang="ja-JP" altLang="en-US" sz="3600" dirty="0">
                <a:solidFill>
                  <a:srgbClr val="000000"/>
                </a:solidFill>
                <a:latin typeface="游ゴシック"/>
                <a:ea typeface="游ゴシック" pitchFamily="50"/>
              </a:rPr>
              <a:t>一覧画面（右側）</a:t>
            </a:r>
            <a:endParaRPr lang="en-US" sz="3600" b="0" i="0" u="none" strike="noStrike" kern="1200" cap="none" spc="0" baseline="0" dirty="0">
              <a:solidFill>
                <a:srgbClr val="000000"/>
              </a:solidFill>
              <a:uFillTx/>
              <a:latin typeface="游ゴシック"/>
              <a:ea typeface="游ゴシック" pitchFamily="50"/>
            </a:endParaRPr>
          </a:p>
        </p:txBody>
      </p:sp>
      <p:pic>
        <p:nvPicPr>
          <p:cNvPr id="19" name="図 18">
            <a:extLst>
              <a:ext uri="{FF2B5EF4-FFF2-40B4-BE49-F238E27FC236}">
                <a16:creationId xmlns:a16="http://schemas.microsoft.com/office/drawing/2014/main" id="{EAFB07AB-9456-6117-2F76-B5FA130762F4}"/>
              </a:ext>
            </a:extLst>
          </p:cNvPr>
          <p:cNvPicPr>
            <a:picLocks noChangeAspect="1"/>
          </p:cNvPicPr>
          <p:nvPr/>
        </p:nvPicPr>
        <p:blipFill>
          <a:blip r:embed="rId3"/>
          <a:stretch>
            <a:fillRect/>
          </a:stretch>
        </p:blipFill>
        <p:spPr>
          <a:xfrm>
            <a:off x="7876971" y="3815844"/>
            <a:ext cx="4010233" cy="2632187"/>
          </a:xfrm>
          <a:prstGeom prst="rect">
            <a:avLst/>
          </a:prstGeom>
        </p:spPr>
      </p:pic>
      <p:sp>
        <p:nvSpPr>
          <p:cNvPr id="20" name="円: 塗りつぶしなし 19">
            <a:extLst>
              <a:ext uri="{FF2B5EF4-FFF2-40B4-BE49-F238E27FC236}">
                <a16:creationId xmlns:a16="http://schemas.microsoft.com/office/drawing/2014/main" id="{9E482E50-491A-BCEA-2A19-336F9AF53304}"/>
              </a:ext>
            </a:extLst>
          </p:cNvPr>
          <p:cNvSpPr/>
          <p:nvPr/>
        </p:nvSpPr>
        <p:spPr>
          <a:xfrm>
            <a:off x="6320529" y="1250933"/>
            <a:ext cx="283642" cy="266941"/>
          </a:xfrm>
          <a:prstGeom prst="donu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正方形/長方形 23">
            <a:extLst>
              <a:ext uri="{FF2B5EF4-FFF2-40B4-BE49-F238E27FC236}">
                <a16:creationId xmlns:a16="http://schemas.microsoft.com/office/drawing/2014/main" id="{A0A0098B-2361-153D-5023-B86F8F878785}"/>
              </a:ext>
            </a:extLst>
          </p:cNvPr>
          <p:cNvSpPr/>
          <p:nvPr/>
        </p:nvSpPr>
        <p:spPr>
          <a:xfrm rot="7871681">
            <a:off x="6581312" y="1396178"/>
            <a:ext cx="45719" cy="274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aphicFrame>
        <p:nvGraphicFramePr>
          <p:cNvPr id="25" name="表 24">
            <a:extLst>
              <a:ext uri="{FF2B5EF4-FFF2-40B4-BE49-F238E27FC236}">
                <a16:creationId xmlns:a16="http://schemas.microsoft.com/office/drawing/2014/main" id="{020393DE-7A34-3F2B-28DA-D74D7C760614}"/>
              </a:ext>
            </a:extLst>
          </p:cNvPr>
          <p:cNvGraphicFramePr>
            <a:graphicFrameLocks noGrp="1"/>
          </p:cNvGraphicFramePr>
          <p:nvPr>
            <p:extLst>
              <p:ext uri="{D42A27DB-BD31-4B8C-83A1-F6EECF244321}">
                <p14:modId xmlns:p14="http://schemas.microsoft.com/office/powerpoint/2010/main" val="684256029"/>
              </p:ext>
            </p:extLst>
          </p:nvPr>
        </p:nvGraphicFramePr>
        <p:xfrm>
          <a:off x="304795" y="2429163"/>
          <a:ext cx="6868880" cy="4103984"/>
        </p:xfrm>
        <a:graphic>
          <a:graphicData uri="http://schemas.openxmlformats.org/drawingml/2006/table">
            <a:tbl>
              <a:tblPr firstRow="1" bandRow="1">
                <a:tableStyleId>{5C22544A-7EE6-4342-B048-85BDC9FD1C3A}</a:tableStyleId>
              </a:tblPr>
              <a:tblGrid>
                <a:gridCol w="3763624">
                  <a:extLst>
                    <a:ext uri="{9D8B030D-6E8A-4147-A177-3AD203B41FA5}">
                      <a16:colId xmlns:a16="http://schemas.microsoft.com/office/drawing/2014/main" val="638010117"/>
                    </a:ext>
                  </a:extLst>
                </a:gridCol>
                <a:gridCol w="3105256">
                  <a:extLst>
                    <a:ext uri="{9D8B030D-6E8A-4147-A177-3AD203B41FA5}">
                      <a16:colId xmlns:a16="http://schemas.microsoft.com/office/drawing/2014/main" val="3779350883"/>
                    </a:ext>
                  </a:extLst>
                </a:gridCol>
              </a:tblGrid>
              <a:tr h="381499">
                <a:tc>
                  <a:txBody>
                    <a:bodyPr/>
                    <a:lstStyle/>
                    <a:p>
                      <a:pPr algn="ctr"/>
                      <a:r>
                        <a:rPr kumimoji="1" lang="ja-JP" altLang="en-US" dirty="0"/>
                        <a:t>コミュニケーション能力</a:t>
                      </a:r>
                    </a:p>
                  </a:txBody>
                  <a:tcPr/>
                </a:tc>
                <a:tc>
                  <a:txBody>
                    <a:bodyPr/>
                    <a:lstStyle/>
                    <a:p>
                      <a:pPr algn="ctr"/>
                      <a:r>
                        <a:rPr kumimoji="1" lang="ja-JP" altLang="en-US" dirty="0"/>
                        <a:t>リーダーシップ</a:t>
                      </a:r>
                    </a:p>
                  </a:txBody>
                  <a:tcPr/>
                </a:tc>
                <a:extLst>
                  <a:ext uri="{0D108BD9-81ED-4DB2-BD59-A6C34878D82A}">
                    <a16:rowId xmlns:a16="http://schemas.microsoft.com/office/drawing/2014/main" val="2187143427"/>
                  </a:ext>
                </a:extLst>
              </a:tr>
              <a:tr h="556831">
                <a:tc>
                  <a:txBody>
                    <a:bodyPr/>
                    <a:lstStyle/>
                    <a:p>
                      <a:pPr algn="ctr"/>
                      <a:r>
                        <a:rPr kumimoji="1" lang="en-US" altLang="ja-JP" dirty="0"/>
                        <a:t>4</a:t>
                      </a:r>
                      <a:endParaRPr kumimoji="1" lang="ja-JP" altLang="en-US" dirty="0"/>
                    </a:p>
                  </a:txBody>
                  <a:tcPr/>
                </a:tc>
                <a:tc>
                  <a:txBody>
                    <a:bodyPr/>
                    <a:lstStyle/>
                    <a:p>
                      <a:pPr algn="ctr"/>
                      <a:r>
                        <a:rPr kumimoji="1" lang="en-US" altLang="ja-JP" dirty="0"/>
                        <a:t>4</a:t>
                      </a:r>
                    </a:p>
                  </a:txBody>
                  <a:tcPr/>
                </a:tc>
                <a:extLst>
                  <a:ext uri="{0D108BD9-81ED-4DB2-BD59-A6C34878D82A}">
                    <a16:rowId xmlns:a16="http://schemas.microsoft.com/office/drawing/2014/main" val="233953203"/>
                  </a:ext>
                </a:extLst>
              </a:tr>
              <a:tr h="556831">
                <a:tc>
                  <a:txBody>
                    <a:bodyPr/>
                    <a:lstStyle/>
                    <a:p>
                      <a:pPr algn="ctr"/>
                      <a:r>
                        <a:rPr kumimoji="1" lang="en-US" altLang="ja-JP" dirty="0"/>
                        <a:t>4</a:t>
                      </a:r>
                      <a:endParaRPr kumimoji="1" lang="ja-JP" altLang="en-US" dirty="0"/>
                    </a:p>
                  </a:txBody>
                  <a:tcPr/>
                </a:tc>
                <a:tc>
                  <a:txBody>
                    <a:bodyPr/>
                    <a:lstStyle/>
                    <a:p>
                      <a:pPr algn="ctr"/>
                      <a:r>
                        <a:rPr kumimoji="1" lang="en-US" altLang="ja-JP" dirty="0"/>
                        <a:t>5</a:t>
                      </a:r>
                      <a:endParaRPr kumimoji="1" lang="ja-JP" altLang="en-US" dirty="0"/>
                    </a:p>
                  </a:txBody>
                  <a:tcPr/>
                </a:tc>
                <a:extLst>
                  <a:ext uri="{0D108BD9-81ED-4DB2-BD59-A6C34878D82A}">
                    <a16:rowId xmlns:a16="http://schemas.microsoft.com/office/drawing/2014/main" val="2922039770"/>
                  </a:ext>
                </a:extLst>
              </a:tr>
              <a:tr h="556831">
                <a:tc>
                  <a:txBody>
                    <a:bodyPr/>
                    <a:lstStyle/>
                    <a:p>
                      <a:pPr algn="ctr"/>
                      <a:r>
                        <a:rPr kumimoji="1" lang="en-US" altLang="ja-JP" dirty="0"/>
                        <a:t>2</a:t>
                      </a:r>
                      <a:endParaRPr kumimoji="1" lang="ja-JP" altLang="en-US" dirty="0"/>
                    </a:p>
                  </a:txBody>
                  <a:tcPr/>
                </a:tc>
                <a:tc>
                  <a:txBody>
                    <a:bodyPr/>
                    <a:lstStyle/>
                    <a:p>
                      <a:pPr algn="ctr"/>
                      <a:r>
                        <a:rPr kumimoji="1" lang="en-US" altLang="ja-JP" dirty="0"/>
                        <a:t>3</a:t>
                      </a:r>
                      <a:endParaRPr kumimoji="1" lang="ja-JP" altLang="en-US" dirty="0"/>
                    </a:p>
                  </a:txBody>
                  <a:tcPr/>
                </a:tc>
                <a:extLst>
                  <a:ext uri="{0D108BD9-81ED-4DB2-BD59-A6C34878D82A}">
                    <a16:rowId xmlns:a16="http://schemas.microsoft.com/office/drawing/2014/main" val="1819873742"/>
                  </a:ext>
                </a:extLst>
              </a:tr>
              <a:tr h="556831">
                <a:tc>
                  <a:txBody>
                    <a:bodyPr/>
                    <a:lstStyle/>
                    <a:p>
                      <a:pPr algn="ctr"/>
                      <a:r>
                        <a:rPr kumimoji="1" lang="en-US" altLang="ja-JP" dirty="0"/>
                        <a:t>5</a:t>
                      </a:r>
                      <a:endParaRPr kumimoji="1" lang="ja-JP" altLang="en-US" dirty="0"/>
                    </a:p>
                  </a:txBody>
                  <a:tcPr/>
                </a:tc>
                <a:tc>
                  <a:txBody>
                    <a:bodyPr/>
                    <a:lstStyle/>
                    <a:p>
                      <a:pPr algn="ctr"/>
                      <a:r>
                        <a:rPr kumimoji="1" lang="en-US" altLang="ja-JP" dirty="0"/>
                        <a:t>2</a:t>
                      </a:r>
                      <a:endParaRPr kumimoji="1" lang="ja-JP" altLang="en-US" dirty="0"/>
                    </a:p>
                  </a:txBody>
                  <a:tcPr/>
                </a:tc>
                <a:extLst>
                  <a:ext uri="{0D108BD9-81ED-4DB2-BD59-A6C34878D82A}">
                    <a16:rowId xmlns:a16="http://schemas.microsoft.com/office/drawing/2014/main" val="2621587236"/>
                  </a:ext>
                </a:extLst>
              </a:tr>
              <a:tr h="556831">
                <a:tc>
                  <a:txBody>
                    <a:bodyPr/>
                    <a:lstStyle/>
                    <a:p>
                      <a:pPr algn="ctr"/>
                      <a:r>
                        <a:rPr kumimoji="1" lang="en-US" altLang="ja-JP" dirty="0"/>
                        <a:t>3.5</a:t>
                      </a:r>
                      <a:endParaRPr kumimoji="1" lang="ja-JP" altLang="en-US" dirty="0"/>
                    </a:p>
                  </a:txBody>
                  <a:tcPr/>
                </a:tc>
                <a:tc>
                  <a:txBody>
                    <a:bodyPr/>
                    <a:lstStyle/>
                    <a:p>
                      <a:pPr algn="ctr"/>
                      <a:r>
                        <a:rPr kumimoji="1" lang="en-US" altLang="ja-JP" dirty="0"/>
                        <a:t>5</a:t>
                      </a:r>
                      <a:endParaRPr kumimoji="1" lang="ja-JP" altLang="en-US" dirty="0"/>
                    </a:p>
                  </a:txBody>
                  <a:tcPr/>
                </a:tc>
                <a:extLst>
                  <a:ext uri="{0D108BD9-81ED-4DB2-BD59-A6C34878D82A}">
                    <a16:rowId xmlns:a16="http://schemas.microsoft.com/office/drawing/2014/main" val="938285835"/>
                  </a:ext>
                </a:extLst>
              </a:tr>
              <a:tr h="556831">
                <a:tc>
                  <a:txBody>
                    <a:bodyPr/>
                    <a:lstStyle/>
                    <a:p>
                      <a:pPr algn="ctr"/>
                      <a:r>
                        <a:rPr kumimoji="1" lang="en-US" altLang="ja-JP" dirty="0"/>
                        <a:t>1</a:t>
                      </a:r>
                      <a:endParaRPr kumimoji="1" lang="ja-JP" altLang="en-US" dirty="0"/>
                    </a:p>
                  </a:txBody>
                  <a:tcPr/>
                </a:tc>
                <a:tc>
                  <a:txBody>
                    <a:bodyPr/>
                    <a:lstStyle/>
                    <a:p>
                      <a:pPr algn="ctr"/>
                      <a:r>
                        <a:rPr kumimoji="1" lang="en-US" altLang="ja-JP" dirty="0"/>
                        <a:t>1</a:t>
                      </a:r>
                      <a:endParaRPr kumimoji="1" lang="ja-JP" altLang="en-US" dirty="0"/>
                    </a:p>
                  </a:txBody>
                  <a:tcPr/>
                </a:tc>
                <a:extLst>
                  <a:ext uri="{0D108BD9-81ED-4DB2-BD59-A6C34878D82A}">
                    <a16:rowId xmlns:a16="http://schemas.microsoft.com/office/drawing/2014/main" val="694648365"/>
                  </a:ext>
                </a:extLst>
              </a:tr>
              <a:tr h="381499">
                <a:tc>
                  <a:txBody>
                    <a:bodyPr/>
                    <a:lstStyle/>
                    <a:p>
                      <a:pPr algn="ctr"/>
                      <a:r>
                        <a:rPr kumimoji="1" lang="en-US" altLang="ja-JP" dirty="0"/>
                        <a:t>4</a:t>
                      </a:r>
                      <a:endParaRPr kumimoji="1" lang="ja-JP" altLang="en-US" dirty="0"/>
                    </a:p>
                  </a:txBody>
                  <a:tcPr/>
                </a:tc>
                <a:tc>
                  <a:txBody>
                    <a:bodyPr/>
                    <a:lstStyle/>
                    <a:p>
                      <a:pPr algn="ctr"/>
                      <a:r>
                        <a:rPr kumimoji="1" lang="en-US" altLang="ja-JP" dirty="0"/>
                        <a:t>4</a:t>
                      </a:r>
                      <a:endParaRPr kumimoji="1" lang="ja-JP" altLang="en-US" dirty="0"/>
                    </a:p>
                  </a:txBody>
                  <a:tcPr/>
                </a:tc>
                <a:extLst>
                  <a:ext uri="{0D108BD9-81ED-4DB2-BD59-A6C34878D82A}">
                    <a16:rowId xmlns:a16="http://schemas.microsoft.com/office/drawing/2014/main" val="1079768062"/>
                  </a:ext>
                </a:extLst>
              </a:tr>
            </a:tbl>
          </a:graphicData>
        </a:graphic>
      </p:graphicFrame>
      <p:sp>
        <p:nvSpPr>
          <p:cNvPr id="2" name="正方形/長方形 1">
            <a:extLst>
              <a:ext uri="{FF2B5EF4-FFF2-40B4-BE49-F238E27FC236}">
                <a16:creationId xmlns:a16="http://schemas.microsoft.com/office/drawing/2014/main" id="{9380F222-46FE-B9C2-E270-62A444870E01}"/>
              </a:ext>
            </a:extLst>
          </p:cNvPr>
          <p:cNvSpPr/>
          <p:nvPr/>
        </p:nvSpPr>
        <p:spPr>
          <a:xfrm>
            <a:off x="5170666" y="1871360"/>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5CEC1E99-0176-B555-1233-5DD7AB0E1D89}"/>
              </a:ext>
            </a:extLst>
          </p:cNvPr>
          <p:cNvSpPr/>
          <p:nvPr/>
        </p:nvSpPr>
        <p:spPr>
          <a:xfrm>
            <a:off x="1636590" y="1871360"/>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876F64C8-1361-C079-4FC6-F65C8895D6EC}"/>
              </a:ext>
            </a:extLst>
          </p:cNvPr>
          <p:cNvSpPr txBox="1"/>
          <p:nvPr/>
        </p:nvSpPr>
        <p:spPr>
          <a:xfrm>
            <a:off x="1844515" y="1862246"/>
            <a:ext cx="646331" cy="369332"/>
          </a:xfrm>
          <a:prstGeom prst="rect">
            <a:avLst/>
          </a:prstGeom>
          <a:noFill/>
        </p:spPr>
        <p:txBody>
          <a:bodyPr wrap="none" rtlCol="0">
            <a:spAutoFit/>
          </a:bodyPr>
          <a:lstStyle/>
          <a:p>
            <a:r>
              <a:rPr kumimoji="1" lang="ja-JP" altLang="en-US" dirty="0">
                <a:solidFill>
                  <a:schemeClr val="bg1"/>
                </a:solidFill>
              </a:rPr>
              <a:t>追加</a:t>
            </a:r>
          </a:p>
        </p:txBody>
      </p:sp>
      <p:sp>
        <p:nvSpPr>
          <p:cNvPr id="9" name="テキスト ボックス 8">
            <a:extLst>
              <a:ext uri="{FF2B5EF4-FFF2-40B4-BE49-F238E27FC236}">
                <a16:creationId xmlns:a16="http://schemas.microsoft.com/office/drawing/2014/main" id="{FE501D34-01D7-5EA8-72D2-27F4C3DF1251}"/>
              </a:ext>
            </a:extLst>
          </p:cNvPr>
          <p:cNvSpPr txBox="1"/>
          <p:nvPr/>
        </p:nvSpPr>
        <p:spPr>
          <a:xfrm>
            <a:off x="5378591" y="1875070"/>
            <a:ext cx="646331" cy="369332"/>
          </a:xfrm>
          <a:prstGeom prst="rect">
            <a:avLst/>
          </a:prstGeom>
          <a:noFill/>
        </p:spPr>
        <p:txBody>
          <a:bodyPr wrap="none" rtlCol="0">
            <a:spAutoFit/>
          </a:bodyPr>
          <a:lstStyle/>
          <a:p>
            <a:r>
              <a:rPr kumimoji="1" lang="ja-JP" altLang="en-US" dirty="0">
                <a:solidFill>
                  <a:schemeClr val="bg1"/>
                </a:solidFill>
              </a:rPr>
              <a:t>出力</a:t>
            </a:r>
          </a:p>
        </p:txBody>
      </p:sp>
    </p:spTree>
    <p:extLst>
      <p:ext uri="{BB962C8B-B14F-4D97-AF65-F5344CB8AC3E}">
        <p14:creationId xmlns:p14="http://schemas.microsoft.com/office/powerpoint/2010/main" val="42209561"/>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75310-AE54-4B88-617C-44655370BA6D}"/>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F83D060B-F01A-A999-7C35-1C3CC567874A}"/>
              </a:ext>
            </a:extLst>
          </p:cNvPr>
          <p:cNvSpPr/>
          <p:nvPr/>
        </p:nvSpPr>
        <p:spPr>
          <a:xfrm>
            <a:off x="0" y="872453"/>
            <a:ext cx="12192000" cy="4790714"/>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4" name="テキスト ボックス 5">
            <a:extLst>
              <a:ext uri="{FF2B5EF4-FFF2-40B4-BE49-F238E27FC236}">
                <a16:creationId xmlns:a16="http://schemas.microsoft.com/office/drawing/2014/main" id="{8618720A-7A31-BC5F-1FA1-20DFFAB34D17}"/>
              </a:ext>
            </a:extLst>
          </p:cNvPr>
          <p:cNvSpPr txBox="1"/>
          <p:nvPr/>
        </p:nvSpPr>
        <p:spPr>
          <a:xfrm>
            <a:off x="400828" y="1097007"/>
            <a:ext cx="3475927"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3600" b="0" i="0" u="none" strike="noStrike" kern="1200" cap="none" spc="0" baseline="0" dirty="0">
                <a:solidFill>
                  <a:srgbClr val="FFFFFF"/>
                </a:solidFill>
                <a:uFillTx/>
                <a:latin typeface="游ゴシック"/>
                <a:ea typeface="游ゴシック" pitchFamily="50"/>
              </a:rPr>
              <a:t>エンジニア一覧</a:t>
            </a:r>
            <a:endParaRPr lang="en-US" sz="3600" b="0" i="0" u="none" strike="noStrike" kern="1200" cap="none" spc="0" baseline="0" dirty="0">
              <a:solidFill>
                <a:srgbClr val="FFFFFF"/>
              </a:solidFill>
              <a:uFillTx/>
              <a:latin typeface="游ゴシック"/>
              <a:ea typeface="游ゴシック" pitchFamily="50"/>
            </a:endParaRPr>
          </a:p>
        </p:txBody>
      </p:sp>
      <p:sp>
        <p:nvSpPr>
          <p:cNvPr id="6" name="正方形/長方形 6">
            <a:extLst>
              <a:ext uri="{FF2B5EF4-FFF2-40B4-BE49-F238E27FC236}">
                <a16:creationId xmlns:a16="http://schemas.microsoft.com/office/drawing/2014/main" id="{847D78D3-8628-CC94-94BE-065406D520EB}"/>
              </a:ext>
            </a:extLst>
          </p:cNvPr>
          <p:cNvSpPr/>
          <p:nvPr/>
        </p:nvSpPr>
        <p:spPr>
          <a:xfrm>
            <a:off x="9428622" y="1134209"/>
            <a:ext cx="2573321" cy="507204"/>
          </a:xfrm>
          <a:prstGeom prst="rect">
            <a:avLst/>
          </a:prstGeom>
          <a:solidFill>
            <a:srgbClr val="D9D9D9"/>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2400" b="0" i="0" u="none" strike="noStrike" kern="1200" cap="none" spc="0" baseline="0" dirty="0">
                <a:uFillTx/>
                <a:latin typeface="游ゴシック"/>
                <a:ea typeface="游ゴシック" pitchFamily="50"/>
              </a:rPr>
              <a:t>山田</a:t>
            </a:r>
            <a:endParaRPr lang="en-US" sz="2400" b="0" i="0" u="none" strike="noStrike" kern="1200" cap="none" spc="0" baseline="0" dirty="0">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6485BEC2-9C4C-625F-1C14-281E3785A54F}"/>
              </a:ext>
            </a:extLst>
          </p:cNvPr>
          <p:cNvSpPr txBox="1"/>
          <p:nvPr/>
        </p:nvSpPr>
        <p:spPr>
          <a:xfrm>
            <a:off x="304796" y="195946"/>
            <a:ext cx="4124847"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1</a:t>
            </a:r>
            <a:r>
              <a:rPr lang="en-US" altLang="ja-JP" sz="3600" b="0" i="0" u="none" strike="noStrike" kern="1200" cap="none" spc="0" baseline="0" dirty="0">
                <a:solidFill>
                  <a:srgbClr val="000000"/>
                </a:solidFill>
                <a:uFillTx/>
                <a:latin typeface="游ゴシック"/>
                <a:ea typeface="游ゴシック" pitchFamily="50"/>
              </a:rPr>
              <a:t>-3</a:t>
            </a:r>
            <a:r>
              <a:rPr lang="ja-JP" sz="3600" b="0" i="0" u="none" strike="noStrike" kern="1200" cap="none" spc="0" baseline="0" dirty="0">
                <a:solidFill>
                  <a:srgbClr val="000000"/>
                </a:solidFill>
                <a:uFillTx/>
                <a:latin typeface="游ゴシック"/>
                <a:ea typeface="游ゴシック" pitchFamily="50"/>
              </a:rPr>
              <a:t>　</a:t>
            </a:r>
            <a:r>
              <a:rPr lang="ja-JP" altLang="en-US" sz="3600" b="0" i="0" u="none" strike="noStrike" kern="1200" cap="none" spc="0" baseline="0" dirty="0">
                <a:solidFill>
                  <a:srgbClr val="000000"/>
                </a:solidFill>
                <a:uFillTx/>
                <a:latin typeface="游ゴシック"/>
                <a:ea typeface="游ゴシック" pitchFamily="50"/>
              </a:rPr>
              <a:t>検索機能</a:t>
            </a:r>
            <a:endParaRPr lang="en-US" sz="3600" b="0" i="0" u="none" strike="noStrike" kern="1200" cap="none" spc="0" baseline="0" dirty="0">
              <a:solidFill>
                <a:srgbClr val="000000"/>
              </a:solidFill>
              <a:uFillTx/>
              <a:latin typeface="游ゴシック"/>
              <a:ea typeface="游ゴシック" pitchFamily="50"/>
            </a:endParaRPr>
          </a:p>
        </p:txBody>
      </p:sp>
      <p:sp>
        <p:nvSpPr>
          <p:cNvPr id="20" name="円: 塗りつぶしなし 19">
            <a:extLst>
              <a:ext uri="{FF2B5EF4-FFF2-40B4-BE49-F238E27FC236}">
                <a16:creationId xmlns:a16="http://schemas.microsoft.com/office/drawing/2014/main" id="{A420456B-557D-9A6A-A6EB-ED77C2A9522F}"/>
              </a:ext>
            </a:extLst>
          </p:cNvPr>
          <p:cNvSpPr/>
          <p:nvPr/>
        </p:nvSpPr>
        <p:spPr>
          <a:xfrm>
            <a:off x="11457974" y="1194833"/>
            <a:ext cx="283642" cy="266941"/>
          </a:xfrm>
          <a:prstGeom prst="donu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正方形/長方形 23">
            <a:extLst>
              <a:ext uri="{FF2B5EF4-FFF2-40B4-BE49-F238E27FC236}">
                <a16:creationId xmlns:a16="http://schemas.microsoft.com/office/drawing/2014/main" id="{C0ED0CAF-545F-3A92-6597-41ADFDA976DB}"/>
              </a:ext>
            </a:extLst>
          </p:cNvPr>
          <p:cNvSpPr/>
          <p:nvPr/>
        </p:nvSpPr>
        <p:spPr>
          <a:xfrm rot="7871681">
            <a:off x="11742067" y="1340078"/>
            <a:ext cx="45719" cy="274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FE690C24-D075-BD48-F9E0-60F4348FE2B0}"/>
              </a:ext>
            </a:extLst>
          </p:cNvPr>
          <p:cNvSpPr/>
          <p:nvPr/>
        </p:nvSpPr>
        <p:spPr>
          <a:xfrm>
            <a:off x="5228418"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51D76EC8-D799-62D3-3D06-3AB685A6B6A9}"/>
              </a:ext>
            </a:extLst>
          </p:cNvPr>
          <p:cNvSpPr/>
          <p:nvPr/>
        </p:nvSpPr>
        <p:spPr>
          <a:xfrm>
            <a:off x="7132199" y="1894627"/>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FFFB152E-EA17-DDC1-A4B4-AABC164D5A22}"/>
              </a:ext>
            </a:extLst>
          </p:cNvPr>
          <p:cNvSpPr/>
          <p:nvPr/>
        </p:nvSpPr>
        <p:spPr>
          <a:xfrm>
            <a:off x="9035980"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E30B5ADB-F4F1-A82F-46D4-B52E19B990D8}"/>
              </a:ext>
            </a:extLst>
          </p:cNvPr>
          <p:cNvSpPr/>
          <p:nvPr/>
        </p:nvSpPr>
        <p:spPr>
          <a:xfrm>
            <a:off x="10939761"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0" name="表 29">
            <a:extLst>
              <a:ext uri="{FF2B5EF4-FFF2-40B4-BE49-F238E27FC236}">
                <a16:creationId xmlns:a16="http://schemas.microsoft.com/office/drawing/2014/main" id="{0E1BF937-22EA-4F0B-1472-3C7CD17DD05F}"/>
              </a:ext>
            </a:extLst>
          </p:cNvPr>
          <p:cNvGraphicFramePr>
            <a:graphicFrameLocks noGrp="1"/>
          </p:cNvGraphicFramePr>
          <p:nvPr>
            <p:extLst>
              <p:ext uri="{D42A27DB-BD31-4B8C-83A1-F6EECF244321}">
                <p14:modId xmlns:p14="http://schemas.microsoft.com/office/powerpoint/2010/main" val="1711171946"/>
              </p:ext>
            </p:extLst>
          </p:nvPr>
        </p:nvGraphicFramePr>
        <p:xfrm>
          <a:off x="0" y="2579700"/>
          <a:ext cx="12192000" cy="1069576"/>
        </p:xfrm>
        <a:graphic>
          <a:graphicData uri="http://schemas.openxmlformats.org/drawingml/2006/table">
            <a:tbl>
              <a:tblPr firstRow="1" bandRow="1">
                <a:tableStyleId>{5C22544A-7EE6-4342-B048-85BDC9FD1C3A}</a:tableStyleId>
              </a:tblPr>
              <a:tblGrid>
                <a:gridCol w="827314">
                  <a:extLst>
                    <a:ext uri="{9D8B030D-6E8A-4147-A177-3AD203B41FA5}">
                      <a16:colId xmlns:a16="http://schemas.microsoft.com/office/drawing/2014/main" val="843818313"/>
                    </a:ext>
                  </a:extLst>
                </a:gridCol>
                <a:gridCol w="1055915">
                  <a:extLst>
                    <a:ext uri="{9D8B030D-6E8A-4147-A177-3AD203B41FA5}">
                      <a16:colId xmlns:a16="http://schemas.microsoft.com/office/drawing/2014/main" val="2593793615"/>
                    </a:ext>
                  </a:extLst>
                </a:gridCol>
                <a:gridCol w="925285">
                  <a:extLst>
                    <a:ext uri="{9D8B030D-6E8A-4147-A177-3AD203B41FA5}">
                      <a16:colId xmlns:a16="http://schemas.microsoft.com/office/drawing/2014/main" val="3819324818"/>
                    </a:ext>
                  </a:extLst>
                </a:gridCol>
                <a:gridCol w="859972">
                  <a:extLst>
                    <a:ext uri="{9D8B030D-6E8A-4147-A177-3AD203B41FA5}">
                      <a16:colId xmlns:a16="http://schemas.microsoft.com/office/drawing/2014/main" val="582941768"/>
                    </a:ext>
                  </a:extLst>
                </a:gridCol>
                <a:gridCol w="1143000">
                  <a:extLst>
                    <a:ext uri="{9D8B030D-6E8A-4147-A177-3AD203B41FA5}">
                      <a16:colId xmlns:a16="http://schemas.microsoft.com/office/drawing/2014/main" val="326648018"/>
                    </a:ext>
                  </a:extLst>
                </a:gridCol>
                <a:gridCol w="729343">
                  <a:extLst>
                    <a:ext uri="{9D8B030D-6E8A-4147-A177-3AD203B41FA5}">
                      <a16:colId xmlns:a16="http://schemas.microsoft.com/office/drawing/2014/main" val="3442362932"/>
                    </a:ext>
                  </a:extLst>
                </a:gridCol>
                <a:gridCol w="664028">
                  <a:extLst>
                    <a:ext uri="{9D8B030D-6E8A-4147-A177-3AD203B41FA5}">
                      <a16:colId xmlns:a16="http://schemas.microsoft.com/office/drawing/2014/main" val="1894457544"/>
                    </a:ext>
                  </a:extLst>
                </a:gridCol>
                <a:gridCol w="1088572">
                  <a:extLst>
                    <a:ext uri="{9D8B030D-6E8A-4147-A177-3AD203B41FA5}">
                      <a16:colId xmlns:a16="http://schemas.microsoft.com/office/drawing/2014/main" val="3378677225"/>
                    </a:ext>
                  </a:extLst>
                </a:gridCol>
                <a:gridCol w="838200">
                  <a:extLst>
                    <a:ext uri="{9D8B030D-6E8A-4147-A177-3AD203B41FA5}">
                      <a16:colId xmlns:a16="http://schemas.microsoft.com/office/drawing/2014/main" val="2724634915"/>
                    </a:ext>
                  </a:extLst>
                </a:gridCol>
                <a:gridCol w="870857">
                  <a:extLst>
                    <a:ext uri="{9D8B030D-6E8A-4147-A177-3AD203B41FA5}">
                      <a16:colId xmlns:a16="http://schemas.microsoft.com/office/drawing/2014/main" val="2886769858"/>
                    </a:ext>
                  </a:extLst>
                </a:gridCol>
                <a:gridCol w="1905000">
                  <a:extLst>
                    <a:ext uri="{9D8B030D-6E8A-4147-A177-3AD203B41FA5}">
                      <a16:colId xmlns:a16="http://schemas.microsoft.com/office/drawing/2014/main" val="638158319"/>
                    </a:ext>
                  </a:extLst>
                </a:gridCol>
                <a:gridCol w="1284514">
                  <a:extLst>
                    <a:ext uri="{9D8B030D-6E8A-4147-A177-3AD203B41FA5}">
                      <a16:colId xmlns:a16="http://schemas.microsoft.com/office/drawing/2014/main" val="3725689978"/>
                    </a:ext>
                  </a:extLst>
                </a:gridCol>
              </a:tblGrid>
              <a:tr h="534788">
                <a:tc>
                  <a:txBody>
                    <a:bodyPr/>
                    <a:lstStyle/>
                    <a:p>
                      <a:pPr algn="ctr"/>
                      <a:r>
                        <a:rPr kumimoji="1" lang="ja-JP" altLang="en-US" sz="1200" dirty="0"/>
                        <a:t>氏名</a:t>
                      </a:r>
                    </a:p>
                  </a:txBody>
                  <a:tcPr/>
                </a:tc>
                <a:tc>
                  <a:txBody>
                    <a:bodyPr/>
                    <a:lstStyle/>
                    <a:p>
                      <a:pPr algn="ctr"/>
                      <a:r>
                        <a:rPr kumimoji="1" lang="ja-JP" altLang="en-US" sz="1200" dirty="0"/>
                        <a:t>社員</a:t>
                      </a:r>
                      <a:r>
                        <a:rPr kumimoji="1" lang="en-US" altLang="ja-JP" sz="1200" dirty="0"/>
                        <a:t>ID</a:t>
                      </a:r>
                      <a:endParaRPr kumimoji="1" lang="ja-JP" altLang="en-US" sz="1200" dirty="0"/>
                    </a:p>
                  </a:txBody>
                  <a:tcPr/>
                </a:tc>
                <a:tc>
                  <a:txBody>
                    <a:bodyPr/>
                    <a:lstStyle/>
                    <a:p>
                      <a:pPr algn="ctr"/>
                      <a:r>
                        <a:rPr kumimoji="1" lang="ja-JP" altLang="en-US" sz="1200" dirty="0"/>
                        <a:t>生年月日</a:t>
                      </a:r>
                    </a:p>
                  </a:txBody>
                  <a:tcPr/>
                </a:tc>
                <a:tc>
                  <a:txBody>
                    <a:bodyPr/>
                    <a:lstStyle/>
                    <a:p>
                      <a:pPr algn="ctr"/>
                      <a:r>
                        <a:rPr kumimoji="1" lang="ja-JP" altLang="en-US" sz="1200" dirty="0"/>
                        <a:t>入社年月</a:t>
                      </a:r>
                    </a:p>
                  </a:txBody>
                  <a:tcPr/>
                </a:tc>
                <a:tc>
                  <a:txBody>
                    <a:bodyPr/>
                    <a:lstStyle/>
                    <a:p>
                      <a:pPr algn="ctr"/>
                      <a:r>
                        <a:rPr kumimoji="1" lang="ja-JP" altLang="en-US" sz="1200" dirty="0"/>
                        <a:t>エンジニア歴</a:t>
                      </a:r>
                    </a:p>
                  </a:txBody>
                  <a:tcPr/>
                </a:tc>
                <a:tc>
                  <a:txBody>
                    <a:bodyPr/>
                    <a:lstStyle/>
                    <a:p>
                      <a:pPr algn="ctr"/>
                      <a:r>
                        <a:rPr kumimoji="1" lang="ja-JP" altLang="en-US" sz="1200" dirty="0"/>
                        <a:t>言語</a:t>
                      </a:r>
                    </a:p>
                  </a:txBody>
                  <a:tcPr/>
                </a:tc>
                <a:tc>
                  <a:txBody>
                    <a:bodyPr/>
                    <a:lstStyle/>
                    <a:p>
                      <a:pPr algn="ctr"/>
                      <a:r>
                        <a:rPr kumimoji="1" lang="ja-JP" altLang="en-US" sz="1200" dirty="0"/>
                        <a:t>経歴</a:t>
                      </a:r>
                    </a:p>
                  </a:txBody>
                  <a:tcPr/>
                </a:tc>
                <a:tc>
                  <a:txBody>
                    <a:bodyPr/>
                    <a:lstStyle/>
                    <a:p>
                      <a:pPr algn="ctr"/>
                      <a:r>
                        <a:rPr kumimoji="1" lang="ja-JP" altLang="en-US" sz="1200" dirty="0"/>
                        <a:t>研修受講歴</a:t>
                      </a:r>
                    </a:p>
                  </a:txBody>
                  <a:tcPr/>
                </a:tc>
                <a:tc>
                  <a:txBody>
                    <a:bodyPr/>
                    <a:lstStyle/>
                    <a:p>
                      <a:pPr algn="ctr"/>
                      <a:r>
                        <a:rPr kumimoji="1" lang="ja-JP" altLang="en-US" sz="1200" dirty="0"/>
                        <a:t>技術力</a:t>
                      </a:r>
                    </a:p>
                  </a:txBody>
                  <a:tcPr/>
                </a:tc>
                <a:tc>
                  <a:txBody>
                    <a:bodyPr/>
                    <a:lstStyle/>
                    <a:p>
                      <a:pPr algn="ctr"/>
                      <a:r>
                        <a:rPr kumimoji="1" lang="ja-JP" altLang="en-US" sz="1200" dirty="0"/>
                        <a:t>受講態度</a:t>
                      </a:r>
                    </a:p>
                  </a:txBody>
                  <a:tcPr/>
                </a:tc>
                <a:tc>
                  <a:txBody>
                    <a:bodyPr/>
                    <a:lstStyle/>
                    <a:p>
                      <a:pPr algn="ctr"/>
                      <a:r>
                        <a:rPr kumimoji="1" lang="ja-JP" altLang="en-US" sz="1200" dirty="0"/>
                        <a:t>コミュニケーション能力</a:t>
                      </a:r>
                    </a:p>
                  </a:txBody>
                  <a:tcPr/>
                </a:tc>
                <a:tc>
                  <a:txBody>
                    <a:bodyPr/>
                    <a:lstStyle/>
                    <a:p>
                      <a:pPr algn="ctr"/>
                      <a:r>
                        <a:rPr kumimoji="1" lang="ja-JP" altLang="en-US" sz="1200" dirty="0"/>
                        <a:t>リーダーシップ</a:t>
                      </a:r>
                    </a:p>
                  </a:txBody>
                  <a:tcPr/>
                </a:tc>
                <a:extLst>
                  <a:ext uri="{0D108BD9-81ED-4DB2-BD59-A6C34878D82A}">
                    <a16:rowId xmlns:a16="http://schemas.microsoft.com/office/drawing/2014/main" val="3031805351"/>
                  </a:ext>
                </a:extLst>
              </a:tr>
              <a:tr h="534788">
                <a:tc>
                  <a:txBody>
                    <a:bodyPr/>
                    <a:lstStyle/>
                    <a:p>
                      <a:r>
                        <a:rPr kumimoji="1" lang="ja-JP" altLang="en-US" sz="1200" dirty="0"/>
                        <a:t>山田太郎</a:t>
                      </a:r>
                    </a:p>
                  </a:txBody>
                  <a:tcPr/>
                </a:tc>
                <a:tc>
                  <a:txBody>
                    <a:bodyPr/>
                    <a:lstStyle/>
                    <a:p>
                      <a:r>
                        <a:rPr kumimoji="1" lang="en-US" altLang="ja-JP" sz="1200" dirty="0"/>
                        <a:t>00001</a:t>
                      </a:r>
                      <a:endParaRPr kumimoji="1" lang="ja-JP" altLang="en-US" sz="1200" dirty="0"/>
                    </a:p>
                  </a:txBody>
                  <a:tcPr/>
                </a:tc>
                <a:tc>
                  <a:txBody>
                    <a:bodyPr/>
                    <a:lstStyle/>
                    <a:p>
                      <a:r>
                        <a:rPr kumimoji="1" lang="en-US" altLang="ja-JP" sz="1200" dirty="0"/>
                        <a:t>1989/2/14</a:t>
                      </a:r>
                      <a:endParaRPr kumimoji="1" lang="ja-JP" altLang="en-US" sz="1200" dirty="0"/>
                    </a:p>
                  </a:txBody>
                  <a:tcPr/>
                </a:tc>
                <a:tc>
                  <a:txBody>
                    <a:bodyPr/>
                    <a:lstStyle/>
                    <a:p>
                      <a:r>
                        <a:rPr kumimoji="1" lang="en-US" altLang="ja-JP" sz="1200" dirty="0"/>
                        <a:t>2017/4</a:t>
                      </a:r>
                      <a:endParaRPr kumimoji="1" lang="ja-JP" altLang="en-US" sz="1200"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1181288494"/>
                  </a:ext>
                </a:extLst>
              </a:tr>
            </a:tbl>
          </a:graphicData>
        </a:graphic>
      </p:graphicFrame>
      <p:sp>
        <p:nvSpPr>
          <p:cNvPr id="31" name="テキスト ボックス 30">
            <a:extLst>
              <a:ext uri="{FF2B5EF4-FFF2-40B4-BE49-F238E27FC236}">
                <a16:creationId xmlns:a16="http://schemas.microsoft.com/office/drawing/2014/main" id="{BC797211-21B5-3D13-5E30-E3902D68CE26}"/>
              </a:ext>
            </a:extLst>
          </p:cNvPr>
          <p:cNvSpPr txBox="1"/>
          <p:nvPr/>
        </p:nvSpPr>
        <p:spPr>
          <a:xfrm>
            <a:off x="5362247" y="1925891"/>
            <a:ext cx="914400" cy="369332"/>
          </a:xfrm>
          <a:prstGeom prst="rect">
            <a:avLst/>
          </a:prstGeom>
          <a:noFill/>
        </p:spPr>
        <p:txBody>
          <a:bodyPr wrap="square" rtlCol="0">
            <a:spAutoFit/>
          </a:bodyPr>
          <a:lstStyle/>
          <a:p>
            <a:r>
              <a:rPr kumimoji="1" lang="ja-JP" altLang="en-US" dirty="0">
                <a:solidFill>
                  <a:schemeClr val="bg1"/>
                </a:solidFill>
              </a:rPr>
              <a:t>ソート</a:t>
            </a:r>
          </a:p>
        </p:txBody>
      </p:sp>
      <p:sp>
        <p:nvSpPr>
          <p:cNvPr id="33" name="テキスト ボックス 32">
            <a:extLst>
              <a:ext uri="{FF2B5EF4-FFF2-40B4-BE49-F238E27FC236}">
                <a16:creationId xmlns:a16="http://schemas.microsoft.com/office/drawing/2014/main" id="{95C23B25-EAAF-379A-AB4D-C0DB6A36D943}"/>
              </a:ext>
            </a:extLst>
          </p:cNvPr>
          <p:cNvSpPr txBox="1"/>
          <p:nvPr/>
        </p:nvSpPr>
        <p:spPr>
          <a:xfrm>
            <a:off x="7361056" y="1923575"/>
            <a:ext cx="914400" cy="369332"/>
          </a:xfrm>
          <a:prstGeom prst="rect">
            <a:avLst/>
          </a:prstGeom>
          <a:noFill/>
        </p:spPr>
        <p:txBody>
          <a:bodyPr wrap="square" rtlCol="0">
            <a:spAutoFit/>
          </a:bodyPr>
          <a:lstStyle/>
          <a:p>
            <a:r>
              <a:rPr kumimoji="1" lang="ja-JP" altLang="en-US" dirty="0">
                <a:solidFill>
                  <a:schemeClr val="bg1"/>
                </a:solidFill>
              </a:rPr>
              <a:t>選択</a:t>
            </a:r>
          </a:p>
        </p:txBody>
      </p:sp>
      <p:sp>
        <p:nvSpPr>
          <p:cNvPr id="34" name="テキスト ボックス 33">
            <a:extLst>
              <a:ext uri="{FF2B5EF4-FFF2-40B4-BE49-F238E27FC236}">
                <a16:creationId xmlns:a16="http://schemas.microsoft.com/office/drawing/2014/main" id="{F152FC73-AB6E-BF9A-62DE-9656B6AD00CA}"/>
              </a:ext>
            </a:extLst>
          </p:cNvPr>
          <p:cNvSpPr txBox="1"/>
          <p:nvPr/>
        </p:nvSpPr>
        <p:spPr>
          <a:xfrm>
            <a:off x="9243905" y="1923575"/>
            <a:ext cx="646331" cy="369332"/>
          </a:xfrm>
          <a:prstGeom prst="rect">
            <a:avLst/>
          </a:prstGeom>
          <a:noFill/>
        </p:spPr>
        <p:txBody>
          <a:bodyPr wrap="none" rtlCol="0">
            <a:spAutoFit/>
          </a:bodyPr>
          <a:lstStyle/>
          <a:p>
            <a:r>
              <a:rPr kumimoji="1" lang="ja-JP" altLang="en-US" dirty="0">
                <a:solidFill>
                  <a:schemeClr val="bg1"/>
                </a:solidFill>
              </a:rPr>
              <a:t>削除</a:t>
            </a:r>
          </a:p>
        </p:txBody>
      </p:sp>
      <p:sp>
        <p:nvSpPr>
          <p:cNvPr id="35" name="テキスト ボックス 34">
            <a:extLst>
              <a:ext uri="{FF2B5EF4-FFF2-40B4-BE49-F238E27FC236}">
                <a16:creationId xmlns:a16="http://schemas.microsoft.com/office/drawing/2014/main" id="{DF8E1245-98A1-038B-D31D-F81366081CDF}"/>
              </a:ext>
            </a:extLst>
          </p:cNvPr>
          <p:cNvSpPr txBox="1"/>
          <p:nvPr/>
        </p:nvSpPr>
        <p:spPr>
          <a:xfrm>
            <a:off x="11147686" y="1923575"/>
            <a:ext cx="646331" cy="369332"/>
          </a:xfrm>
          <a:prstGeom prst="rect">
            <a:avLst/>
          </a:prstGeom>
          <a:noFill/>
        </p:spPr>
        <p:txBody>
          <a:bodyPr wrap="none" rtlCol="0">
            <a:spAutoFit/>
          </a:bodyPr>
          <a:lstStyle/>
          <a:p>
            <a:r>
              <a:rPr kumimoji="1" lang="ja-JP" altLang="en-US" dirty="0">
                <a:solidFill>
                  <a:schemeClr val="bg1"/>
                </a:solidFill>
              </a:rPr>
              <a:t>出力</a:t>
            </a:r>
          </a:p>
        </p:txBody>
      </p:sp>
    </p:spTree>
    <p:extLst>
      <p:ext uri="{BB962C8B-B14F-4D97-AF65-F5344CB8AC3E}">
        <p14:creationId xmlns:p14="http://schemas.microsoft.com/office/powerpoint/2010/main" val="296007143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A247D-F31C-FA86-2912-AC67B95BC6A0}"/>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B29CD32A-7091-19FA-0F14-8CB4B1B5E4C8}"/>
              </a:ext>
            </a:extLst>
          </p:cNvPr>
          <p:cNvSpPr/>
          <p:nvPr/>
        </p:nvSpPr>
        <p:spPr>
          <a:xfrm>
            <a:off x="0" y="925290"/>
            <a:ext cx="12192000"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FFFFFF"/>
              </a:solidFill>
              <a:uFillTx/>
              <a:latin typeface="游ゴシック"/>
              <a:ea typeface="游ゴシック" pitchFamily="50"/>
            </a:endParaRPr>
          </a:p>
        </p:txBody>
      </p:sp>
      <p:sp>
        <p:nvSpPr>
          <p:cNvPr id="4" name="テキスト ボックス 5">
            <a:extLst>
              <a:ext uri="{FF2B5EF4-FFF2-40B4-BE49-F238E27FC236}">
                <a16:creationId xmlns:a16="http://schemas.microsoft.com/office/drawing/2014/main" id="{99F6BE1C-CD5F-1361-3121-77FC766C7044}"/>
              </a:ext>
            </a:extLst>
          </p:cNvPr>
          <p:cNvSpPr txBox="1"/>
          <p:nvPr/>
        </p:nvSpPr>
        <p:spPr>
          <a:xfrm>
            <a:off x="400828" y="1097007"/>
            <a:ext cx="3475927"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3600" b="0" i="0" u="none" strike="noStrike" kern="1200" cap="none" spc="0" baseline="0" dirty="0">
                <a:solidFill>
                  <a:srgbClr val="FFFFFF"/>
                </a:solidFill>
                <a:uFillTx/>
                <a:latin typeface="游ゴシック"/>
                <a:ea typeface="游ゴシック" pitchFamily="50"/>
              </a:rPr>
              <a:t>エンジニア一覧</a:t>
            </a:r>
            <a:endParaRPr lang="en-US" sz="3600" b="0" i="0" u="none" strike="noStrike" kern="1200" cap="none" spc="0" baseline="0" dirty="0">
              <a:solidFill>
                <a:srgbClr val="FFFFFF"/>
              </a:solidFill>
              <a:uFillTx/>
              <a:latin typeface="游ゴシック"/>
              <a:ea typeface="游ゴシック" pitchFamily="50"/>
            </a:endParaRPr>
          </a:p>
        </p:txBody>
      </p:sp>
      <p:sp>
        <p:nvSpPr>
          <p:cNvPr id="6" name="正方形/長方形 6">
            <a:extLst>
              <a:ext uri="{FF2B5EF4-FFF2-40B4-BE49-F238E27FC236}">
                <a16:creationId xmlns:a16="http://schemas.microsoft.com/office/drawing/2014/main" id="{636381A5-F924-4AD9-9F88-B3964D022CD3}"/>
              </a:ext>
            </a:extLst>
          </p:cNvPr>
          <p:cNvSpPr/>
          <p:nvPr/>
        </p:nvSpPr>
        <p:spPr>
          <a:xfrm>
            <a:off x="9428622" y="1134209"/>
            <a:ext cx="2573321" cy="507204"/>
          </a:xfrm>
          <a:prstGeom prst="rect">
            <a:avLst/>
          </a:prstGeom>
          <a:solidFill>
            <a:srgbClr val="D9D9D9"/>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581642C8-48E5-53E2-188D-0E53ED80F86B}"/>
              </a:ext>
            </a:extLst>
          </p:cNvPr>
          <p:cNvSpPr txBox="1"/>
          <p:nvPr/>
        </p:nvSpPr>
        <p:spPr>
          <a:xfrm>
            <a:off x="304796" y="195946"/>
            <a:ext cx="4586512"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1</a:t>
            </a:r>
            <a:r>
              <a:rPr lang="en-US" altLang="ja-JP" sz="3600" b="0" i="0" u="none" strike="noStrike" kern="1200" cap="none" spc="0" baseline="0" dirty="0">
                <a:solidFill>
                  <a:srgbClr val="000000"/>
                </a:solidFill>
                <a:uFillTx/>
                <a:latin typeface="游ゴシック"/>
                <a:ea typeface="游ゴシック" pitchFamily="50"/>
              </a:rPr>
              <a:t>-4</a:t>
            </a:r>
            <a:r>
              <a:rPr lang="ja-JP" sz="3600" b="0" i="0" u="none" strike="noStrike" kern="1200" cap="none" spc="0" baseline="0" dirty="0">
                <a:solidFill>
                  <a:srgbClr val="000000"/>
                </a:solidFill>
                <a:uFillTx/>
                <a:latin typeface="游ゴシック"/>
                <a:ea typeface="游ゴシック" pitchFamily="50"/>
              </a:rPr>
              <a:t>　</a:t>
            </a:r>
            <a:r>
              <a:rPr lang="ja-JP" altLang="en-US" sz="3600" b="0" i="0" u="none" strike="noStrike" kern="1200" cap="none" spc="0" baseline="0" dirty="0">
                <a:solidFill>
                  <a:srgbClr val="000000"/>
                </a:solidFill>
                <a:uFillTx/>
                <a:latin typeface="游ゴシック"/>
                <a:ea typeface="游ゴシック" pitchFamily="50"/>
              </a:rPr>
              <a:t>ソート機能</a:t>
            </a:r>
            <a:endParaRPr lang="en-US" sz="3600" b="0" i="0" u="none" strike="noStrike" kern="1200" cap="none" spc="0" baseline="0" dirty="0">
              <a:solidFill>
                <a:srgbClr val="000000"/>
              </a:solidFill>
              <a:uFillTx/>
              <a:latin typeface="游ゴシック"/>
              <a:ea typeface="游ゴシック" pitchFamily="50"/>
            </a:endParaRPr>
          </a:p>
        </p:txBody>
      </p:sp>
      <p:sp>
        <p:nvSpPr>
          <p:cNvPr id="20" name="円: 塗りつぶしなし 19">
            <a:extLst>
              <a:ext uri="{FF2B5EF4-FFF2-40B4-BE49-F238E27FC236}">
                <a16:creationId xmlns:a16="http://schemas.microsoft.com/office/drawing/2014/main" id="{BEE3AA5E-6B75-2E9B-9F4B-79F8685801ED}"/>
              </a:ext>
            </a:extLst>
          </p:cNvPr>
          <p:cNvSpPr/>
          <p:nvPr/>
        </p:nvSpPr>
        <p:spPr>
          <a:xfrm>
            <a:off x="11457974" y="1194833"/>
            <a:ext cx="283642" cy="266941"/>
          </a:xfrm>
          <a:prstGeom prst="donu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正方形/長方形 23">
            <a:extLst>
              <a:ext uri="{FF2B5EF4-FFF2-40B4-BE49-F238E27FC236}">
                <a16:creationId xmlns:a16="http://schemas.microsoft.com/office/drawing/2014/main" id="{4B8B8AAE-EECE-347E-D6A7-1CF2B2BB8883}"/>
              </a:ext>
            </a:extLst>
          </p:cNvPr>
          <p:cNvSpPr/>
          <p:nvPr/>
        </p:nvSpPr>
        <p:spPr>
          <a:xfrm rot="7871681">
            <a:off x="11742067" y="1340078"/>
            <a:ext cx="45719" cy="274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739E47D5-C310-676B-4EBF-3C82E8D07451}"/>
              </a:ext>
            </a:extLst>
          </p:cNvPr>
          <p:cNvSpPr/>
          <p:nvPr/>
        </p:nvSpPr>
        <p:spPr>
          <a:xfrm>
            <a:off x="5228418"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474D2E41-7B11-E06B-4CDA-99C8481BCD83}"/>
              </a:ext>
            </a:extLst>
          </p:cNvPr>
          <p:cNvSpPr/>
          <p:nvPr/>
        </p:nvSpPr>
        <p:spPr>
          <a:xfrm>
            <a:off x="7132199" y="1894627"/>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6B9D6D3E-D532-A5E7-F0CA-122EB1E94584}"/>
              </a:ext>
            </a:extLst>
          </p:cNvPr>
          <p:cNvSpPr/>
          <p:nvPr/>
        </p:nvSpPr>
        <p:spPr>
          <a:xfrm>
            <a:off x="9035980"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BAD216D2-88CE-C7E3-EF65-B77C3749EBA4}"/>
              </a:ext>
            </a:extLst>
          </p:cNvPr>
          <p:cNvSpPr/>
          <p:nvPr/>
        </p:nvSpPr>
        <p:spPr>
          <a:xfrm>
            <a:off x="10939761"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0" name="表 29">
            <a:extLst>
              <a:ext uri="{FF2B5EF4-FFF2-40B4-BE49-F238E27FC236}">
                <a16:creationId xmlns:a16="http://schemas.microsoft.com/office/drawing/2014/main" id="{924B9A4A-3B04-9E55-A5FB-4F14EFF04791}"/>
              </a:ext>
            </a:extLst>
          </p:cNvPr>
          <p:cNvGraphicFramePr>
            <a:graphicFrameLocks noGrp="1"/>
          </p:cNvGraphicFramePr>
          <p:nvPr/>
        </p:nvGraphicFramePr>
        <p:xfrm>
          <a:off x="0" y="2579700"/>
          <a:ext cx="12192000" cy="4278304"/>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843818313"/>
                    </a:ext>
                  </a:extLst>
                </a:gridCol>
                <a:gridCol w="685800">
                  <a:extLst>
                    <a:ext uri="{9D8B030D-6E8A-4147-A177-3AD203B41FA5}">
                      <a16:colId xmlns:a16="http://schemas.microsoft.com/office/drawing/2014/main" val="2593793615"/>
                    </a:ext>
                  </a:extLst>
                </a:gridCol>
                <a:gridCol w="956733">
                  <a:extLst>
                    <a:ext uri="{9D8B030D-6E8A-4147-A177-3AD203B41FA5}">
                      <a16:colId xmlns:a16="http://schemas.microsoft.com/office/drawing/2014/main" val="3819324818"/>
                    </a:ext>
                  </a:extLst>
                </a:gridCol>
                <a:gridCol w="990600">
                  <a:extLst>
                    <a:ext uri="{9D8B030D-6E8A-4147-A177-3AD203B41FA5}">
                      <a16:colId xmlns:a16="http://schemas.microsoft.com/office/drawing/2014/main" val="582941768"/>
                    </a:ext>
                  </a:extLst>
                </a:gridCol>
                <a:gridCol w="1312334">
                  <a:extLst>
                    <a:ext uri="{9D8B030D-6E8A-4147-A177-3AD203B41FA5}">
                      <a16:colId xmlns:a16="http://schemas.microsoft.com/office/drawing/2014/main" val="326648018"/>
                    </a:ext>
                  </a:extLst>
                </a:gridCol>
                <a:gridCol w="533400">
                  <a:extLst>
                    <a:ext uri="{9D8B030D-6E8A-4147-A177-3AD203B41FA5}">
                      <a16:colId xmlns:a16="http://schemas.microsoft.com/office/drawing/2014/main" val="3442362932"/>
                    </a:ext>
                  </a:extLst>
                </a:gridCol>
                <a:gridCol w="584200">
                  <a:extLst>
                    <a:ext uri="{9D8B030D-6E8A-4147-A177-3AD203B41FA5}">
                      <a16:colId xmlns:a16="http://schemas.microsoft.com/office/drawing/2014/main" val="1894457544"/>
                    </a:ext>
                  </a:extLst>
                </a:gridCol>
                <a:gridCol w="1075266">
                  <a:extLst>
                    <a:ext uri="{9D8B030D-6E8A-4147-A177-3AD203B41FA5}">
                      <a16:colId xmlns:a16="http://schemas.microsoft.com/office/drawing/2014/main" val="3378677225"/>
                    </a:ext>
                  </a:extLst>
                </a:gridCol>
                <a:gridCol w="804334">
                  <a:extLst>
                    <a:ext uri="{9D8B030D-6E8A-4147-A177-3AD203B41FA5}">
                      <a16:colId xmlns:a16="http://schemas.microsoft.com/office/drawing/2014/main" val="2724634915"/>
                    </a:ext>
                  </a:extLst>
                </a:gridCol>
                <a:gridCol w="1100666">
                  <a:extLst>
                    <a:ext uri="{9D8B030D-6E8A-4147-A177-3AD203B41FA5}">
                      <a16:colId xmlns:a16="http://schemas.microsoft.com/office/drawing/2014/main" val="2886769858"/>
                    </a:ext>
                  </a:extLst>
                </a:gridCol>
                <a:gridCol w="2269067">
                  <a:extLst>
                    <a:ext uri="{9D8B030D-6E8A-4147-A177-3AD203B41FA5}">
                      <a16:colId xmlns:a16="http://schemas.microsoft.com/office/drawing/2014/main" val="638158319"/>
                    </a:ext>
                  </a:extLst>
                </a:gridCol>
                <a:gridCol w="1371600">
                  <a:extLst>
                    <a:ext uri="{9D8B030D-6E8A-4147-A177-3AD203B41FA5}">
                      <a16:colId xmlns:a16="http://schemas.microsoft.com/office/drawing/2014/main" val="3725689978"/>
                    </a:ext>
                  </a:extLst>
                </a:gridCol>
              </a:tblGrid>
              <a:tr h="534788">
                <a:tc>
                  <a:txBody>
                    <a:bodyPr/>
                    <a:lstStyle/>
                    <a:p>
                      <a:pPr algn="ctr"/>
                      <a:r>
                        <a:rPr kumimoji="1" lang="ja-JP" altLang="en-US" sz="1200" dirty="0"/>
                        <a:t>氏名</a:t>
                      </a:r>
                    </a:p>
                  </a:txBody>
                  <a:tcPr/>
                </a:tc>
                <a:tc>
                  <a:txBody>
                    <a:bodyPr/>
                    <a:lstStyle/>
                    <a:p>
                      <a:pPr algn="ctr"/>
                      <a:r>
                        <a:rPr kumimoji="1" lang="ja-JP" altLang="en-US" sz="1200" dirty="0"/>
                        <a:t>社員</a:t>
                      </a:r>
                      <a:r>
                        <a:rPr kumimoji="1" lang="en-US" altLang="ja-JP" sz="1200" dirty="0"/>
                        <a:t>ID</a:t>
                      </a:r>
                      <a:endParaRPr kumimoji="1" lang="ja-JP" altLang="en-US" sz="1200" dirty="0"/>
                    </a:p>
                  </a:txBody>
                  <a:tcPr/>
                </a:tc>
                <a:tc>
                  <a:txBody>
                    <a:bodyPr/>
                    <a:lstStyle/>
                    <a:p>
                      <a:pPr algn="ctr"/>
                      <a:r>
                        <a:rPr kumimoji="1" lang="ja-JP" altLang="en-US" sz="1200" dirty="0"/>
                        <a:t>生年月日</a:t>
                      </a:r>
                    </a:p>
                  </a:txBody>
                  <a:tcPr/>
                </a:tc>
                <a:tc>
                  <a:txBody>
                    <a:bodyPr/>
                    <a:lstStyle/>
                    <a:p>
                      <a:pPr algn="ctr"/>
                      <a:r>
                        <a:rPr kumimoji="1" lang="ja-JP" altLang="en-US" sz="1200" dirty="0"/>
                        <a:t>入社年月</a:t>
                      </a:r>
                    </a:p>
                  </a:txBody>
                  <a:tcPr/>
                </a:tc>
                <a:tc>
                  <a:txBody>
                    <a:bodyPr/>
                    <a:lstStyle/>
                    <a:p>
                      <a:pPr algn="ctr"/>
                      <a:r>
                        <a:rPr kumimoji="1" lang="ja-JP" altLang="en-US" sz="1200" dirty="0"/>
                        <a:t>エンジニア歴</a:t>
                      </a:r>
                    </a:p>
                  </a:txBody>
                  <a:tcPr/>
                </a:tc>
                <a:tc>
                  <a:txBody>
                    <a:bodyPr/>
                    <a:lstStyle/>
                    <a:p>
                      <a:pPr algn="ctr"/>
                      <a:r>
                        <a:rPr kumimoji="1" lang="ja-JP" altLang="en-US" sz="1200" dirty="0"/>
                        <a:t>言語</a:t>
                      </a:r>
                    </a:p>
                  </a:txBody>
                  <a:tcPr/>
                </a:tc>
                <a:tc>
                  <a:txBody>
                    <a:bodyPr/>
                    <a:lstStyle/>
                    <a:p>
                      <a:pPr algn="ctr"/>
                      <a:r>
                        <a:rPr kumimoji="1" lang="ja-JP" altLang="en-US" sz="1200" dirty="0"/>
                        <a:t>経歴</a:t>
                      </a:r>
                    </a:p>
                  </a:txBody>
                  <a:tcPr/>
                </a:tc>
                <a:tc>
                  <a:txBody>
                    <a:bodyPr/>
                    <a:lstStyle/>
                    <a:p>
                      <a:pPr algn="ctr"/>
                      <a:r>
                        <a:rPr kumimoji="1" lang="ja-JP" altLang="en-US" sz="1200" dirty="0"/>
                        <a:t>研修受講歴</a:t>
                      </a:r>
                    </a:p>
                  </a:txBody>
                  <a:tcPr/>
                </a:tc>
                <a:tc>
                  <a:txBody>
                    <a:bodyPr/>
                    <a:lstStyle/>
                    <a:p>
                      <a:pPr algn="ctr"/>
                      <a:r>
                        <a:rPr kumimoji="1" lang="ja-JP" altLang="en-US" sz="1200" dirty="0"/>
                        <a:t>技術力</a:t>
                      </a:r>
                    </a:p>
                  </a:txBody>
                  <a:tcPr/>
                </a:tc>
                <a:tc>
                  <a:txBody>
                    <a:bodyPr/>
                    <a:lstStyle/>
                    <a:p>
                      <a:pPr algn="ctr"/>
                      <a:r>
                        <a:rPr kumimoji="1" lang="ja-JP" altLang="en-US" sz="1200" dirty="0"/>
                        <a:t>受講態度</a:t>
                      </a:r>
                    </a:p>
                  </a:txBody>
                  <a:tcPr/>
                </a:tc>
                <a:tc>
                  <a:txBody>
                    <a:bodyPr/>
                    <a:lstStyle/>
                    <a:p>
                      <a:pPr algn="ctr"/>
                      <a:r>
                        <a:rPr kumimoji="1" lang="ja-JP" altLang="en-US" sz="1200" dirty="0"/>
                        <a:t>コミュニケーション能力</a:t>
                      </a:r>
                    </a:p>
                  </a:txBody>
                  <a:tcPr/>
                </a:tc>
                <a:tc>
                  <a:txBody>
                    <a:bodyPr/>
                    <a:lstStyle/>
                    <a:p>
                      <a:pPr algn="ctr"/>
                      <a:r>
                        <a:rPr kumimoji="1" lang="ja-JP" altLang="en-US" sz="1200" dirty="0"/>
                        <a:t>リーダーシップ</a:t>
                      </a:r>
                    </a:p>
                  </a:txBody>
                  <a:tcPr/>
                </a:tc>
                <a:extLst>
                  <a:ext uri="{0D108BD9-81ED-4DB2-BD59-A6C34878D82A}">
                    <a16:rowId xmlns:a16="http://schemas.microsoft.com/office/drawing/2014/main" val="3031805351"/>
                  </a:ext>
                </a:extLst>
              </a:tr>
              <a:tr h="534788">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181288494"/>
                  </a:ext>
                </a:extLst>
              </a:tr>
              <a:tr h="534788">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841193060"/>
                  </a:ext>
                </a:extLst>
              </a:tr>
              <a:tr h="534788">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125601969"/>
                  </a:ext>
                </a:extLst>
              </a:tr>
              <a:tr h="534788">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267473416"/>
                  </a:ext>
                </a:extLst>
              </a:tr>
              <a:tr h="534788">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761762557"/>
                  </a:ext>
                </a:extLst>
              </a:tr>
              <a:tr h="534788">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902287736"/>
                  </a:ext>
                </a:extLst>
              </a:tr>
              <a:tr h="534788">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924052398"/>
                  </a:ext>
                </a:extLst>
              </a:tr>
            </a:tbl>
          </a:graphicData>
        </a:graphic>
      </p:graphicFrame>
      <p:sp>
        <p:nvSpPr>
          <p:cNvPr id="31" name="テキスト ボックス 30">
            <a:extLst>
              <a:ext uri="{FF2B5EF4-FFF2-40B4-BE49-F238E27FC236}">
                <a16:creationId xmlns:a16="http://schemas.microsoft.com/office/drawing/2014/main" id="{86C92B5D-433C-20DE-E773-0EF3EAAE605B}"/>
              </a:ext>
            </a:extLst>
          </p:cNvPr>
          <p:cNvSpPr txBox="1"/>
          <p:nvPr/>
        </p:nvSpPr>
        <p:spPr>
          <a:xfrm>
            <a:off x="5362247" y="1925891"/>
            <a:ext cx="914400" cy="369332"/>
          </a:xfrm>
          <a:prstGeom prst="rect">
            <a:avLst/>
          </a:prstGeom>
          <a:noFill/>
        </p:spPr>
        <p:txBody>
          <a:bodyPr wrap="square" rtlCol="0">
            <a:spAutoFit/>
          </a:bodyPr>
          <a:lstStyle/>
          <a:p>
            <a:r>
              <a:rPr kumimoji="1" lang="ja-JP" altLang="en-US" dirty="0">
                <a:solidFill>
                  <a:schemeClr val="bg1"/>
                </a:solidFill>
              </a:rPr>
              <a:t>ソート</a:t>
            </a:r>
          </a:p>
        </p:txBody>
      </p:sp>
      <p:sp>
        <p:nvSpPr>
          <p:cNvPr id="33" name="テキスト ボックス 32">
            <a:extLst>
              <a:ext uri="{FF2B5EF4-FFF2-40B4-BE49-F238E27FC236}">
                <a16:creationId xmlns:a16="http://schemas.microsoft.com/office/drawing/2014/main" id="{4838025C-CE79-6C50-902D-E2BD295F0FAD}"/>
              </a:ext>
            </a:extLst>
          </p:cNvPr>
          <p:cNvSpPr txBox="1"/>
          <p:nvPr/>
        </p:nvSpPr>
        <p:spPr>
          <a:xfrm>
            <a:off x="7361056" y="1923575"/>
            <a:ext cx="914400" cy="369332"/>
          </a:xfrm>
          <a:prstGeom prst="rect">
            <a:avLst/>
          </a:prstGeom>
          <a:noFill/>
        </p:spPr>
        <p:txBody>
          <a:bodyPr wrap="square" rtlCol="0">
            <a:spAutoFit/>
          </a:bodyPr>
          <a:lstStyle/>
          <a:p>
            <a:r>
              <a:rPr kumimoji="1" lang="ja-JP" altLang="en-US" dirty="0">
                <a:solidFill>
                  <a:schemeClr val="bg1"/>
                </a:solidFill>
              </a:rPr>
              <a:t>選択</a:t>
            </a:r>
          </a:p>
        </p:txBody>
      </p:sp>
      <p:sp>
        <p:nvSpPr>
          <p:cNvPr id="34" name="テキスト ボックス 33">
            <a:extLst>
              <a:ext uri="{FF2B5EF4-FFF2-40B4-BE49-F238E27FC236}">
                <a16:creationId xmlns:a16="http://schemas.microsoft.com/office/drawing/2014/main" id="{18D079C2-DAE1-2F63-EBE9-041285F639D8}"/>
              </a:ext>
            </a:extLst>
          </p:cNvPr>
          <p:cNvSpPr txBox="1"/>
          <p:nvPr/>
        </p:nvSpPr>
        <p:spPr>
          <a:xfrm>
            <a:off x="9243905" y="1923575"/>
            <a:ext cx="646331" cy="369332"/>
          </a:xfrm>
          <a:prstGeom prst="rect">
            <a:avLst/>
          </a:prstGeom>
          <a:noFill/>
        </p:spPr>
        <p:txBody>
          <a:bodyPr wrap="none" rtlCol="0">
            <a:spAutoFit/>
          </a:bodyPr>
          <a:lstStyle/>
          <a:p>
            <a:r>
              <a:rPr lang="ja-JP" altLang="en-US" dirty="0">
                <a:solidFill>
                  <a:schemeClr val="bg1"/>
                </a:solidFill>
              </a:rPr>
              <a:t>追加</a:t>
            </a:r>
            <a:endParaRPr kumimoji="1" lang="ja-JP" altLang="en-US" dirty="0">
              <a:solidFill>
                <a:schemeClr val="bg1"/>
              </a:solidFill>
            </a:endParaRPr>
          </a:p>
        </p:txBody>
      </p:sp>
      <p:sp>
        <p:nvSpPr>
          <p:cNvPr id="35" name="テキスト ボックス 34">
            <a:extLst>
              <a:ext uri="{FF2B5EF4-FFF2-40B4-BE49-F238E27FC236}">
                <a16:creationId xmlns:a16="http://schemas.microsoft.com/office/drawing/2014/main" id="{C9BF9A5C-8A37-B9B0-3364-1178ECFADEC6}"/>
              </a:ext>
            </a:extLst>
          </p:cNvPr>
          <p:cNvSpPr txBox="1"/>
          <p:nvPr/>
        </p:nvSpPr>
        <p:spPr>
          <a:xfrm>
            <a:off x="11147686" y="1923575"/>
            <a:ext cx="646331" cy="369332"/>
          </a:xfrm>
          <a:prstGeom prst="rect">
            <a:avLst/>
          </a:prstGeom>
          <a:noFill/>
        </p:spPr>
        <p:txBody>
          <a:bodyPr wrap="none" rtlCol="0">
            <a:spAutoFit/>
          </a:bodyPr>
          <a:lstStyle/>
          <a:p>
            <a:r>
              <a:rPr kumimoji="1" lang="ja-JP" altLang="en-US" dirty="0">
                <a:solidFill>
                  <a:schemeClr val="bg1"/>
                </a:solidFill>
              </a:rPr>
              <a:t>出力</a:t>
            </a:r>
          </a:p>
        </p:txBody>
      </p:sp>
      <p:sp>
        <p:nvSpPr>
          <p:cNvPr id="2" name="正方形/長方形 1">
            <a:extLst>
              <a:ext uri="{FF2B5EF4-FFF2-40B4-BE49-F238E27FC236}">
                <a16:creationId xmlns:a16="http://schemas.microsoft.com/office/drawing/2014/main" id="{A6F5EE9A-4379-0857-DB6E-43C9222D9823}"/>
              </a:ext>
            </a:extLst>
          </p:cNvPr>
          <p:cNvSpPr/>
          <p:nvPr/>
        </p:nvSpPr>
        <p:spPr>
          <a:xfrm>
            <a:off x="2775857" y="2579701"/>
            <a:ext cx="6346372" cy="3353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7D98DEDC-0EDC-148D-8911-3DAD7F5356BF}"/>
              </a:ext>
            </a:extLst>
          </p:cNvPr>
          <p:cNvSpPr/>
          <p:nvPr/>
        </p:nvSpPr>
        <p:spPr>
          <a:xfrm>
            <a:off x="5037952" y="3700106"/>
            <a:ext cx="3583533"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9" name="テキスト ボックス 8">
            <a:extLst>
              <a:ext uri="{FF2B5EF4-FFF2-40B4-BE49-F238E27FC236}">
                <a16:creationId xmlns:a16="http://schemas.microsoft.com/office/drawing/2014/main" id="{E22728B1-24DE-5DE3-69FB-4BDBFC9663BC}"/>
              </a:ext>
            </a:extLst>
          </p:cNvPr>
          <p:cNvSpPr txBox="1"/>
          <p:nvPr/>
        </p:nvSpPr>
        <p:spPr>
          <a:xfrm>
            <a:off x="3000809" y="3769582"/>
            <a:ext cx="2031325" cy="461665"/>
          </a:xfrm>
          <a:prstGeom prst="rect">
            <a:avLst/>
          </a:prstGeom>
          <a:noFill/>
        </p:spPr>
        <p:txBody>
          <a:bodyPr wrap="none" rtlCol="0">
            <a:spAutoFit/>
          </a:bodyPr>
          <a:lstStyle/>
          <a:p>
            <a:r>
              <a:rPr kumimoji="1" lang="ja-JP" altLang="en-US" sz="2400" dirty="0">
                <a:solidFill>
                  <a:schemeClr val="bg1"/>
                </a:solidFill>
              </a:rPr>
              <a:t>ソート対象：</a:t>
            </a:r>
          </a:p>
        </p:txBody>
      </p:sp>
      <p:sp>
        <p:nvSpPr>
          <p:cNvPr id="10" name="テキスト ボックス 9">
            <a:extLst>
              <a:ext uri="{FF2B5EF4-FFF2-40B4-BE49-F238E27FC236}">
                <a16:creationId xmlns:a16="http://schemas.microsoft.com/office/drawing/2014/main" id="{DA354BB0-9A08-5012-B31F-EE2D1303E809}"/>
              </a:ext>
            </a:extLst>
          </p:cNvPr>
          <p:cNvSpPr txBox="1"/>
          <p:nvPr/>
        </p:nvSpPr>
        <p:spPr>
          <a:xfrm>
            <a:off x="5032134" y="2771845"/>
            <a:ext cx="1415772" cy="584775"/>
          </a:xfrm>
          <a:prstGeom prst="rect">
            <a:avLst/>
          </a:prstGeom>
          <a:noFill/>
        </p:spPr>
        <p:txBody>
          <a:bodyPr wrap="none" rtlCol="0">
            <a:spAutoFit/>
          </a:bodyPr>
          <a:lstStyle/>
          <a:p>
            <a:r>
              <a:rPr kumimoji="1" lang="ja-JP" altLang="en-US" sz="3200" dirty="0">
                <a:solidFill>
                  <a:schemeClr val="bg1"/>
                </a:solidFill>
              </a:rPr>
              <a:t>ソート</a:t>
            </a:r>
          </a:p>
        </p:txBody>
      </p:sp>
      <p:sp>
        <p:nvSpPr>
          <p:cNvPr id="11" name="テキスト ボックス 10">
            <a:extLst>
              <a:ext uri="{FF2B5EF4-FFF2-40B4-BE49-F238E27FC236}">
                <a16:creationId xmlns:a16="http://schemas.microsoft.com/office/drawing/2014/main" id="{A6FAD19E-72D0-D11C-BD05-71D25DF58407}"/>
              </a:ext>
            </a:extLst>
          </p:cNvPr>
          <p:cNvSpPr txBox="1"/>
          <p:nvPr/>
        </p:nvSpPr>
        <p:spPr>
          <a:xfrm>
            <a:off x="4223667" y="4780197"/>
            <a:ext cx="4448477" cy="461665"/>
          </a:xfrm>
          <a:prstGeom prst="rect">
            <a:avLst/>
          </a:prstGeom>
          <a:noFill/>
        </p:spPr>
        <p:txBody>
          <a:bodyPr wrap="square" rtlCol="0">
            <a:spAutoFit/>
          </a:bodyPr>
          <a:lstStyle/>
          <a:p>
            <a:r>
              <a:rPr kumimoji="1" lang="ja-JP" altLang="en-US" sz="2400" dirty="0"/>
              <a:t>●昇順　　　○降順</a:t>
            </a:r>
          </a:p>
        </p:txBody>
      </p:sp>
      <p:sp>
        <p:nvSpPr>
          <p:cNvPr id="12" name="二等辺三角形 11">
            <a:extLst>
              <a:ext uri="{FF2B5EF4-FFF2-40B4-BE49-F238E27FC236}">
                <a16:creationId xmlns:a16="http://schemas.microsoft.com/office/drawing/2014/main" id="{7A3B68A0-CCF0-B9EE-3AE1-A74758311DD8}"/>
              </a:ext>
            </a:extLst>
          </p:cNvPr>
          <p:cNvSpPr/>
          <p:nvPr/>
        </p:nvSpPr>
        <p:spPr>
          <a:xfrm rot="10800000">
            <a:off x="8089580" y="3876177"/>
            <a:ext cx="371752" cy="276425"/>
          </a:xfrm>
          <a:prstGeom prst="triangle">
            <a:avLst>
              <a:gd name="adj" fmla="val 4897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3888648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06D92-900E-9C05-D6D8-AA27BE3660D4}"/>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3D4A4904-126D-FD92-CF88-1FFD2B5F9A46}"/>
              </a:ext>
            </a:extLst>
          </p:cNvPr>
          <p:cNvSpPr/>
          <p:nvPr/>
        </p:nvSpPr>
        <p:spPr>
          <a:xfrm>
            <a:off x="0" y="925290"/>
            <a:ext cx="12192000"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FFFFFF"/>
              </a:solidFill>
              <a:uFillTx/>
              <a:latin typeface="游ゴシック"/>
              <a:ea typeface="游ゴシック" pitchFamily="50"/>
            </a:endParaRPr>
          </a:p>
        </p:txBody>
      </p:sp>
      <p:sp>
        <p:nvSpPr>
          <p:cNvPr id="4" name="テキスト ボックス 5">
            <a:extLst>
              <a:ext uri="{FF2B5EF4-FFF2-40B4-BE49-F238E27FC236}">
                <a16:creationId xmlns:a16="http://schemas.microsoft.com/office/drawing/2014/main" id="{5D75DBC3-29E1-5534-1067-C30EDC3247B9}"/>
              </a:ext>
            </a:extLst>
          </p:cNvPr>
          <p:cNvSpPr txBox="1"/>
          <p:nvPr/>
        </p:nvSpPr>
        <p:spPr>
          <a:xfrm>
            <a:off x="400828" y="1097007"/>
            <a:ext cx="3475927"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3600" b="0" i="0" u="none" strike="noStrike" kern="1200" cap="none" spc="0" baseline="0" dirty="0">
                <a:solidFill>
                  <a:srgbClr val="FFFFFF"/>
                </a:solidFill>
                <a:uFillTx/>
                <a:latin typeface="游ゴシック"/>
                <a:ea typeface="游ゴシック" pitchFamily="50"/>
              </a:rPr>
              <a:t>エンジニア一覧</a:t>
            </a:r>
            <a:endParaRPr lang="en-US" sz="3600" b="0" i="0" u="none" strike="noStrike" kern="1200" cap="none" spc="0" baseline="0" dirty="0">
              <a:solidFill>
                <a:srgbClr val="FFFFFF"/>
              </a:solidFill>
              <a:uFillTx/>
              <a:latin typeface="游ゴシック"/>
              <a:ea typeface="游ゴシック" pitchFamily="50"/>
            </a:endParaRPr>
          </a:p>
        </p:txBody>
      </p:sp>
      <p:sp>
        <p:nvSpPr>
          <p:cNvPr id="6" name="正方形/長方形 6">
            <a:extLst>
              <a:ext uri="{FF2B5EF4-FFF2-40B4-BE49-F238E27FC236}">
                <a16:creationId xmlns:a16="http://schemas.microsoft.com/office/drawing/2014/main" id="{0CB88C5F-CD13-011B-4134-41F3505B9930}"/>
              </a:ext>
            </a:extLst>
          </p:cNvPr>
          <p:cNvSpPr/>
          <p:nvPr/>
        </p:nvSpPr>
        <p:spPr>
          <a:xfrm>
            <a:off x="9428622" y="1134209"/>
            <a:ext cx="2573321" cy="507204"/>
          </a:xfrm>
          <a:prstGeom prst="rect">
            <a:avLst/>
          </a:prstGeom>
          <a:solidFill>
            <a:srgbClr val="D9D9D9"/>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BAFF9BE7-7E72-2FA1-0DC0-C942D8097EBB}"/>
              </a:ext>
            </a:extLst>
          </p:cNvPr>
          <p:cNvSpPr txBox="1"/>
          <p:nvPr/>
        </p:nvSpPr>
        <p:spPr>
          <a:xfrm>
            <a:off x="304796" y="195946"/>
            <a:ext cx="4586512"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1</a:t>
            </a:r>
            <a:r>
              <a:rPr lang="en-US" altLang="ja-JP" sz="3600" b="0" i="0" u="none" strike="noStrike" kern="1200" cap="none" spc="0" baseline="0" dirty="0">
                <a:solidFill>
                  <a:srgbClr val="000000"/>
                </a:solidFill>
                <a:uFillTx/>
                <a:latin typeface="游ゴシック"/>
                <a:ea typeface="游ゴシック" pitchFamily="50"/>
              </a:rPr>
              <a:t>-4</a:t>
            </a:r>
            <a:r>
              <a:rPr lang="ja-JP" sz="3600" b="0" i="0" u="none" strike="noStrike" kern="1200" cap="none" spc="0" baseline="0" dirty="0">
                <a:solidFill>
                  <a:srgbClr val="000000"/>
                </a:solidFill>
                <a:uFillTx/>
                <a:latin typeface="游ゴシック"/>
                <a:ea typeface="游ゴシック" pitchFamily="50"/>
              </a:rPr>
              <a:t>　</a:t>
            </a:r>
            <a:r>
              <a:rPr lang="ja-JP" altLang="en-US" sz="3600" b="0" i="0" u="none" strike="noStrike" kern="1200" cap="none" spc="0" baseline="0" dirty="0">
                <a:solidFill>
                  <a:srgbClr val="000000"/>
                </a:solidFill>
                <a:uFillTx/>
                <a:latin typeface="游ゴシック"/>
                <a:ea typeface="游ゴシック" pitchFamily="50"/>
              </a:rPr>
              <a:t>ソート機能</a:t>
            </a:r>
            <a:endParaRPr lang="en-US" sz="3600" b="0" i="0" u="none" strike="noStrike" kern="1200" cap="none" spc="0" baseline="0" dirty="0">
              <a:solidFill>
                <a:srgbClr val="000000"/>
              </a:solidFill>
              <a:uFillTx/>
              <a:latin typeface="游ゴシック"/>
              <a:ea typeface="游ゴシック" pitchFamily="50"/>
            </a:endParaRPr>
          </a:p>
        </p:txBody>
      </p:sp>
      <p:sp>
        <p:nvSpPr>
          <p:cNvPr id="20" name="円: 塗りつぶしなし 19">
            <a:extLst>
              <a:ext uri="{FF2B5EF4-FFF2-40B4-BE49-F238E27FC236}">
                <a16:creationId xmlns:a16="http://schemas.microsoft.com/office/drawing/2014/main" id="{4DD8AA3C-DABF-ACD6-EE91-61BB0E6143FD}"/>
              </a:ext>
            </a:extLst>
          </p:cNvPr>
          <p:cNvSpPr/>
          <p:nvPr/>
        </p:nvSpPr>
        <p:spPr>
          <a:xfrm>
            <a:off x="11457974" y="1194833"/>
            <a:ext cx="283642" cy="266941"/>
          </a:xfrm>
          <a:prstGeom prst="donu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正方形/長方形 23">
            <a:extLst>
              <a:ext uri="{FF2B5EF4-FFF2-40B4-BE49-F238E27FC236}">
                <a16:creationId xmlns:a16="http://schemas.microsoft.com/office/drawing/2014/main" id="{B64E6745-11C1-2D66-5357-9EBF509F1C22}"/>
              </a:ext>
            </a:extLst>
          </p:cNvPr>
          <p:cNvSpPr/>
          <p:nvPr/>
        </p:nvSpPr>
        <p:spPr>
          <a:xfrm rot="7871681">
            <a:off x="11742067" y="1340078"/>
            <a:ext cx="45719" cy="274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6429824E-8C26-7911-E618-A00DD5C8B39D}"/>
              </a:ext>
            </a:extLst>
          </p:cNvPr>
          <p:cNvSpPr/>
          <p:nvPr/>
        </p:nvSpPr>
        <p:spPr>
          <a:xfrm>
            <a:off x="5228418"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A04954C7-C71B-6ED9-82AE-398A4D322259}"/>
              </a:ext>
            </a:extLst>
          </p:cNvPr>
          <p:cNvSpPr/>
          <p:nvPr/>
        </p:nvSpPr>
        <p:spPr>
          <a:xfrm>
            <a:off x="7132199" y="1894627"/>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4BF9943E-C68B-EC5F-19E6-45EC21E980C4}"/>
              </a:ext>
            </a:extLst>
          </p:cNvPr>
          <p:cNvSpPr/>
          <p:nvPr/>
        </p:nvSpPr>
        <p:spPr>
          <a:xfrm>
            <a:off x="9035980"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C5628FFC-FF73-C4F6-C12B-401FC7CF9527}"/>
              </a:ext>
            </a:extLst>
          </p:cNvPr>
          <p:cNvSpPr/>
          <p:nvPr/>
        </p:nvSpPr>
        <p:spPr>
          <a:xfrm>
            <a:off x="10939761"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0" name="表 29">
            <a:extLst>
              <a:ext uri="{FF2B5EF4-FFF2-40B4-BE49-F238E27FC236}">
                <a16:creationId xmlns:a16="http://schemas.microsoft.com/office/drawing/2014/main" id="{815EBA4D-D406-EBE7-3ED4-880EEF1C98BF}"/>
              </a:ext>
            </a:extLst>
          </p:cNvPr>
          <p:cNvGraphicFramePr>
            <a:graphicFrameLocks noGrp="1"/>
          </p:cNvGraphicFramePr>
          <p:nvPr/>
        </p:nvGraphicFramePr>
        <p:xfrm>
          <a:off x="0" y="2579700"/>
          <a:ext cx="12192000" cy="4278304"/>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843818313"/>
                    </a:ext>
                  </a:extLst>
                </a:gridCol>
                <a:gridCol w="685800">
                  <a:extLst>
                    <a:ext uri="{9D8B030D-6E8A-4147-A177-3AD203B41FA5}">
                      <a16:colId xmlns:a16="http://schemas.microsoft.com/office/drawing/2014/main" val="2593793615"/>
                    </a:ext>
                  </a:extLst>
                </a:gridCol>
                <a:gridCol w="956733">
                  <a:extLst>
                    <a:ext uri="{9D8B030D-6E8A-4147-A177-3AD203B41FA5}">
                      <a16:colId xmlns:a16="http://schemas.microsoft.com/office/drawing/2014/main" val="3819324818"/>
                    </a:ext>
                  </a:extLst>
                </a:gridCol>
                <a:gridCol w="990600">
                  <a:extLst>
                    <a:ext uri="{9D8B030D-6E8A-4147-A177-3AD203B41FA5}">
                      <a16:colId xmlns:a16="http://schemas.microsoft.com/office/drawing/2014/main" val="582941768"/>
                    </a:ext>
                  </a:extLst>
                </a:gridCol>
                <a:gridCol w="1312334">
                  <a:extLst>
                    <a:ext uri="{9D8B030D-6E8A-4147-A177-3AD203B41FA5}">
                      <a16:colId xmlns:a16="http://schemas.microsoft.com/office/drawing/2014/main" val="326648018"/>
                    </a:ext>
                  </a:extLst>
                </a:gridCol>
                <a:gridCol w="533400">
                  <a:extLst>
                    <a:ext uri="{9D8B030D-6E8A-4147-A177-3AD203B41FA5}">
                      <a16:colId xmlns:a16="http://schemas.microsoft.com/office/drawing/2014/main" val="3442362932"/>
                    </a:ext>
                  </a:extLst>
                </a:gridCol>
                <a:gridCol w="584200">
                  <a:extLst>
                    <a:ext uri="{9D8B030D-6E8A-4147-A177-3AD203B41FA5}">
                      <a16:colId xmlns:a16="http://schemas.microsoft.com/office/drawing/2014/main" val="1894457544"/>
                    </a:ext>
                  </a:extLst>
                </a:gridCol>
                <a:gridCol w="1075266">
                  <a:extLst>
                    <a:ext uri="{9D8B030D-6E8A-4147-A177-3AD203B41FA5}">
                      <a16:colId xmlns:a16="http://schemas.microsoft.com/office/drawing/2014/main" val="3378677225"/>
                    </a:ext>
                  </a:extLst>
                </a:gridCol>
                <a:gridCol w="804334">
                  <a:extLst>
                    <a:ext uri="{9D8B030D-6E8A-4147-A177-3AD203B41FA5}">
                      <a16:colId xmlns:a16="http://schemas.microsoft.com/office/drawing/2014/main" val="2724634915"/>
                    </a:ext>
                  </a:extLst>
                </a:gridCol>
                <a:gridCol w="1100666">
                  <a:extLst>
                    <a:ext uri="{9D8B030D-6E8A-4147-A177-3AD203B41FA5}">
                      <a16:colId xmlns:a16="http://schemas.microsoft.com/office/drawing/2014/main" val="2886769858"/>
                    </a:ext>
                  </a:extLst>
                </a:gridCol>
                <a:gridCol w="2269067">
                  <a:extLst>
                    <a:ext uri="{9D8B030D-6E8A-4147-A177-3AD203B41FA5}">
                      <a16:colId xmlns:a16="http://schemas.microsoft.com/office/drawing/2014/main" val="638158319"/>
                    </a:ext>
                  </a:extLst>
                </a:gridCol>
                <a:gridCol w="1371600">
                  <a:extLst>
                    <a:ext uri="{9D8B030D-6E8A-4147-A177-3AD203B41FA5}">
                      <a16:colId xmlns:a16="http://schemas.microsoft.com/office/drawing/2014/main" val="3725689978"/>
                    </a:ext>
                  </a:extLst>
                </a:gridCol>
              </a:tblGrid>
              <a:tr h="534788">
                <a:tc>
                  <a:txBody>
                    <a:bodyPr/>
                    <a:lstStyle/>
                    <a:p>
                      <a:pPr algn="ctr"/>
                      <a:r>
                        <a:rPr kumimoji="1" lang="ja-JP" altLang="en-US" sz="1200" dirty="0"/>
                        <a:t>氏名</a:t>
                      </a:r>
                    </a:p>
                  </a:txBody>
                  <a:tcPr/>
                </a:tc>
                <a:tc>
                  <a:txBody>
                    <a:bodyPr/>
                    <a:lstStyle/>
                    <a:p>
                      <a:pPr algn="ctr"/>
                      <a:r>
                        <a:rPr kumimoji="1" lang="ja-JP" altLang="en-US" sz="1200" dirty="0"/>
                        <a:t>社員</a:t>
                      </a:r>
                      <a:r>
                        <a:rPr kumimoji="1" lang="en-US" altLang="ja-JP" sz="1200" dirty="0"/>
                        <a:t>ID</a:t>
                      </a:r>
                      <a:endParaRPr kumimoji="1" lang="ja-JP" altLang="en-US" sz="1200" dirty="0"/>
                    </a:p>
                  </a:txBody>
                  <a:tcPr/>
                </a:tc>
                <a:tc>
                  <a:txBody>
                    <a:bodyPr/>
                    <a:lstStyle/>
                    <a:p>
                      <a:pPr algn="ctr"/>
                      <a:r>
                        <a:rPr kumimoji="1" lang="ja-JP" altLang="en-US" sz="1200" dirty="0"/>
                        <a:t>生年月日</a:t>
                      </a:r>
                    </a:p>
                  </a:txBody>
                  <a:tcPr/>
                </a:tc>
                <a:tc>
                  <a:txBody>
                    <a:bodyPr/>
                    <a:lstStyle/>
                    <a:p>
                      <a:pPr algn="ctr"/>
                      <a:r>
                        <a:rPr kumimoji="1" lang="ja-JP" altLang="en-US" sz="1200" dirty="0"/>
                        <a:t>入社年月</a:t>
                      </a:r>
                    </a:p>
                  </a:txBody>
                  <a:tcPr/>
                </a:tc>
                <a:tc>
                  <a:txBody>
                    <a:bodyPr/>
                    <a:lstStyle/>
                    <a:p>
                      <a:pPr algn="ctr"/>
                      <a:r>
                        <a:rPr kumimoji="1" lang="ja-JP" altLang="en-US" sz="1200" dirty="0"/>
                        <a:t>エンジニア歴</a:t>
                      </a:r>
                    </a:p>
                  </a:txBody>
                  <a:tcPr/>
                </a:tc>
                <a:tc>
                  <a:txBody>
                    <a:bodyPr/>
                    <a:lstStyle/>
                    <a:p>
                      <a:pPr algn="ctr"/>
                      <a:r>
                        <a:rPr kumimoji="1" lang="ja-JP" altLang="en-US" sz="1200" dirty="0"/>
                        <a:t>言語</a:t>
                      </a:r>
                    </a:p>
                  </a:txBody>
                  <a:tcPr/>
                </a:tc>
                <a:tc>
                  <a:txBody>
                    <a:bodyPr/>
                    <a:lstStyle/>
                    <a:p>
                      <a:pPr algn="ctr"/>
                      <a:r>
                        <a:rPr kumimoji="1" lang="ja-JP" altLang="en-US" sz="1200" dirty="0"/>
                        <a:t>経歴</a:t>
                      </a:r>
                    </a:p>
                  </a:txBody>
                  <a:tcPr/>
                </a:tc>
                <a:tc>
                  <a:txBody>
                    <a:bodyPr/>
                    <a:lstStyle/>
                    <a:p>
                      <a:pPr algn="ctr"/>
                      <a:r>
                        <a:rPr kumimoji="1" lang="ja-JP" altLang="en-US" sz="1200" dirty="0"/>
                        <a:t>研修受講歴</a:t>
                      </a:r>
                    </a:p>
                  </a:txBody>
                  <a:tcPr/>
                </a:tc>
                <a:tc>
                  <a:txBody>
                    <a:bodyPr/>
                    <a:lstStyle/>
                    <a:p>
                      <a:pPr algn="ctr"/>
                      <a:r>
                        <a:rPr kumimoji="1" lang="ja-JP" altLang="en-US" sz="1200" dirty="0"/>
                        <a:t>技術力</a:t>
                      </a:r>
                    </a:p>
                  </a:txBody>
                  <a:tcPr/>
                </a:tc>
                <a:tc>
                  <a:txBody>
                    <a:bodyPr/>
                    <a:lstStyle/>
                    <a:p>
                      <a:pPr algn="ctr"/>
                      <a:r>
                        <a:rPr kumimoji="1" lang="ja-JP" altLang="en-US" sz="1200" dirty="0"/>
                        <a:t>受講態度</a:t>
                      </a:r>
                    </a:p>
                  </a:txBody>
                  <a:tcPr/>
                </a:tc>
                <a:tc>
                  <a:txBody>
                    <a:bodyPr/>
                    <a:lstStyle/>
                    <a:p>
                      <a:pPr algn="ctr"/>
                      <a:r>
                        <a:rPr kumimoji="1" lang="ja-JP" altLang="en-US" sz="1200" dirty="0"/>
                        <a:t>コミュニケーション能力</a:t>
                      </a:r>
                    </a:p>
                  </a:txBody>
                  <a:tcPr/>
                </a:tc>
                <a:tc>
                  <a:txBody>
                    <a:bodyPr/>
                    <a:lstStyle/>
                    <a:p>
                      <a:pPr algn="ctr"/>
                      <a:r>
                        <a:rPr kumimoji="1" lang="ja-JP" altLang="en-US" sz="1200" dirty="0"/>
                        <a:t>リーダーシップ</a:t>
                      </a:r>
                    </a:p>
                  </a:txBody>
                  <a:tcPr/>
                </a:tc>
                <a:extLst>
                  <a:ext uri="{0D108BD9-81ED-4DB2-BD59-A6C34878D82A}">
                    <a16:rowId xmlns:a16="http://schemas.microsoft.com/office/drawing/2014/main" val="3031805351"/>
                  </a:ext>
                </a:extLst>
              </a:tr>
              <a:tr h="534788">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181288494"/>
                  </a:ext>
                </a:extLst>
              </a:tr>
              <a:tr h="534788">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841193060"/>
                  </a:ext>
                </a:extLst>
              </a:tr>
              <a:tr h="534788">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125601969"/>
                  </a:ext>
                </a:extLst>
              </a:tr>
              <a:tr h="534788">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267473416"/>
                  </a:ext>
                </a:extLst>
              </a:tr>
              <a:tr h="534788">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761762557"/>
                  </a:ext>
                </a:extLst>
              </a:tr>
              <a:tr h="534788">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902287736"/>
                  </a:ext>
                </a:extLst>
              </a:tr>
              <a:tr h="534788">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924052398"/>
                  </a:ext>
                </a:extLst>
              </a:tr>
            </a:tbl>
          </a:graphicData>
        </a:graphic>
      </p:graphicFrame>
      <p:sp>
        <p:nvSpPr>
          <p:cNvPr id="31" name="テキスト ボックス 30">
            <a:extLst>
              <a:ext uri="{FF2B5EF4-FFF2-40B4-BE49-F238E27FC236}">
                <a16:creationId xmlns:a16="http://schemas.microsoft.com/office/drawing/2014/main" id="{6F58CC13-5AC3-62D2-3647-F6CE96B84692}"/>
              </a:ext>
            </a:extLst>
          </p:cNvPr>
          <p:cNvSpPr txBox="1"/>
          <p:nvPr/>
        </p:nvSpPr>
        <p:spPr>
          <a:xfrm>
            <a:off x="5362247" y="1925891"/>
            <a:ext cx="914400" cy="369332"/>
          </a:xfrm>
          <a:prstGeom prst="rect">
            <a:avLst/>
          </a:prstGeom>
          <a:noFill/>
        </p:spPr>
        <p:txBody>
          <a:bodyPr wrap="square" rtlCol="0">
            <a:spAutoFit/>
          </a:bodyPr>
          <a:lstStyle/>
          <a:p>
            <a:r>
              <a:rPr kumimoji="1" lang="ja-JP" altLang="en-US" dirty="0">
                <a:solidFill>
                  <a:schemeClr val="bg1"/>
                </a:solidFill>
              </a:rPr>
              <a:t>ソート</a:t>
            </a:r>
          </a:p>
        </p:txBody>
      </p:sp>
      <p:sp>
        <p:nvSpPr>
          <p:cNvPr id="33" name="テキスト ボックス 32">
            <a:extLst>
              <a:ext uri="{FF2B5EF4-FFF2-40B4-BE49-F238E27FC236}">
                <a16:creationId xmlns:a16="http://schemas.microsoft.com/office/drawing/2014/main" id="{7AFBDB2D-9B97-B154-7823-5E36A92430BA}"/>
              </a:ext>
            </a:extLst>
          </p:cNvPr>
          <p:cNvSpPr txBox="1"/>
          <p:nvPr/>
        </p:nvSpPr>
        <p:spPr>
          <a:xfrm>
            <a:off x="7361056" y="1923575"/>
            <a:ext cx="914400" cy="369332"/>
          </a:xfrm>
          <a:prstGeom prst="rect">
            <a:avLst/>
          </a:prstGeom>
          <a:noFill/>
        </p:spPr>
        <p:txBody>
          <a:bodyPr wrap="square" rtlCol="0">
            <a:spAutoFit/>
          </a:bodyPr>
          <a:lstStyle/>
          <a:p>
            <a:r>
              <a:rPr kumimoji="1" lang="ja-JP" altLang="en-US" dirty="0">
                <a:solidFill>
                  <a:schemeClr val="bg1"/>
                </a:solidFill>
              </a:rPr>
              <a:t>選択</a:t>
            </a:r>
          </a:p>
        </p:txBody>
      </p:sp>
      <p:sp>
        <p:nvSpPr>
          <p:cNvPr id="34" name="テキスト ボックス 33">
            <a:extLst>
              <a:ext uri="{FF2B5EF4-FFF2-40B4-BE49-F238E27FC236}">
                <a16:creationId xmlns:a16="http://schemas.microsoft.com/office/drawing/2014/main" id="{C07A32F2-E970-B3DF-47B8-73614220D09F}"/>
              </a:ext>
            </a:extLst>
          </p:cNvPr>
          <p:cNvSpPr txBox="1"/>
          <p:nvPr/>
        </p:nvSpPr>
        <p:spPr>
          <a:xfrm>
            <a:off x="9243905" y="1923575"/>
            <a:ext cx="646331" cy="369332"/>
          </a:xfrm>
          <a:prstGeom prst="rect">
            <a:avLst/>
          </a:prstGeom>
          <a:noFill/>
        </p:spPr>
        <p:txBody>
          <a:bodyPr wrap="none" rtlCol="0">
            <a:spAutoFit/>
          </a:bodyPr>
          <a:lstStyle/>
          <a:p>
            <a:r>
              <a:rPr kumimoji="1" lang="ja-JP" altLang="en-US" dirty="0">
                <a:solidFill>
                  <a:schemeClr val="bg1"/>
                </a:solidFill>
              </a:rPr>
              <a:t>追加</a:t>
            </a:r>
          </a:p>
        </p:txBody>
      </p:sp>
      <p:sp>
        <p:nvSpPr>
          <p:cNvPr id="35" name="テキスト ボックス 34">
            <a:extLst>
              <a:ext uri="{FF2B5EF4-FFF2-40B4-BE49-F238E27FC236}">
                <a16:creationId xmlns:a16="http://schemas.microsoft.com/office/drawing/2014/main" id="{BF0152C6-65B9-FAF6-54B3-DB3B60F629EA}"/>
              </a:ext>
            </a:extLst>
          </p:cNvPr>
          <p:cNvSpPr txBox="1"/>
          <p:nvPr/>
        </p:nvSpPr>
        <p:spPr>
          <a:xfrm>
            <a:off x="11147686" y="1923575"/>
            <a:ext cx="646331" cy="369332"/>
          </a:xfrm>
          <a:prstGeom prst="rect">
            <a:avLst/>
          </a:prstGeom>
          <a:noFill/>
        </p:spPr>
        <p:txBody>
          <a:bodyPr wrap="none" rtlCol="0">
            <a:spAutoFit/>
          </a:bodyPr>
          <a:lstStyle/>
          <a:p>
            <a:r>
              <a:rPr kumimoji="1" lang="ja-JP" altLang="en-US" dirty="0">
                <a:solidFill>
                  <a:schemeClr val="bg1"/>
                </a:solidFill>
              </a:rPr>
              <a:t>出力</a:t>
            </a:r>
          </a:p>
        </p:txBody>
      </p:sp>
      <p:sp>
        <p:nvSpPr>
          <p:cNvPr id="2" name="正方形/長方形 1">
            <a:extLst>
              <a:ext uri="{FF2B5EF4-FFF2-40B4-BE49-F238E27FC236}">
                <a16:creationId xmlns:a16="http://schemas.microsoft.com/office/drawing/2014/main" id="{86AA9440-85D1-8F6B-A3A6-7ECE30C13115}"/>
              </a:ext>
            </a:extLst>
          </p:cNvPr>
          <p:cNvSpPr/>
          <p:nvPr/>
        </p:nvSpPr>
        <p:spPr>
          <a:xfrm>
            <a:off x="2775857" y="2579701"/>
            <a:ext cx="6346372" cy="3353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488E14DA-34A1-37DC-1913-FE5DB032285D}"/>
              </a:ext>
            </a:extLst>
          </p:cNvPr>
          <p:cNvSpPr/>
          <p:nvPr/>
        </p:nvSpPr>
        <p:spPr>
          <a:xfrm>
            <a:off x="5037952" y="3700106"/>
            <a:ext cx="3583533"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9" name="テキスト ボックス 8">
            <a:extLst>
              <a:ext uri="{FF2B5EF4-FFF2-40B4-BE49-F238E27FC236}">
                <a16:creationId xmlns:a16="http://schemas.microsoft.com/office/drawing/2014/main" id="{06E577AF-1CB0-5138-F80D-09D0C23F162A}"/>
              </a:ext>
            </a:extLst>
          </p:cNvPr>
          <p:cNvSpPr txBox="1"/>
          <p:nvPr/>
        </p:nvSpPr>
        <p:spPr>
          <a:xfrm>
            <a:off x="3000809" y="3769582"/>
            <a:ext cx="2031325" cy="461665"/>
          </a:xfrm>
          <a:prstGeom prst="rect">
            <a:avLst/>
          </a:prstGeom>
          <a:noFill/>
        </p:spPr>
        <p:txBody>
          <a:bodyPr wrap="none" rtlCol="0">
            <a:spAutoFit/>
          </a:bodyPr>
          <a:lstStyle/>
          <a:p>
            <a:r>
              <a:rPr kumimoji="1" lang="ja-JP" altLang="en-US" sz="2400" dirty="0">
                <a:solidFill>
                  <a:schemeClr val="bg1"/>
                </a:solidFill>
              </a:rPr>
              <a:t>ソート対象：</a:t>
            </a:r>
          </a:p>
        </p:txBody>
      </p:sp>
      <p:sp>
        <p:nvSpPr>
          <p:cNvPr id="10" name="テキスト ボックス 9">
            <a:extLst>
              <a:ext uri="{FF2B5EF4-FFF2-40B4-BE49-F238E27FC236}">
                <a16:creationId xmlns:a16="http://schemas.microsoft.com/office/drawing/2014/main" id="{A769E7BE-849A-032E-DECC-14BAA2386C81}"/>
              </a:ext>
            </a:extLst>
          </p:cNvPr>
          <p:cNvSpPr txBox="1"/>
          <p:nvPr/>
        </p:nvSpPr>
        <p:spPr>
          <a:xfrm>
            <a:off x="5032134" y="2771845"/>
            <a:ext cx="1415772" cy="584775"/>
          </a:xfrm>
          <a:prstGeom prst="rect">
            <a:avLst/>
          </a:prstGeom>
          <a:noFill/>
        </p:spPr>
        <p:txBody>
          <a:bodyPr wrap="none" rtlCol="0">
            <a:spAutoFit/>
          </a:bodyPr>
          <a:lstStyle/>
          <a:p>
            <a:r>
              <a:rPr kumimoji="1" lang="ja-JP" altLang="en-US" sz="3200" dirty="0">
                <a:solidFill>
                  <a:schemeClr val="bg1"/>
                </a:solidFill>
              </a:rPr>
              <a:t>ソート</a:t>
            </a:r>
          </a:p>
        </p:txBody>
      </p:sp>
      <p:sp>
        <p:nvSpPr>
          <p:cNvPr id="11" name="テキスト ボックス 10">
            <a:extLst>
              <a:ext uri="{FF2B5EF4-FFF2-40B4-BE49-F238E27FC236}">
                <a16:creationId xmlns:a16="http://schemas.microsoft.com/office/drawing/2014/main" id="{D6AA64F3-0E56-9E53-DE4C-ACF188419357}"/>
              </a:ext>
            </a:extLst>
          </p:cNvPr>
          <p:cNvSpPr txBox="1"/>
          <p:nvPr/>
        </p:nvSpPr>
        <p:spPr>
          <a:xfrm>
            <a:off x="4223667" y="4780197"/>
            <a:ext cx="4448477" cy="461665"/>
          </a:xfrm>
          <a:prstGeom prst="rect">
            <a:avLst/>
          </a:prstGeom>
          <a:noFill/>
        </p:spPr>
        <p:txBody>
          <a:bodyPr wrap="square" rtlCol="0">
            <a:spAutoFit/>
          </a:bodyPr>
          <a:lstStyle/>
          <a:p>
            <a:r>
              <a:rPr kumimoji="1" lang="ja-JP" altLang="en-US" sz="2400" dirty="0"/>
              <a:t>●昇順　　　○降順</a:t>
            </a:r>
          </a:p>
        </p:txBody>
      </p:sp>
      <p:sp>
        <p:nvSpPr>
          <p:cNvPr id="12" name="二等辺三角形 11">
            <a:extLst>
              <a:ext uri="{FF2B5EF4-FFF2-40B4-BE49-F238E27FC236}">
                <a16:creationId xmlns:a16="http://schemas.microsoft.com/office/drawing/2014/main" id="{4B7F6C6A-CCB7-CB8F-EB3B-73B3BCB0217D}"/>
              </a:ext>
            </a:extLst>
          </p:cNvPr>
          <p:cNvSpPr/>
          <p:nvPr/>
        </p:nvSpPr>
        <p:spPr>
          <a:xfrm>
            <a:off x="8089580" y="3876177"/>
            <a:ext cx="371752" cy="276425"/>
          </a:xfrm>
          <a:prstGeom prst="triangle">
            <a:avLst>
              <a:gd name="adj" fmla="val 4897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74F3D872-5AFE-2DF5-138D-D5A61677CF6D}"/>
              </a:ext>
            </a:extLst>
          </p:cNvPr>
          <p:cNvSpPr/>
          <p:nvPr/>
        </p:nvSpPr>
        <p:spPr>
          <a:xfrm>
            <a:off x="5037952" y="4259197"/>
            <a:ext cx="3583533"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3" name="正方形/長方形 12">
            <a:extLst>
              <a:ext uri="{FF2B5EF4-FFF2-40B4-BE49-F238E27FC236}">
                <a16:creationId xmlns:a16="http://schemas.microsoft.com/office/drawing/2014/main" id="{E47BE0D1-F7B2-2877-6E70-3D7C38605199}"/>
              </a:ext>
            </a:extLst>
          </p:cNvPr>
          <p:cNvSpPr/>
          <p:nvPr/>
        </p:nvSpPr>
        <p:spPr>
          <a:xfrm>
            <a:off x="5037951" y="4808147"/>
            <a:ext cx="3583533"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4" name="正方形/長方形 13">
            <a:extLst>
              <a:ext uri="{FF2B5EF4-FFF2-40B4-BE49-F238E27FC236}">
                <a16:creationId xmlns:a16="http://schemas.microsoft.com/office/drawing/2014/main" id="{1608818A-9821-39B7-F1D3-47621F07E9B4}"/>
              </a:ext>
            </a:extLst>
          </p:cNvPr>
          <p:cNvSpPr/>
          <p:nvPr/>
        </p:nvSpPr>
        <p:spPr>
          <a:xfrm>
            <a:off x="5037951" y="5939958"/>
            <a:ext cx="3583533"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5" name="正方形/長方形 14">
            <a:extLst>
              <a:ext uri="{FF2B5EF4-FFF2-40B4-BE49-F238E27FC236}">
                <a16:creationId xmlns:a16="http://schemas.microsoft.com/office/drawing/2014/main" id="{85303554-879E-43D4-55DD-40085EABDA93}"/>
              </a:ext>
            </a:extLst>
          </p:cNvPr>
          <p:cNvSpPr/>
          <p:nvPr/>
        </p:nvSpPr>
        <p:spPr>
          <a:xfrm>
            <a:off x="5037951" y="5366103"/>
            <a:ext cx="3583533"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6" name="テキスト ボックス 15">
            <a:extLst>
              <a:ext uri="{FF2B5EF4-FFF2-40B4-BE49-F238E27FC236}">
                <a16:creationId xmlns:a16="http://schemas.microsoft.com/office/drawing/2014/main" id="{FFDDAFEE-718E-4BE0-DCDD-837600D725B6}"/>
              </a:ext>
            </a:extLst>
          </p:cNvPr>
          <p:cNvSpPr txBox="1"/>
          <p:nvPr/>
        </p:nvSpPr>
        <p:spPr>
          <a:xfrm>
            <a:off x="5647686" y="4331924"/>
            <a:ext cx="800219" cy="461665"/>
          </a:xfrm>
          <a:prstGeom prst="rect">
            <a:avLst/>
          </a:prstGeom>
          <a:noFill/>
        </p:spPr>
        <p:txBody>
          <a:bodyPr wrap="none" rtlCol="0">
            <a:spAutoFit/>
          </a:bodyPr>
          <a:lstStyle/>
          <a:p>
            <a:r>
              <a:rPr kumimoji="1" lang="ja-JP" altLang="en-US" sz="2400" dirty="0">
                <a:solidFill>
                  <a:schemeClr val="bg1"/>
                </a:solidFill>
              </a:rPr>
              <a:t>氏名</a:t>
            </a:r>
            <a:endParaRPr kumimoji="1" lang="en-US" altLang="ja-JP" sz="2400" dirty="0">
              <a:solidFill>
                <a:schemeClr val="bg1"/>
              </a:solidFill>
            </a:endParaRPr>
          </a:p>
        </p:txBody>
      </p:sp>
      <p:sp>
        <p:nvSpPr>
          <p:cNvPr id="17" name="テキスト ボックス 16">
            <a:extLst>
              <a:ext uri="{FF2B5EF4-FFF2-40B4-BE49-F238E27FC236}">
                <a16:creationId xmlns:a16="http://schemas.microsoft.com/office/drawing/2014/main" id="{BEF3A4AE-0C6A-E509-124D-D6B6B9BAD897}"/>
              </a:ext>
            </a:extLst>
          </p:cNvPr>
          <p:cNvSpPr txBox="1"/>
          <p:nvPr/>
        </p:nvSpPr>
        <p:spPr>
          <a:xfrm>
            <a:off x="5647686" y="4887612"/>
            <a:ext cx="1119217" cy="461665"/>
          </a:xfrm>
          <a:prstGeom prst="rect">
            <a:avLst/>
          </a:prstGeom>
          <a:noFill/>
        </p:spPr>
        <p:txBody>
          <a:bodyPr wrap="none" rtlCol="0">
            <a:spAutoFit/>
          </a:bodyPr>
          <a:lstStyle/>
          <a:p>
            <a:r>
              <a:rPr kumimoji="1" lang="ja-JP" altLang="en-US" sz="2400" dirty="0">
                <a:solidFill>
                  <a:schemeClr val="bg1"/>
                </a:solidFill>
              </a:rPr>
              <a:t>社員</a:t>
            </a:r>
            <a:r>
              <a:rPr kumimoji="1" lang="en-US" altLang="ja-JP" sz="2400" dirty="0">
                <a:solidFill>
                  <a:schemeClr val="bg1"/>
                </a:solidFill>
              </a:rPr>
              <a:t>ID</a:t>
            </a:r>
            <a:endParaRPr kumimoji="1" lang="ja-JP" altLang="en-US" sz="2400" dirty="0">
              <a:solidFill>
                <a:schemeClr val="bg1"/>
              </a:solidFill>
            </a:endParaRPr>
          </a:p>
        </p:txBody>
      </p:sp>
      <p:sp>
        <p:nvSpPr>
          <p:cNvPr id="18" name="テキスト ボックス 17">
            <a:extLst>
              <a:ext uri="{FF2B5EF4-FFF2-40B4-BE49-F238E27FC236}">
                <a16:creationId xmlns:a16="http://schemas.microsoft.com/office/drawing/2014/main" id="{890C629C-7CBB-190E-8FF4-778F9B371D88}"/>
              </a:ext>
            </a:extLst>
          </p:cNvPr>
          <p:cNvSpPr txBox="1"/>
          <p:nvPr/>
        </p:nvSpPr>
        <p:spPr>
          <a:xfrm>
            <a:off x="5647686" y="5414815"/>
            <a:ext cx="800219" cy="461665"/>
          </a:xfrm>
          <a:prstGeom prst="rect">
            <a:avLst/>
          </a:prstGeom>
          <a:noFill/>
        </p:spPr>
        <p:txBody>
          <a:bodyPr wrap="none" rtlCol="0">
            <a:spAutoFit/>
          </a:bodyPr>
          <a:lstStyle/>
          <a:p>
            <a:r>
              <a:rPr kumimoji="1" lang="ja-JP" altLang="en-US" sz="2400" dirty="0">
                <a:solidFill>
                  <a:schemeClr val="bg1"/>
                </a:solidFill>
              </a:rPr>
              <a:t>年齢</a:t>
            </a:r>
          </a:p>
        </p:txBody>
      </p:sp>
      <p:sp>
        <p:nvSpPr>
          <p:cNvPr id="19" name="テキスト ボックス 18">
            <a:extLst>
              <a:ext uri="{FF2B5EF4-FFF2-40B4-BE49-F238E27FC236}">
                <a16:creationId xmlns:a16="http://schemas.microsoft.com/office/drawing/2014/main" id="{5818F2CD-109E-E3B9-1C9E-AFD73AABA087}"/>
              </a:ext>
            </a:extLst>
          </p:cNvPr>
          <p:cNvSpPr txBox="1"/>
          <p:nvPr/>
        </p:nvSpPr>
        <p:spPr>
          <a:xfrm>
            <a:off x="5333250" y="6003079"/>
            <a:ext cx="2339102" cy="461665"/>
          </a:xfrm>
          <a:prstGeom prst="rect">
            <a:avLst/>
          </a:prstGeom>
          <a:noFill/>
        </p:spPr>
        <p:txBody>
          <a:bodyPr wrap="none" rtlCol="0">
            <a:spAutoFit/>
          </a:bodyPr>
          <a:lstStyle/>
          <a:p>
            <a:r>
              <a:rPr kumimoji="1" lang="ja-JP" altLang="en-US" sz="2400" dirty="0">
                <a:solidFill>
                  <a:schemeClr val="bg1"/>
                </a:solidFill>
              </a:rPr>
              <a:t>✓エンジニア歴</a:t>
            </a:r>
          </a:p>
        </p:txBody>
      </p:sp>
    </p:spTree>
    <p:extLst>
      <p:ext uri="{BB962C8B-B14F-4D97-AF65-F5344CB8AC3E}">
        <p14:creationId xmlns:p14="http://schemas.microsoft.com/office/powerpoint/2010/main" val="728458987"/>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2F617-8203-7D71-35CB-2464CDB65073}"/>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FA190115-E220-89E5-3820-BDFBDBAF137A}"/>
              </a:ext>
            </a:extLst>
          </p:cNvPr>
          <p:cNvSpPr/>
          <p:nvPr/>
        </p:nvSpPr>
        <p:spPr>
          <a:xfrm>
            <a:off x="0" y="925290"/>
            <a:ext cx="12192000"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4" name="テキスト ボックス 5">
            <a:extLst>
              <a:ext uri="{FF2B5EF4-FFF2-40B4-BE49-F238E27FC236}">
                <a16:creationId xmlns:a16="http://schemas.microsoft.com/office/drawing/2014/main" id="{B73FBF27-D8A2-3A13-DB3B-35AF50FA3DE6}"/>
              </a:ext>
            </a:extLst>
          </p:cNvPr>
          <p:cNvSpPr txBox="1"/>
          <p:nvPr/>
        </p:nvSpPr>
        <p:spPr>
          <a:xfrm>
            <a:off x="400828" y="1097007"/>
            <a:ext cx="3475927"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3600" b="0" i="0" u="none" strike="noStrike" kern="1200" cap="none" spc="0" baseline="0" dirty="0">
                <a:solidFill>
                  <a:srgbClr val="FFFFFF"/>
                </a:solidFill>
                <a:uFillTx/>
                <a:latin typeface="游ゴシック"/>
                <a:ea typeface="游ゴシック" pitchFamily="50"/>
              </a:rPr>
              <a:t>エンジニア一覧</a:t>
            </a:r>
            <a:endParaRPr lang="en-US" sz="3600" b="0" i="0" u="none" strike="noStrike" kern="1200" cap="none" spc="0" baseline="0" dirty="0">
              <a:solidFill>
                <a:srgbClr val="FFFFFF"/>
              </a:solidFill>
              <a:uFillTx/>
              <a:latin typeface="游ゴシック"/>
              <a:ea typeface="游ゴシック" pitchFamily="50"/>
            </a:endParaRPr>
          </a:p>
        </p:txBody>
      </p:sp>
      <p:sp>
        <p:nvSpPr>
          <p:cNvPr id="6" name="正方形/長方形 6">
            <a:extLst>
              <a:ext uri="{FF2B5EF4-FFF2-40B4-BE49-F238E27FC236}">
                <a16:creationId xmlns:a16="http://schemas.microsoft.com/office/drawing/2014/main" id="{6BB56C43-6028-BB21-6F27-0EEDB8A340AB}"/>
              </a:ext>
            </a:extLst>
          </p:cNvPr>
          <p:cNvSpPr/>
          <p:nvPr/>
        </p:nvSpPr>
        <p:spPr>
          <a:xfrm>
            <a:off x="9428622" y="1134209"/>
            <a:ext cx="2573321" cy="507204"/>
          </a:xfrm>
          <a:prstGeom prst="rect">
            <a:avLst/>
          </a:prstGeom>
          <a:solidFill>
            <a:srgbClr val="D9D9D9"/>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DC339326-2F3A-7226-2358-C78F5A284BE7}"/>
              </a:ext>
            </a:extLst>
          </p:cNvPr>
          <p:cNvSpPr txBox="1"/>
          <p:nvPr/>
        </p:nvSpPr>
        <p:spPr>
          <a:xfrm>
            <a:off x="304796" y="195946"/>
            <a:ext cx="4586512"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1</a:t>
            </a:r>
            <a:r>
              <a:rPr lang="en-US" altLang="ja-JP" sz="3600" b="0" i="0" u="none" strike="noStrike" kern="1200" cap="none" spc="0" baseline="0" dirty="0">
                <a:solidFill>
                  <a:srgbClr val="000000"/>
                </a:solidFill>
                <a:uFillTx/>
                <a:latin typeface="游ゴシック"/>
                <a:ea typeface="游ゴシック" pitchFamily="50"/>
              </a:rPr>
              <a:t>-4</a:t>
            </a:r>
            <a:r>
              <a:rPr lang="ja-JP" sz="3600" b="0" i="0" u="none" strike="noStrike" kern="1200" cap="none" spc="0" baseline="0" dirty="0">
                <a:solidFill>
                  <a:srgbClr val="000000"/>
                </a:solidFill>
                <a:uFillTx/>
                <a:latin typeface="游ゴシック"/>
                <a:ea typeface="游ゴシック" pitchFamily="50"/>
              </a:rPr>
              <a:t>　</a:t>
            </a:r>
            <a:r>
              <a:rPr lang="ja-JP" altLang="en-US" sz="3600" b="0" i="0" u="none" strike="noStrike" kern="1200" cap="none" spc="0" baseline="0" dirty="0">
                <a:solidFill>
                  <a:srgbClr val="000000"/>
                </a:solidFill>
                <a:uFillTx/>
                <a:latin typeface="游ゴシック"/>
                <a:ea typeface="游ゴシック" pitchFamily="50"/>
              </a:rPr>
              <a:t>ソート機能</a:t>
            </a:r>
            <a:endParaRPr lang="en-US" sz="3600" b="0" i="0" u="none" strike="noStrike" kern="1200" cap="none" spc="0" baseline="0" dirty="0">
              <a:solidFill>
                <a:srgbClr val="000000"/>
              </a:solidFill>
              <a:uFillTx/>
              <a:latin typeface="游ゴシック"/>
              <a:ea typeface="游ゴシック" pitchFamily="50"/>
            </a:endParaRPr>
          </a:p>
        </p:txBody>
      </p:sp>
      <p:sp>
        <p:nvSpPr>
          <p:cNvPr id="20" name="円: 塗りつぶしなし 19">
            <a:extLst>
              <a:ext uri="{FF2B5EF4-FFF2-40B4-BE49-F238E27FC236}">
                <a16:creationId xmlns:a16="http://schemas.microsoft.com/office/drawing/2014/main" id="{5749EA9F-9646-7AB9-999D-A5A2B47782C7}"/>
              </a:ext>
            </a:extLst>
          </p:cNvPr>
          <p:cNvSpPr/>
          <p:nvPr/>
        </p:nvSpPr>
        <p:spPr>
          <a:xfrm>
            <a:off x="11457974" y="1194833"/>
            <a:ext cx="283642" cy="266941"/>
          </a:xfrm>
          <a:prstGeom prst="donu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正方形/長方形 23">
            <a:extLst>
              <a:ext uri="{FF2B5EF4-FFF2-40B4-BE49-F238E27FC236}">
                <a16:creationId xmlns:a16="http://schemas.microsoft.com/office/drawing/2014/main" id="{2FFC42A9-55D2-3AA9-768C-4E25A90B80A9}"/>
              </a:ext>
            </a:extLst>
          </p:cNvPr>
          <p:cNvSpPr/>
          <p:nvPr/>
        </p:nvSpPr>
        <p:spPr>
          <a:xfrm rot="7871681">
            <a:off x="11742067" y="1340078"/>
            <a:ext cx="45719" cy="274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E641C317-5C7A-75E5-D586-CA9BFA8E6F99}"/>
              </a:ext>
            </a:extLst>
          </p:cNvPr>
          <p:cNvSpPr/>
          <p:nvPr/>
        </p:nvSpPr>
        <p:spPr>
          <a:xfrm>
            <a:off x="5228418"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ACC3EEE4-6CF5-82F2-C3C5-C08AC49FA558}"/>
              </a:ext>
            </a:extLst>
          </p:cNvPr>
          <p:cNvSpPr/>
          <p:nvPr/>
        </p:nvSpPr>
        <p:spPr>
          <a:xfrm>
            <a:off x="7132199" y="1894627"/>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58E5F8FB-B531-F253-9395-2C37AAACEF77}"/>
              </a:ext>
            </a:extLst>
          </p:cNvPr>
          <p:cNvSpPr/>
          <p:nvPr/>
        </p:nvSpPr>
        <p:spPr>
          <a:xfrm>
            <a:off x="9035980"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06ABD9D5-6E1C-2EE4-3C82-D3FA1E9E462B}"/>
              </a:ext>
            </a:extLst>
          </p:cNvPr>
          <p:cNvSpPr/>
          <p:nvPr/>
        </p:nvSpPr>
        <p:spPr>
          <a:xfrm>
            <a:off x="10939761"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0" name="表 29">
            <a:extLst>
              <a:ext uri="{FF2B5EF4-FFF2-40B4-BE49-F238E27FC236}">
                <a16:creationId xmlns:a16="http://schemas.microsoft.com/office/drawing/2014/main" id="{A50A5199-B788-C834-704A-CC8382B65073}"/>
              </a:ext>
            </a:extLst>
          </p:cNvPr>
          <p:cNvGraphicFramePr>
            <a:graphicFrameLocks noGrp="1"/>
          </p:cNvGraphicFramePr>
          <p:nvPr>
            <p:extLst>
              <p:ext uri="{D42A27DB-BD31-4B8C-83A1-F6EECF244321}">
                <p14:modId xmlns:p14="http://schemas.microsoft.com/office/powerpoint/2010/main" val="3947458649"/>
              </p:ext>
            </p:extLst>
          </p:nvPr>
        </p:nvGraphicFramePr>
        <p:xfrm>
          <a:off x="0" y="2579700"/>
          <a:ext cx="12192000" cy="4278304"/>
        </p:xfrm>
        <a:graphic>
          <a:graphicData uri="http://schemas.openxmlformats.org/drawingml/2006/table">
            <a:tbl>
              <a:tblPr firstRow="1" bandRow="1">
                <a:tableStyleId>{5C22544A-7EE6-4342-B048-85BDC9FD1C3A}</a:tableStyleId>
              </a:tblPr>
              <a:tblGrid>
                <a:gridCol w="925286">
                  <a:extLst>
                    <a:ext uri="{9D8B030D-6E8A-4147-A177-3AD203B41FA5}">
                      <a16:colId xmlns:a16="http://schemas.microsoft.com/office/drawing/2014/main" val="843818313"/>
                    </a:ext>
                  </a:extLst>
                </a:gridCol>
                <a:gridCol w="653143">
                  <a:extLst>
                    <a:ext uri="{9D8B030D-6E8A-4147-A177-3AD203B41FA5}">
                      <a16:colId xmlns:a16="http://schemas.microsoft.com/office/drawing/2014/main" val="2593793615"/>
                    </a:ext>
                  </a:extLst>
                </a:gridCol>
                <a:gridCol w="925285">
                  <a:extLst>
                    <a:ext uri="{9D8B030D-6E8A-4147-A177-3AD203B41FA5}">
                      <a16:colId xmlns:a16="http://schemas.microsoft.com/office/drawing/2014/main" val="3819324818"/>
                    </a:ext>
                  </a:extLst>
                </a:gridCol>
                <a:gridCol w="936172">
                  <a:extLst>
                    <a:ext uri="{9D8B030D-6E8A-4147-A177-3AD203B41FA5}">
                      <a16:colId xmlns:a16="http://schemas.microsoft.com/office/drawing/2014/main" val="582941768"/>
                    </a:ext>
                  </a:extLst>
                </a:gridCol>
                <a:gridCol w="1143000">
                  <a:extLst>
                    <a:ext uri="{9D8B030D-6E8A-4147-A177-3AD203B41FA5}">
                      <a16:colId xmlns:a16="http://schemas.microsoft.com/office/drawing/2014/main" val="326648018"/>
                    </a:ext>
                  </a:extLst>
                </a:gridCol>
                <a:gridCol w="576943">
                  <a:extLst>
                    <a:ext uri="{9D8B030D-6E8A-4147-A177-3AD203B41FA5}">
                      <a16:colId xmlns:a16="http://schemas.microsoft.com/office/drawing/2014/main" val="3442362932"/>
                    </a:ext>
                  </a:extLst>
                </a:gridCol>
                <a:gridCol w="664028">
                  <a:extLst>
                    <a:ext uri="{9D8B030D-6E8A-4147-A177-3AD203B41FA5}">
                      <a16:colId xmlns:a16="http://schemas.microsoft.com/office/drawing/2014/main" val="1894457544"/>
                    </a:ext>
                  </a:extLst>
                </a:gridCol>
                <a:gridCol w="1077686">
                  <a:extLst>
                    <a:ext uri="{9D8B030D-6E8A-4147-A177-3AD203B41FA5}">
                      <a16:colId xmlns:a16="http://schemas.microsoft.com/office/drawing/2014/main" val="3378677225"/>
                    </a:ext>
                  </a:extLst>
                </a:gridCol>
                <a:gridCol w="794657">
                  <a:extLst>
                    <a:ext uri="{9D8B030D-6E8A-4147-A177-3AD203B41FA5}">
                      <a16:colId xmlns:a16="http://schemas.microsoft.com/office/drawing/2014/main" val="2724634915"/>
                    </a:ext>
                  </a:extLst>
                </a:gridCol>
                <a:gridCol w="1055914">
                  <a:extLst>
                    <a:ext uri="{9D8B030D-6E8A-4147-A177-3AD203B41FA5}">
                      <a16:colId xmlns:a16="http://schemas.microsoft.com/office/drawing/2014/main" val="2886769858"/>
                    </a:ext>
                  </a:extLst>
                </a:gridCol>
                <a:gridCol w="2068286">
                  <a:extLst>
                    <a:ext uri="{9D8B030D-6E8A-4147-A177-3AD203B41FA5}">
                      <a16:colId xmlns:a16="http://schemas.microsoft.com/office/drawing/2014/main" val="638158319"/>
                    </a:ext>
                  </a:extLst>
                </a:gridCol>
                <a:gridCol w="1371600">
                  <a:extLst>
                    <a:ext uri="{9D8B030D-6E8A-4147-A177-3AD203B41FA5}">
                      <a16:colId xmlns:a16="http://schemas.microsoft.com/office/drawing/2014/main" val="3725689978"/>
                    </a:ext>
                  </a:extLst>
                </a:gridCol>
              </a:tblGrid>
              <a:tr h="534788">
                <a:tc>
                  <a:txBody>
                    <a:bodyPr/>
                    <a:lstStyle/>
                    <a:p>
                      <a:pPr algn="ctr"/>
                      <a:r>
                        <a:rPr kumimoji="1" lang="ja-JP" altLang="en-US" sz="1200" dirty="0"/>
                        <a:t>氏名</a:t>
                      </a:r>
                    </a:p>
                  </a:txBody>
                  <a:tcPr/>
                </a:tc>
                <a:tc>
                  <a:txBody>
                    <a:bodyPr/>
                    <a:lstStyle/>
                    <a:p>
                      <a:pPr algn="ctr"/>
                      <a:r>
                        <a:rPr kumimoji="1" lang="ja-JP" altLang="en-US" sz="1200" dirty="0"/>
                        <a:t>社員</a:t>
                      </a:r>
                      <a:r>
                        <a:rPr kumimoji="1" lang="en-US" altLang="ja-JP" sz="1200" dirty="0"/>
                        <a:t>ID</a:t>
                      </a:r>
                      <a:endParaRPr kumimoji="1" lang="ja-JP" altLang="en-US" sz="1200" dirty="0"/>
                    </a:p>
                  </a:txBody>
                  <a:tcPr/>
                </a:tc>
                <a:tc>
                  <a:txBody>
                    <a:bodyPr/>
                    <a:lstStyle/>
                    <a:p>
                      <a:pPr algn="ctr"/>
                      <a:r>
                        <a:rPr kumimoji="1" lang="ja-JP" altLang="en-US" sz="1200" dirty="0"/>
                        <a:t>生年月日</a:t>
                      </a:r>
                    </a:p>
                  </a:txBody>
                  <a:tcPr/>
                </a:tc>
                <a:tc>
                  <a:txBody>
                    <a:bodyPr/>
                    <a:lstStyle/>
                    <a:p>
                      <a:pPr algn="ctr"/>
                      <a:r>
                        <a:rPr kumimoji="1" lang="ja-JP" altLang="en-US" sz="1200" dirty="0"/>
                        <a:t>入社年月</a:t>
                      </a:r>
                    </a:p>
                  </a:txBody>
                  <a:tcPr/>
                </a:tc>
                <a:tc>
                  <a:txBody>
                    <a:bodyPr/>
                    <a:lstStyle/>
                    <a:p>
                      <a:pPr algn="ctr"/>
                      <a:r>
                        <a:rPr kumimoji="1" lang="ja-JP" altLang="en-US" sz="1200" dirty="0"/>
                        <a:t>エンジニア歴</a:t>
                      </a:r>
                    </a:p>
                  </a:txBody>
                  <a:tcPr/>
                </a:tc>
                <a:tc>
                  <a:txBody>
                    <a:bodyPr/>
                    <a:lstStyle/>
                    <a:p>
                      <a:pPr algn="ctr"/>
                      <a:r>
                        <a:rPr kumimoji="1" lang="ja-JP" altLang="en-US" sz="1200" dirty="0"/>
                        <a:t>言語</a:t>
                      </a:r>
                    </a:p>
                  </a:txBody>
                  <a:tcPr/>
                </a:tc>
                <a:tc>
                  <a:txBody>
                    <a:bodyPr/>
                    <a:lstStyle/>
                    <a:p>
                      <a:pPr algn="ctr"/>
                      <a:r>
                        <a:rPr kumimoji="1" lang="ja-JP" altLang="en-US" sz="1200" dirty="0"/>
                        <a:t>経歴</a:t>
                      </a:r>
                    </a:p>
                  </a:txBody>
                  <a:tcPr/>
                </a:tc>
                <a:tc>
                  <a:txBody>
                    <a:bodyPr/>
                    <a:lstStyle/>
                    <a:p>
                      <a:pPr algn="ctr"/>
                      <a:r>
                        <a:rPr kumimoji="1" lang="ja-JP" altLang="en-US" sz="1200" dirty="0"/>
                        <a:t>研修受講歴</a:t>
                      </a:r>
                    </a:p>
                  </a:txBody>
                  <a:tcPr/>
                </a:tc>
                <a:tc>
                  <a:txBody>
                    <a:bodyPr/>
                    <a:lstStyle/>
                    <a:p>
                      <a:pPr algn="ctr"/>
                      <a:r>
                        <a:rPr kumimoji="1" lang="ja-JP" altLang="en-US" sz="1200" dirty="0"/>
                        <a:t>技術力</a:t>
                      </a:r>
                    </a:p>
                  </a:txBody>
                  <a:tcPr/>
                </a:tc>
                <a:tc>
                  <a:txBody>
                    <a:bodyPr/>
                    <a:lstStyle/>
                    <a:p>
                      <a:pPr algn="ctr"/>
                      <a:r>
                        <a:rPr kumimoji="1" lang="ja-JP" altLang="en-US" sz="1200" dirty="0"/>
                        <a:t>受講態度</a:t>
                      </a:r>
                    </a:p>
                  </a:txBody>
                  <a:tcPr/>
                </a:tc>
                <a:tc>
                  <a:txBody>
                    <a:bodyPr/>
                    <a:lstStyle/>
                    <a:p>
                      <a:pPr algn="ctr"/>
                      <a:r>
                        <a:rPr kumimoji="1" lang="ja-JP" altLang="en-US" sz="1200" dirty="0"/>
                        <a:t>コミュニケーション能力</a:t>
                      </a:r>
                    </a:p>
                  </a:txBody>
                  <a:tcPr/>
                </a:tc>
                <a:tc>
                  <a:txBody>
                    <a:bodyPr/>
                    <a:lstStyle/>
                    <a:p>
                      <a:pPr algn="ctr"/>
                      <a:r>
                        <a:rPr kumimoji="1" lang="ja-JP" altLang="en-US" sz="1200" dirty="0"/>
                        <a:t>リーダーシップ</a:t>
                      </a:r>
                    </a:p>
                  </a:txBody>
                  <a:tcPr/>
                </a:tc>
                <a:extLst>
                  <a:ext uri="{0D108BD9-81ED-4DB2-BD59-A6C34878D82A}">
                    <a16:rowId xmlns:a16="http://schemas.microsoft.com/office/drawing/2014/main" val="3031805351"/>
                  </a:ext>
                </a:extLst>
              </a:tr>
              <a:tr h="534788">
                <a:tc>
                  <a:txBody>
                    <a:bodyPr/>
                    <a:lstStyle/>
                    <a:p>
                      <a:r>
                        <a:rPr kumimoji="1" lang="ja-JP" altLang="en-US" sz="1200" dirty="0"/>
                        <a:t>山田 花子</a:t>
                      </a:r>
                      <a:endParaRPr kumimoji="1" lang="en-US" altLang="ja-JP" sz="1200" dirty="0"/>
                    </a:p>
                  </a:txBody>
                  <a:tcPr/>
                </a:tc>
                <a:tc>
                  <a:txBody>
                    <a:bodyPr/>
                    <a:lstStyle/>
                    <a:p>
                      <a:r>
                        <a:rPr kumimoji="1" lang="en-US" altLang="ja-JP" sz="1200" dirty="0"/>
                        <a:t>00001</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13</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1181288494"/>
                  </a:ext>
                </a:extLst>
              </a:tr>
              <a:tr h="534788">
                <a:tc>
                  <a:txBody>
                    <a:bodyPr/>
                    <a:lstStyle/>
                    <a:p>
                      <a:r>
                        <a:rPr kumimoji="1" lang="ja-JP" altLang="en-US" sz="1200" dirty="0"/>
                        <a:t>間地 佳代</a:t>
                      </a:r>
                    </a:p>
                  </a:txBody>
                  <a:tcPr/>
                </a:tc>
                <a:tc>
                  <a:txBody>
                    <a:bodyPr/>
                    <a:lstStyle/>
                    <a:p>
                      <a:r>
                        <a:rPr kumimoji="1" lang="en-US" altLang="ja-JP" sz="1200" dirty="0"/>
                        <a:t>00005</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10</a:t>
                      </a:r>
                      <a:r>
                        <a:rPr kumimoji="1" lang="ja-JP" altLang="en-US" sz="1200" dirty="0"/>
                        <a:t>年</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841193060"/>
                  </a:ext>
                </a:extLst>
              </a:tr>
              <a:tr h="534788">
                <a:tc>
                  <a:txBody>
                    <a:bodyPr/>
                    <a:lstStyle/>
                    <a:p>
                      <a:r>
                        <a:rPr kumimoji="1" lang="ja-JP" altLang="en-US" sz="1200" dirty="0"/>
                        <a:t>田中 花子</a:t>
                      </a:r>
                    </a:p>
                  </a:txBody>
                  <a:tcPr/>
                </a:tc>
                <a:tc>
                  <a:txBody>
                    <a:bodyPr/>
                    <a:lstStyle/>
                    <a:p>
                      <a:r>
                        <a:rPr kumimoji="1" lang="en-US" altLang="ja-JP" sz="1200" dirty="0"/>
                        <a:t>00002</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9</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125601969"/>
                  </a:ext>
                </a:extLst>
              </a:tr>
              <a:tr h="534788">
                <a:tc>
                  <a:txBody>
                    <a:bodyPr/>
                    <a:lstStyle/>
                    <a:p>
                      <a:r>
                        <a:rPr kumimoji="1" lang="ja-JP" altLang="en-US" sz="1200" dirty="0"/>
                        <a:t>佐藤 健</a:t>
                      </a:r>
                    </a:p>
                  </a:txBody>
                  <a:tcPr/>
                </a:tc>
                <a:tc>
                  <a:txBody>
                    <a:bodyPr/>
                    <a:lstStyle/>
                    <a:p>
                      <a:r>
                        <a:rPr kumimoji="1" lang="en-US" altLang="ja-JP" sz="1200" dirty="0"/>
                        <a:t>00003</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8</a:t>
                      </a:r>
                      <a:r>
                        <a:rPr kumimoji="1" lang="ja-JP" altLang="en-US" sz="1200" dirty="0"/>
                        <a:t>年</a:t>
                      </a:r>
                      <a:r>
                        <a:rPr kumimoji="1" lang="en-US" altLang="ja-JP" sz="1200" dirty="0"/>
                        <a:t>8</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1267473416"/>
                  </a:ext>
                </a:extLst>
              </a:tr>
              <a:tr h="534788">
                <a:tc>
                  <a:txBody>
                    <a:bodyPr/>
                    <a:lstStyle/>
                    <a:p>
                      <a:r>
                        <a:rPr kumimoji="1" lang="ja-JP" altLang="en-US" sz="1200" dirty="0"/>
                        <a:t>秋葉 花</a:t>
                      </a:r>
                    </a:p>
                  </a:txBody>
                  <a:tcPr/>
                </a:tc>
                <a:tc>
                  <a:txBody>
                    <a:bodyPr/>
                    <a:lstStyle/>
                    <a:p>
                      <a:r>
                        <a:rPr kumimoji="1" lang="en-US" altLang="ja-JP" sz="1200" dirty="0"/>
                        <a:t>00006</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3</a:t>
                      </a:r>
                      <a:r>
                        <a:rPr kumimoji="1" lang="ja-JP" altLang="en-US" sz="1200" dirty="0"/>
                        <a:t>年</a:t>
                      </a:r>
                      <a:r>
                        <a:rPr kumimoji="1" lang="en-US" altLang="ja-JP" sz="1200" dirty="0"/>
                        <a:t>10</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761762557"/>
                  </a:ext>
                </a:extLst>
              </a:tr>
              <a:tr h="534788">
                <a:tc>
                  <a:txBody>
                    <a:bodyPr/>
                    <a:lstStyle/>
                    <a:p>
                      <a:r>
                        <a:rPr kumimoji="1" lang="ja-JP" altLang="en-US" sz="1200" dirty="0"/>
                        <a:t>木村 直也</a:t>
                      </a:r>
                    </a:p>
                  </a:txBody>
                  <a:tcPr/>
                </a:tc>
                <a:tc>
                  <a:txBody>
                    <a:bodyPr/>
                    <a:lstStyle/>
                    <a:p>
                      <a:r>
                        <a:rPr kumimoji="1" lang="en-US" altLang="ja-JP" sz="1200" dirty="0"/>
                        <a:t>00004</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2</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902287736"/>
                  </a:ext>
                </a:extLst>
              </a:tr>
              <a:tr h="534788">
                <a:tc>
                  <a:txBody>
                    <a:bodyPr/>
                    <a:lstStyle/>
                    <a:p>
                      <a:r>
                        <a:rPr kumimoji="1" lang="ja-JP" altLang="en-US" sz="1200" dirty="0"/>
                        <a:t>野原 しん</a:t>
                      </a:r>
                    </a:p>
                  </a:txBody>
                  <a:tcPr/>
                </a:tc>
                <a:tc>
                  <a:txBody>
                    <a:bodyPr/>
                    <a:lstStyle/>
                    <a:p>
                      <a:r>
                        <a:rPr kumimoji="1" lang="en-US" altLang="ja-JP" sz="1200" dirty="0"/>
                        <a:t>00007</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a:t>
                      </a:r>
                      <a:endParaRPr kumimoji="1" lang="ja-JP" altLang="en-US" sz="1200" dirty="0"/>
                    </a:p>
                  </a:txBody>
                  <a:tcPr/>
                </a:tc>
                <a:tc>
                  <a:txBody>
                    <a:bodyPr/>
                    <a:lstStyle/>
                    <a:p>
                      <a:r>
                        <a:rPr kumimoji="1" lang="en-US" altLang="ja-JP" sz="1200" dirty="0"/>
                        <a:t>5</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924052398"/>
                  </a:ext>
                </a:extLst>
              </a:tr>
            </a:tbl>
          </a:graphicData>
        </a:graphic>
      </p:graphicFrame>
      <p:sp>
        <p:nvSpPr>
          <p:cNvPr id="31" name="テキスト ボックス 30">
            <a:extLst>
              <a:ext uri="{FF2B5EF4-FFF2-40B4-BE49-F238E27FC236}">
                <a16:creationId xmlns:a16="http://schemas.microsoft.com/office/drawing/2014/main" id="{909B2924-F055-463F-2E29-836D7C422CFA}"/>
              </a:ext>
            </a:extLst>
          </p:cNvPr>
          <p:cNvSpPr txBox="1"/>
          <p:nvPr/>
        </p:nvSpPr>
        <p:spPr>
          <a:xfrm>
            <a:off x="5362247" y="1925891"/>
            <a:ext cx="914400" cy="369332"/>
          </a:xfrm>
          <a:prstGeom prst="rect">
            <a:avLst/>
          </a:prstGeom>
          <a:noFill/>
        </p:spPr>
        <p:txBody>
          <a:bodyPr wrap="square" rtlCol="0">
            <a:spAutoFit/>
          </a:bodyPr>
          <a:lstStyle/>
          <a:p>
            <a:r>
              <a:rPr kumimoji="1" lang="ja-JP" altLang="en-US" dirty="0"/>
              <a:t>ソート</a:t>
            </a:r>
          </a:p>
        </p:txBody>
      </p:sp>
      <p:sp>
        <p:nvSpPr>
          <p:cNvPr id="33" name="テキスト ボックス 32">
            <a:extLst>
              <a:ext uri="{FF2B5EF4-FFF2-40B4-BE49-F238E27FC236}">
                <a16:creationId xmlns:a16="http://schemas.microsoft.com/office/drawing/2014/main" id="{DE047276-AF9E-B951-D553-F28CC7B888C5}"/>
              </a:ext>
            </a:extLst>
          </p:cNvPr>
          <p:cNvSpPr txBox="1"/>
          <p:nvPr/>
        </p:nvSpPr>
        <p:spPr>
          <a:xfrm>
            <a:off x="7361056" y="1923575"/>
            <a:ext cx="914400" cy="369332"/>
          </a:xfrm>
          <a:prstGeom prst="rect">
            <a:avLst/>
          </a:prstGeom>
          <a:noFill/>
        </p:spPr>
        <p:txBody>
          <a:bodyPr wrap="square" rtlCol="0">
            <a:spAutoFit/>
          </a:bodyPr>
          <a:lstStyle/>
          <a:p>
            <a:r>
              <a:rPr kumimoji="1" lang="ja-JP" altLang="en-US" dirty="0">
                <a:solidFill>
                  <a:schemeClr val="bg1"/>
                </a:solidFill>
              </a:rPr>
              <a:t>選択</a:t>
            </a:r>
          </a:p>
        </p:txBody>
      </p:sp>
      <p:sp>
        <p:nvSpPr>
          <p:cNvPr id="34" name="テキスト ボックス 33">
            <a:extLst>
              <a:ext uri="{FF2B5EF4-FFF2-40B4-BE49-F238E27FC236}">
                <a16:creationId xmlns:a16="http://schemas.microsoft.com/office/drawing/2014/main" id="{61A3165C-B4BA-5106-A3C3-5D183466710D}"/>
              </a:ext>
            </a:extLst>
          </p:cNvPr>
          <p:cNvSpPr txBox="1"/>
          <p:nvPr/>
        </p:nvSpPr>
        <p:spPr>
          <a:xfrm>
            <a:off x="9243905" y="1923575"/>
            <a:ext cx="646331" cy="369332"/>
          </a:xfrm>
          <a:prstGeom prst="rect">
            <a:avLst/>
          </a:prstGeom>
          <a:noFill/>
        </p:spPr>
        <p:txBody>
          <a:bodyPr wrap="none" rtlCol="0">
            <a:spAutoFit/>
          </a:bodyPr>
          <a:lstStyle/>
          <a:p>
            <a:r>
              <a:rPr lang="ja-JP" altLang="en-US" dirty="0">
                <a:solidFill>
                  <a:schemeClr val="bg1"/>
                </a:solidFill>
              </a:rPr>
              <a:t>追加</a:t>
            </a:r>
            <a:endParaRPr kumimoji="1" lang="ja-JP" altLang="en-US" dirty="0">
              <a:solidFill>
                <a:schemeClr val="bg1"/>
              </a:solidFill>
            </a:endParaRPr>
          </a:p>
        </p:txBody>
      </p:sp>
      <p:sp>
        <p:nvSpPr>
          <p:cNvPr id="35" name="テキスト ボックス 34">
            <a:extLst>
              <a:ext uri="{FF2B5EF4-FFF2-40B4-BE49-F238E27FC236}">
                <a16:creationId xmlns:a16="http://schemas.microsoft.com/office/drawing/2014/main" id="{81E8E228-52D7-CEAC-AC49-36134BEED0ED}"/>
              </a:ext>
            </a:extLst>
          </p:cNvPr>
          <p:cNvSpPr txBox="1"/>
          <p:nvPr/>
        </p:nvSpPr>
        <p:spPr>
          <a:xfrm>
            <a:off x="11147686" y="1923575"/>
            <a:ext cx="646331" cy="369332"/>
          </a:xfrm>
          <a:prstGeom prst="rect">
            <a:avLst/>
          </a:prstGeom>
          <a:noFill/>
        </p:spPr>
        <p:txBody>
          <a:bodyPr wrap="none" rtlCol="0">
            <a:spAutoFit/>
          </a:bodyPr>
          <a:lstStyle/>
          <a:p>
            <a:r>
              <a:rPr kumimoji="1" lang="ja-JP" altLang="en-US" dirty="0">
                <a:solidFill>
                  <a:schemeClr val="bg1"/>
                </a:solidFill>
              </a:rPr>
              <a:t>出力</a:t>
            </a:r>
          </a:p>
        </p:txBody>
      </p:sp>
    </p:spTree>
    <p:extLst>
      <p:ext uri="{BB962C8B-B14F-4D97-AF65-F5344CB8AC3E}">
        <p14:creationId xmlns:p14="http://schemas.microsoft.com/office/powerpoint/2010/main" val="887265580"/>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3CDF0-EB1E-111D-96F1-571BDD84C342}"/>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9F149FF8-8B4E-B895-CBD0-5C6CDFE1C50C}"/>
              </a:ext>
            </a:extLst>
          </p:cNvPr>
          <p:cNvSpPr/>
          <p:nvPr/>
        </p:nvSpPr>
        <p:spPr>
          <a:xfrm>
            <a:off x="0" y="925290"/>
            <a:ext cx="12192000"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4" name="テキスト ボックス 5">
            <a:extLst>
              <a:ext uri="{FF2B5EF4-FFF2-40B4-BE49-F238E27FC236}">
                <a16:creationId xmlns:a16="http://schemas.microsoft.com/office/drawing/2014/main" id="{7A16AE19-3444-8B2A-8599-152D315A5969}"/>
              </a:ext>
            </a:extLst>
          </p:cNvPr>
          <p:cNvSpPr txBox="1"/>
          <p:nvPr/>
        </p:nvSpPr>
        <p:spPr>
          <a:xfrm>
            <a:off x="400828" y="1097007"/>
            <a:ext cx="3475927"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3600" b="0" i="0" u="none" strike="noStrike" kern="1200" cap="none" spc="0" baseline="0" dirty="0">
                <a:solidFill>
                  <a:srgbClr val="FFFFFF"/>
                </a:solidFill>
                <a:uFillTx/>
                <a:latin typeface="游ゴシック"/>
                <a:ea typeface="游ゴシック" pitchFamily="50"/>
              </a:rPr>
              <a:t>エンジニア一覧</a:t>
            </a:r>
            <a:endParaRPr lang="en-US" sz="3600" b="0" i="0" u="none" strike="noStrike" kern="1200" cap="none" spc="0" baseline="0" dirty="0">
              <a:solidFill>
                <a:srgbClr val="FFFFFF"/>
              </a:solidFill>
              <a:uFillTx/>
              <a:latin typeface="游ゴシック"/>
              <a:ea typeface="游ゴシック" pitchFamily="50"/>
            </a:endParaRPr>
          </a:p>
        </p:txBody>
      </p:sp>
      <p:sp>
        <p:nvSpPr>
          <p:cNvPr id="6" name="正方形/長方形 6">
            <a:extLst>
              <a:ext uri="{FF2B5EF4-FFF2-40B4-BE49-F238E27FC236}">
                <a16:creationId xmlns:a16="http://schemas.microsoft.com/office/drawing/2014/main" id="{82822F52-B2E4-0B2B-BF39-7A1E1DD9CEAC}"/>
              </a:ext>
            </a:extLst>
          </p:cNvPr>
          <p:cNvSpPr/>
          <p:nvPr/>
        </p:nvSpPr>
        <p:spPr>
          <a:xfrm>
            <a:off x="9428622" y="1134209"/>
            <a:ext cx="2573321" cy="507204"/>
          </a:xfrm>
          <a:prstGeom prst="rect">
            <a:avLst/>
          </a:prstGeom>
          <a:solidFill>
            <a:srgbClr val="D9D9D9"/>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5492AB31-A202-5303-83B6-2637BC6C6DB5}"/>
              </a:ext>
            </a:extLst>
          </p:cNvPr>
          <p:cNvSpPr txBox="1"/>
          <p:nvPr/>
        </p:nvSpPr>
        <p:spPr>
          <a:xfrm>
            <a:off x="304796" y="195946"/>
            <a:ext cx="4124847"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1</a:t>
            </a:r>
            <a:r>
              <a:rPr lang="en-US" altLang="ja-JP" sz="3600" b="0" i="0" u="none" strike="noStrike" kern="1200" cap="none" spc="0" baseline="0" dirty="0">
                <a:solidFill>
                  <a:srgbClr val="000000"/>
                </a:solidFill>
                <a:uFillTx/>
                <a:latin typeface="游ゴシック"/>
                <a:ea typeface="游ゴシック" pitchFamily="50"/>
              </a:rPr>
              <a:t>-5</a:t>
            </a:r>
            <a:r>
              <a:rPr lang="ja-JP" sz="3600" b="0" i="0" u="none" strike="noStrike" kern="1200" cap="none" spc="0" baseline="0" dirty="0">
                <a:solidFill>
                  <a:srgbClr val="000000"/>
                </a:solidFill>
                <a:uFillTx/>
                <a:latin typeface="游ゴシック"/>
                <a:ea typeface="游ゴシック" pitchFamily="50"/>
              </a:rPr>
              <a:t>　</a:t>
            </a:r>
            <a:r>
              <a:rPr lang="ja-JP" altLang="en-US" sz="3600" b="0" i="0" u="none" strike="noStrike" kern="1200" cap="none" spc="0" baseline="0" dirty="0">
                <a:solidFill>
                  <a:srgbClr val="000000"/>
                </a:solidFill>
                <a:uFillTx/>
                <a:latin typeface="游ゴシック"/>
                <a:ea typeface="游ゴシック" pitchFamily="50"/>
              </a:rPr>
              <a:t>削除機能</a:t>
            </a:r>
            <a:endParaRPr lang="en-US" sz="3600" b="0" i="0" u="none" strike="noStrike" kern="1200" cap="none" spc="0" baseline="0" dirty="0">
              <a:solidFill>
                <a:srgbClr val="000000"/>
              </a:solidFill>
              <a:uFillTx/>
              <a:latin typeface="游ゴシック"/>
              <a:ea typeface="游ゴシック" pitchFamily="50"/>
            </a:endParaRPr>
          </a:p>
        </p:txBody>
      </p:sp>
      <p:sp>
        <p:nvSpPr>
          <p:cNvPr id="20" name="円: 塗りつぶしなし 19">
            <a:extLst>
              <a:ext uri="{FF2B5EF4-FFF2-40B4-BE49-F238E27FC236}">
                <a16:creationId xmlns:a16="http://schemas.microsoft.com/office/drawing/2014/main" id="{8B9A77ED-1C74-2322-E969-B5720735FC6C}"/>
              </a:ext>
            </a:extLst>
          </p:cNvPr>
          <p:cNvSpPr/>
          <p:nvPr/>
        </p:nvSpPr>
        <p:spPr>
          <a:xfrm>
            <a:off x="11457974" y="1194833"/>
            <a:ext cx="283642" cy="266941"/>
          </a:xfrm>
          <a:prstGeom prst="donu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正方形/長方形 23">
            <a:extLst>
              <a:ext uri="{FF2B5EF4-FFF2-40B4-BE49-F238E27FC236}">
                <a16:creationId xmlns:a16="http://schemas.microsoft.com/office/drawing/2014/main" id="{12B5897F-10B3-89A5-C3BE-4D93DF3B4EF8}"/>
              </a:ext>
            </a:extLst>
          </p:cNvPr>
          <p:cNvSpPr/>
          <p:nvPr/>
        </p:nvSpPr>
        <p:spPr>
          <a:xfrm rot="7871681">
            <a:off x="11742067" y="1340078"/>
            <a:ext cx="45719" cy="274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8C4DC02E-F175-4A45-04EE-CDFCB07287EC}"/>
              </a:ext>
            </a:extLst>
          </p:cNvPr>
          <p:cNvSpPr/>
          <p:nvPr/>
        </p:nvSpPr>
        <p:spPr>
          <a:xfrm>
            <a:off x="5228418"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01978B83-9B81-9546-58F2-71673C5687C3}"/>
              </a:ext>
            </a:extLst>
          </p:cNvPr>
          <p:cNvSpPr/>
          <p:nvPr/>
        </p:nvSpPr>
        <p:spPr>
          <a:xfrm>
            <a:off x="7132199" y="1894627"/>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ADDB3C56-04A1-4353-D2E1-D475ED78777E}"/>
              </a:ext>
            </a:extLst>
          </p:cNvPr>
          <p:cNvSpPr/>
          <p:nvPr/>
        </p:nvSpPr>
        <p:spPr>
          <a:xfrm>
            <a:off x="9035980"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59EDAF2A-9F78-5BD4-9C38-E477216D02FD}"/>
              </a:ext>
            </a:extLst>
          </p:cNvPr>
          <p:cNvSpPr/>
          <p:nvPr/>
        </p:nvSpPr>
        <p:spPr>
          <a:xfrm>
            <a:off x="10939761"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0" name="表 29">
            <a:extLst>
              <a:ext uri="{FF2B5EF4-FFF2-40B4-BE49-F238E27FC236}">
                <a16:creationId xmlns:a16="http://schemas.microsoft.com/office/drawing/2014/main" id="{1DC88A8B-5BB4-A475-2759-C8810725045A}"/>
              </a:ext>
            </a:extLst>
          </p:cNvPr>
          <p:cNvGraphicFramePr>
            <a:graphicFrameLocks noGrp="1"/>
          </p:cNvGraphicFramePr>
          <p:nvPr>
            <p:extLst>
              <p:ext uri="{D42A27DB-BD31-4B8C-83A1-F6EECF244321}">
                <p14:modId xmlns:p14="http://schemas.microsoft.com/office/powerpoint/2010/main" val="1308591034"/>
              </p:ext>
            </p:extLst>
          </p:nvPr>
        </p:nvGraphicFramePr>
        <p:xfrm>
          <a:off x="0" y="2590586"/>
          <a:ext cx="12192000" cy="4383596"/>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843818313"/>
                    </a:ext>
                  </a:extLst>
                </a:gridCol>
                <a:gridCol w="674914">
                  <a:extLst>
                    <a:ext uri="{9D8B030D-6E8A-4147-A177-3AD203B41FA5}">
                      <a16:colId xmlns:a16="http://schemas.microsoft.com/office/drawing/2014/main" val="2593793615"/>
                    </a:ext>
                  </a:extLst>
                </a:gridCol>
                <a:gridCol w="990600">
                  <a:extLst>
                    <a:ext uri="{9D8B030D-6E8A-4147-A177-3AD203B41FA5}">
                      <a16:colId xmlns:a16="http://schemas.microsoft.com/office/drawing/2014/main" val="3819324818"/>
                    </a:ext>
                  </a:extLst>
                </a:gridCol>
                <a:gridCol w="903515">
                  <a:extLst>
                    <a:ext uri="{9D8B030D-6E8A-4147-A177-3AD203B41FA5}">
                      <a16:colId xmlns:a16="http://schemas.microsoft.com/office/drawing/2014/main" val="582941768"/>
                    </a:ext>
                  </a:extLst>
                </a:gridCol>
                <a:gridCol w="1099457">
                  <a:extLst>
                    <a:ext uri="{9D8B030D-6E8A-4147-A177-3AD203B41FA5}">
                      <a16:colId xmlns:a16="http://schemas.microsoft.com/office/drawing/2014/main" val="326648018"/>
                    </a:ext>
                  </a:extLst>
                </a:gridCol>
                <a:gridCol w="642257">
                  <a:extLst>
                    <a:ext uri="{9D8B030D-6E8A-4147-A177-3AD203B41FA5}">
                      <a16:colId xmlns:a16="http://schemas.microsoft.com/office/drawing/2014/main" val="3442362932"/>
                    </a:ext>
                  </a:extLst>
                </a:gridCol>
                <a:gridCol w="707571">
                  <a:extLst>
                    <a:ext uri="{9D8B030D-6E8A-4147-A177-3AD203B41FA5}">
                      <a16:colId xmlns:a16="http://schemas.microsoft.com/office/drawing/2014/main" val="1894457544"/>
                    </a:ext>
                  </a:extLst>
                </a:gridCol>
                <a:gridCol w="1208315">
                  <a:extLst>
                    <a:ext uri="{9D8B030D-6E8A-4147-A177-3AD203B41FA5}">
                      <a16:colId xmlns:a16="http://schemas.microsoft.com/office/drawing/2014/main" val="3378677225"/>
                    </a:ext>
                  </a:extLst>
                </a:gridCol>
                <a:gridCol w="838200">
                  <a:extLst>
                    <a:ext uri="{9D8B030D-6E8A-4147-A177-3AD203B41FA5}">
                      <a16:colId xmlns:a16="http://schemas.microsoft.com/office/drawing/2014/main" val="2724634915"/>
                    </a:ext>
                  </a:extLst>
                </a:gridCol>
                <a:gridCol w="1012371">
                  <a:extLst>
                    <a:ext uri="{9D8B030D-6E8A-4147-A177-3AD203B41FA5}">
                      <a16:colId xmlns:a16="http://schemas.microsoft.com/office/drawing/2014/main" val="2886769858"/>
                    </a:ext>
                  </a:extLst>
                </a:gridCol>
                <a:gridCol w="1883229">
                  <a:extLst>
                    <a:ext uri="{9D8B030D-6E8A-4147-A177-3AD203B41FA5}">
                      <a16:colId xmlns:a16="http://schemas.microsoft.com/office/drawing/2014/main" val="638158319"/>
                    </a:ext>
                  </a:extLst>
                </a:gridCol>
                <a:gridCol w="1317171">
                  <a:extLst>
                    <a:ext uri="{9D8B030D-6E8A-4147-A177-3AD203B41FA5}">
                      <a16:colId xmlns:a16="http://schemas.microsoft.com/office/drawing/2014/main" val="3725689978"/>
                    </a:ext>
                  </a:extLst>
                </a:gridCol>
              </a:tblGrid>
              <a:tr h="534788">
                <a:tc>
                  <a:txBody>
                    <a:bodyPr/>
                    <a:lstStyle/>
                    <a:p>
                      <a:pPr algn="ctr"/>
                      <a:r>
                        <a:rPr kumimoji="1" lang="ja-JP" altLang="en-US" sz="1200" dirty="0"/>
                        <a:t>氏名</a:t>
                      </a:r>
                    </a:p>
                  </a:txBody>
                  <a:tcPr/>
                </a:tc>
                <a:tc>
                  <a:txBody>
                    <a:bodyPr/>
                    <a:lstStyle/>
                    <a:p>
                      <a:pPr algn="ctr"/>
                      <a:r>
                        <a:rPr kumimoji="1" lang="ja-JP" altLang="en-US" sz="1200" dirty="0"/>
                        <a:t>社員</a:t>
                      </a:r>
                      <a:r>
                        <a:rPr kumimoji="1" lang="en-US" altLang="ja-JP" sz="1200" dirty="0"/>
                        <a:t>ID</a:t>
                      </a:r>
                      <a:endParaRPr kumimoji="1" lang="ja-JP" altLang="en-US" sz="1200" dirty="0"/>
                    </a:p>
                  </a:txBody>
                  <a:tcPr/>
                </a:tc>
                <a:tc>
                  <a:txBody>
                    <a:bodyPr/>
                    <a:lstStyle/>
                    <a:p>
                      <a:pPr algn="ctr"/>
                      <a:r>
                        <a:rPr kumimoji="1" lang="ja-JP" altLang="en-US" sz="1200" dirty="0"/>
                        <a:t>生年月日</a:t>
                      </a:r>
                    </a:p>
                  </a:txBody>
                  <a:tcPr/>
                </a:tc>
                <a:tc>
                  <a:txBody>
                    <a:bodyPr/>
                    <a:lstStyle/>
                    <a:p>
                      <a:pPr algn="ctr"/>
                      <a:r>
                        <a:rPr kumimoji="1" lang="ja-JP" altLang="en-US" sz="1200" dirty="0"/>
                        <a:t>入社年月</a:t>
                      </a:r>
                    </a:p>
                  </a:txBody>
                  <a:tcPr/>
                </a:tc>
                <a:tc>
                  <a:txBody>
                    <a:bodyPr/>
                    <a:lstStyle/>
                    <a:p>
                      <a:pPr algn="ctr"/>
                      <a:r>
                        <a:rPr kumimoji="1" lang="ja-JP" altLang="en-US" sz="1200" dirty="0"/>
                        <a:t>エンジニア歴</a:t>
                      </a:r>
                    </a:p>
                  </a:txBody>
                  <a:tcPr/>
                </a:tc>
                <a:tc>
                  <a:txBody>
                    <a:bodyPr/>
                    <a:lstStyle/>
                    <a:p>
                      <a:pPr algn="ctr"/>
                      <a:r>
                        <a:rPr kumimoji="1" lang="ja-JP" altLang="en-US" sz="1200" dirty="0"/>
                        <a:t>言語</a:t>
                      </a:r>
                    </a:p>
                  </a:txBody>
                  <a:tcPr/>
                </a:tc>
                <a:tc>
                  <a:txBody>
                    <a:bodyPr/>
                    <a:lstStyle/>
                    <a:p>
                      <a:pPr algn="ctr"/>
                      <a:r>
                        <a:rPr kumimoji="1" lang="ja-JP" altLang="en-US" sz="1200" dirty="0"/>
                        <a:t>経歴</a:t>
                      </a:r>
                    </a:p>
                  </a:txBody>
                  <a:tcPr/>
                </a:tc>
                <a:tc>
                  <a:txBody>
                    <a:bodyPr/>
                    <a:lstStyle/>
                    <a:p>
                      <a:pPr algn="ctr"/>
                      <a:r>
                        <a:rPr kumimoji="1" lang="ja-JP" altLang="en-US" sz="1200" dirty="0"/>
                        <a:t>研修受講歴</a:t>
                      </a:r>
                    </a:p>
                  </a:txBody>
                  <a:tcPr/>
                </a:tc>
                <a:tc>
                  <a:txBody>
                    <a:bodyPr/>
                    <a:lstStyle/>
                    <a:p>
                      <a:pPr algn="ctr"/>
                      <a:r>
                        <a:rPr kumimoji="1" lang="ja-JP" altLang="en-US" sz="1200" dirty="0"/>
                        <a:t>技術力</a:t>
                      </a:r>
                    </a:p>
                  </a:txBody>
                  <a:tcPr/>
                </a:tc>
                <a:tc>
                  <a:txBody>
                    <a:bodyPr/>
                    <a:lstStyle/>
                    <a:p>
                      <a:pPr algn="ctr"/>
                      <a:r>
                        <a:rPr kumimoji="1" lang="ja-JP" altLang="en-US" sz="1200" dirty="0"/>
                        <a:t>受講態度</a:t>
                      </a:r>
                    </a:p>
                  </a:txBody>
                  <a:tcPr/>
                </a:tc>
                <a:tc>
                  <a:txBody>
                    <a:bodyPr/>
                    <a:lstStyle/>
                    <a:p>
                      <a:pPr algn="ctr"/>
                      <a:r>
                        <a:rPr kumimoji="1" lang="ja-JP" altLang="en-US" sz="1200" dirty="0"/>
                        <a:t>コミュニケーション能力</a:t>
                      </a:r>
                    </a:p>
                  </a:txBody>
                  <a:tcPr/>
                </a:tc>
                <a:tc>
                  <a:txBody>
                    <a:bodyPr/>
                    <a:lstStyle/>
                    <a:p>
                      <a:pPr algn="ctr"/>
                      <a:r>
                        <a:rPr kumimoji="1" lang="ja-JP" altLang="en-US" sz="1200" dirty="0"/>
                        <a:t>リーダーシップ</a:t>
                      </a:r>
                    </a:p>
                  </a:txBody>
                  <a:tcPr/>
                </a:tc>
                <a:extLst>
                  <a:ext uri="{0D108BD9-81ED-4DB2-BD59-A6C34878D82A}">
                    <a16:rowId xmlns:a16="http://schemas.microsoft.com/office/drawing/2014/main" val="3031805351"/>
                  </a:ext>
                </a:extLst>
              </a:tr>
              <a:tr h="534788">
                <a:tc>
                  <a:txBody>
                    <a:bodyPr/>
                    <a:lstStyle/>
                    <a:p>
                      <a:r>
                        <a:rPr kumimoji="1" lang="ja-JP" altLang="en-US" sz="1200" dirty="0"/>
                        <a:t>山田 太郎</a:t>
                      </a:r>
                    </a:p>
                  </a:txBody>
                  <a:tcPr>
                    <a:solidFill>
                      <a:srgbClr val="FF0000"/>
                    </a:solidFill>
                  </a:tcPr>
                </a:tc>
                <a:tc>
                  <a:txBody>
                    <a:bodyPr/>
                    <a:lstStyle/>
                    <a:p>
                      <a:r>
                        <a:rPr kumimoji="1" lang="en-US" altLang="ja-JP" sz="1200" dirty="0"/>
                        <a:t>00001</a:t>
                      </a:r>
                    </a:p>
                  </a:txBody>
                  <a:tcPr>
                    <a:solidFill>
                      <a:srgbClr val="FF0000"/>
                    </a:solidFill>
                  </a:tcPr>
                </a:tc>
                <a:tc>
                  <a:txBody>
                    <a:bodyPr/>
                    <a:lstStyle/>
                    <a:p>
                      <a:r>
                        <a:rPr kumimoji="1" lang="en-US" altLang="ja-JP" sz="1200" dirty="0"/>
                        <a:t>1989/2/14</a:t>
                      </a:r>
                      <a:endParaRPr kumimoji="1" lang="ja-JP" altLang="en-US" sz="1200" dirty="0"/>
                    </a:p>
                  </a:txBody>
                  <a:tcPr>
                    <a:solidFill>
                      <a:srgbClr val="FF0000"/>
                    </a:solidFill>
                  </a:tcPr>
                </a:tc>
                <a:tc>
                  <a:txBody>
                    <a:bodyPr/>
                    <a:lstStyle/>
                    <a:p>
                      <a:r>
                        <a:rPr kumimoji="1" lang="en-US" altLang="ja-JP" sz="1200" dirty="0"/>
                        <a:t>2017/4</a:t>
                      </a:r>
                      <a:endParaRPr kumimoji="1" lang="ja-JP" altLang="en-US" sz="1200" dirty="0"/>
                    </a:p>
                  </a:txBody>
                  <a:tcPr>
                    <a:solidFill>
                      <a:srgbClr val="FF0000"/>
                    </a:solidFill>
                  </a:tcPr>
                </a:tc>
                <a:tc>
                  <a:txBody>
                    <a:bodyPr/>
                    <a:lstStyle/>
                    <a:p>
                      <a:r>
                        <a:rPr kumimoji="1" lang="en-US" altLang="ja-JP" sz="1200" dirty="0"/>
                        <a:t>13</a:t>
                      </a:r>
                      <a:r>
                        <a:rPr kumimoji="1" lang="ja-JP" altLang="en-US" sz="1200" dirty="0"/>
                        <a:t>年</a:t>
                      </a:r>
                      <a:r>
                        <a:rPr kumimoji="1" lang="en-US" altLang="ja-JP" sz="1200" dirty="0"/>
                        <a:t>2</a:t>
                      </a:r>
                      <a:r>
                        <a:rPr kumimoji="1" lang="ja-JP" altLang="en-US" sz="1200" dirty="0"/>
                        <a:t>ヶ月</a:t>
                      </a:r>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extLst>
                  <a:ext uri="{0D108BD9-81ED-4DB2-BD59-A6C34878D82A}">
                    <a16:rowId xmlns:a16="http://schemas.microsoft.com/office/drawing/2014/main" val="1181288494"/>
                  </a:ext>
                </a:extLst>
              </a:tr>
              <a:tr h="534788">
                <a:tc>
                  <a:txBody>
                    <a:bodyPr/>
                    <a:lstStyle/>
                    <a:p>
                      <a:r>
                        <a:rPr kumimoji="1" lang="ja-JP" altLang="en-US" sz="1200" dirty="0"/>
                        <a:t>田中 花子</a:t>
                      </a:r>
                    </a:p>
                  </a:txBody>
                  <a:tcPr/>
                </a:tc>
                <a:tc>
                  <a:txBody>
                    <a:bodyPr/>
                    <a:lstStyle/>
                    <a:p>
                      <a:r>
                        <a:rPr kumimoji="1" lang="en-US" altLang="ja-JP" sz="1200" dirty="0"/>
                        <a:t>00002</a:t>
                      </a:r>
                      <a:endParaRPr kumimoji="1" lang="ja-JP" altLang="en-US" sz="1200" dirty="0"/>
                    </a:p>
                  </a:txBody>
                  <a:tcPr/>
                </a:tc>
                <a:tc>
                  <a:txBody>
                    <a:bodyPr/>
                    <a:lstStyle/>
                    <a:p>
                      <a:r>
                        <a:rPr kumimoji="1" lang="en-US" altLang="ja-JP" sz="1200" dirty="0"/>
                        <a:t>1992/1/23</a:t>
                      </a:r>
                      <a:endParaRPr kumimoji="1" lang="ja-JP" altLang="en-US" sz="1200" dirty="0"/>
                    </a:p>
                  </a:txBody>
                  <a:tcPr/>
                </a:tc>
                <a:tc>
                  <a:txBody>
                    <a:bodyPr/>
                    <a:lstStyle/>
                    <a:p>
                      <a:r>
                        <a:rPr kumimoji="1" lang="en-US" altLang="ja-JP" sz="1200" dirty="0"/>
                        <a:t>2017/4</a:t>
                      </a:r>
                      <a:endParaRPr kumimoji="1" lang="ja-JP" altLang="en-US" sz="1200" dirty="0"/>
                    </a:p>
                  </a:txBody>
                  <a:tcPr/>
                </a:tc>
                <a:tc>
                  <a:txBody>
                    <a:bodyPr/>
                    <a:lstStyle/>
                    <a:p>
                      <a:r>
                        <a:rPr kumimoji="1" lang="en-US" altLang="ja-JP" sz="1200" dirty="0"/>
                        <a:t>9</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p>
                    <a:p>
                      <a:endParaRPr kumimoji="1" lang="ja-JP" altLang="en-US" dirty="0"/>
                    </a:p>
                  </a:txBody>
                  <a:tcPr/>
                </a:tc>
                <a:extLst>
                  <a:ext uri="{0D108BD9-81ED-4DB2-BD59-A6C34878D82A}">
                    <a16:rowId xmlns:a16="http://schemas.microsoft.com/office/drawing/2014/main" val="2841193060"/>
                  </a:ext>
                </a:extLst>
              </a:tr>
              <a:tr h="534788">
                <a:tc>
                  <a:txBody>
                    <a:bodyPr/>
                    <a:lstStyle/>
                    <a:p>
                      <a:r>
                        <a:rPr kumimoji="1" lang="ja-JP" altLang="en-US" sz="1200" dirty="0"/>
                        <a:t>佐藤 健</a:t>
                      </a:r>
                    </a:p>
                  </a:txBody>
                  <a:tcPr/>
                </a:tc>
                <a:tc>
                  <a:txBody>
                    <a:bodyPr/>
                    <a:lstStyle/>
                    <a:p>
                      <a:r>
                        <a:rPr kumimoji="1" lang="en-US" altLang="ja-JP" sz="1200" dirty="0"/>
                        <a:t>00003</a:t>
                      </a:r>
                      <a:endParaRPr kumimoji="1" lang="ja-JP" altLang="en-US" sz="1200" dirty="0"/>
                    </a:p>
                  </a:txBody>
                  <a:tcPr/>
                </a:tc>
                <a:tc>
                  <a:txBody>
                    <a:bodyPr/>
                    <a:lstStyle/>
                    <a:p>
                      <a:r>
                        <a:rPr kumimoji="1" lang="en-US" altLang="ja-JP" sz="1200" dirty="0"/>
                        <a:t>1990/12/31</a:t>
                      </a:r>
                      <a:endParaRPr kumimoji="1" lang="ja-JP" altLang="en-US" sz="1200" dirty="0"/>
                    </a:p>
                  </a:txBody>
                  <a:tcPr/>
                </a:tc>
                <a:tc>
                  <a:txBody>
                    <a:bodyPr/>
                    <a:lstStyle/>
                    <a:p>
                      <a:r>
                        <a:rPr kumimoji="1" lang="en-US" altLang="ja-JP" sz="1200" dirty="0"/>
                        <a:t>2017/10</a:t>
                      </a:r>
                      <a:endParaRPr kumimoji="1" lang="ja-JP" altLang="en-US" sz="1200" dirty="0"/>
                    </a:p>
                  </a:txBody>
                  <a:tcPr/>
                </a:tc>
                <a:tc>
                  <a:txBody>
                    <a:bodyPr/>
                    <a:lstStyle/>
                    <a:p>
                      <a:r>
                        <a:rPr kumimoji="1" lang="en-US" altLang="ja-JP" sz="1200" dirty="0"/>
                        <a:t>8</a:t>
                      </a:r>
                      <a:r>
                        <a:rPr kumimoji="1" lang="ja-JP" altLang="en-US" sz="1200" dirty="0"/>
                        <a:t>年</a:t>
                      </a:r>
                      <a:r>
                        <a:rPr kumimoji="1" lang="en-US" altLang="ja-JP" sz="1200" dirty="0"/>
                        <a:t>8</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125601969"/>
                  </a:ext>
                </a:extLst>
              </a:tr>
              <a:tr h="534788">
                <a:tc>
                  <a:txBody>
                    <a:bodyPr/>
                    <a:lstStyle/>
                    <a:p>
                      <a:r>
                        <a:rPr kumimoji="1" lang="ja-JP" altLang="en-US" sz="1200" dirty="0"/>
                        <a:t>木村 直也</a:t>
                      </a:r>
                    </a:p>
                  </a:txBody>
                  <a:tcPr/>
                </a:tc>
                <a:tc>
                  <a:txBody>
                    <a:bodyPr/>
                    <a:lstStyle/>
                    <a:p>
                      <a:r>
                        <a:rPr kumimoji="1" lang="en-US" altLang="ja-JP" sz="1200" dirty="0"/>
                        <a:t>00004</a:t>
                      </a:r>
                      <a:endParaRPr kumimoji="1" lang="ja-JP" altLang="en-US" sz="1200" dirty="0"/>
                    </a:p>
                  </a:txBody>
                  <a:tcPr/>
                </a:tc>
                <a:tc>
                  <a:txBody>
                    <a:bodyPr/>
                    <a:lstStyle/>
                    <a:p>
                      <a:r>
                        <a:rPr kumimoji="1" lang="en-US" altLang="ja-JP" sz="1200" dirty="0"/>
                        <a:t>2000/4/12</a:t>
                      </a:r>
                      <a:endParaRPr kumimoji="1" lang="ja-JP" altLang="en-US" sz="1200" dirty="0"/>
                    </a:p>
                  </a:txBody>
                  <a:tcPr/>
                </a:tc>
                <a:tc>
                  <a:txBody>
                    <a:bodyPr/>
                    <a:lstStyle/>
                    <a:p>
                      <a:r>
                        <a:rPr kumimoji="1" lang="en-US" altLang="ja-JP" sz="1200" dirty="0"/>
                        <a:t>2024/6</a:t>
                      </a:r>
                      <a:endParaRPr kumimoji="1" lang="ja-JP" altLang="en-US" sz="1200" dirty="0"/>
                    </a:p>
                  </a:txBody>
                  <a:tcPr/>
                </a:tc>
                <a:tc>
                  <a:txBody>
                    <a:bodyPr/>
                    <a:lstStyle/>
                    <a:p>
                      <a:r>
                        <a:rPr kumimoji="1" lang="en-US" altLang="ja-JP" sz="1200" dirty="0"/>
                        <a:t>2</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1267473416"/>
                  </a:ext>
                </a:extLst>
              </a:tr>
              <a:tr h="534788">
                <a:tc>
                  <a:txBody>
                    <a:bodyPr/>
                    <a:lstStyle/>
                    <a:p>
                      <a:r>
                        <a:rPr kumimoji="1" lang="ja-JP" altLang="en-US" sz="1200" dirty="0"/>
                        <a:t>間地 佳代</a:t>
                      </a:r>
                    </a:p>
                  </a:txBody>
                  <a:tcPr>
                    <a:solidFill>
                      <a:srgbClr val="FF0000"/>
                    </a:solidFill>
                  </a:tcPr>
                </a:tc>
                <a:tc>
                  <a:txBody>
                    <a:bodyPr/>
                    <a:lstStyle/>
                    <a:p>
                      <a:r>
                        <a:rPr kumimoji="1" lang="en-US" altLang="ja-JP" sz="1200" dirty="0"/>
                        <a:t>00005</a:t>
                      </a:r>
                      <a:endParaRPr kumimoji="1" lang="ja-JP" altLang="en-US" sz="1200" dirty="0"/>
                    </a:p>
                  </a:txBody>
                  <a:tcPr>
                    <a:solidFill>
                      <a:srgbClr val="FF0000"/>
                    </a:solidFill>
                  </a:tcPr>
                </a:tc>
                <a:tc>
                  <a:txBody>
                    <a:bodyPr/>
                    <a:lstStyle/>
                    <a:p>
                      <a:r>
                        <a:rPr kumimoji="1" lang="en-US" altLang="ja-JP" sz="1200" dirty="0"/>
                        <a:t>1995/10/24</a:t>
                      </a:r>
                      <a:endParaRPr kumimoji="1" lang="ja-JP" altLang="en-US" sz="1200" dirty="0"/>
                    </a:p>
                  </a:txBody>
                  <a:tcPr>
                    <a:solidFill>
                      <a:srgbClr val="FF0000"/>
                    </a:solidFill>
                  </a:tcPr>
                </a:tc>
                <a:tc>
                  <a:txBody>
                    <a:bodyPr/>
                    <a:lstStyle/>
                    <a:p>
                      <a:r>
                        <a:rPr kumimoji="1" lang="en-US" altLang="ja-JP" sz="1200" dirty="0"/>
                        <a:t>2019/4</a:t>
                      </a:r>
                      <a:endParaRPr kumimoji="1" lang="ja-JP" altLang="en-US" sz="1200" dirty="0"/>
                    </a:p>
                  </a:txBody>
                  <a:tcPr>
                    <a:solidFill>
                      <a:srgbClr val="FF0000"/>
                    </a:solidFill>
                  </a:tcPr>
                </a:tc>
                <a:tc>
                  <a:txBody>
                    <a:bodyPr/>
                    <a:lstStyle/>
                    <a:p>
                      <a:r>
                        <a:rPr kumimoji="1" lang="en-US" altLang="ja-JP" sz="1200" dirty="0"/>
                        <a:t>10</a:t>
                      </a:r>
                      <a:r>
                        <a:rPr kumimoji="1" lang="ja-JP" altLang="en-US" sz="1200" dirty="0"/>
                        <a:t>年</a:t>
                      </a:r>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extLst>
                  <a:ext uri="{0D108BD9-81ED-4DB2-BD59-A6C34878D82A}">
                    <a16:rowId xmlns:a16="http://schemas.microsoft.com/office/drawing/2014/main" val="761762557"/>
                  </a:ext>
                </a:extLst>
              </a:tr>
              <a:tr h="534788">
                <a:tc>
                  <a:txBody>
                    <a:bodyPr/>
                    <a:lstStyle/>
                    <a:p>
                      <a:r>
                        <a:rPr kumimoji="1" lang="ja-JP" altLang="en-US" sz="1200" dirty="0"/>
                        <a:t>秋葉 花</a:t>
                      </a:r>
                    </a:p>
                  </a:txBody>
                  <a:tcPr/>
                </a:tc>
                <a:tc>
                  <a:txBody>
                    <a:bodyPr/>
                    <a:lstStyle/>
                    <a:p>
                      <a:r>
                        <a:rPr kumimoji="1" lang="en-US" altLang="ja-JP" sz="1200" dirty="0"/>
                        <a:t>00006</a:t>
                      </a:r>
                      <a:endParaRPr kumimoji="1" lang="ja-JP" altLang="en-US" sz="1200" dirty="0"/>
                    </a:p>
                  </a:txBody>
                  <a:tcPr/>
                </a:tc>
                <a:tc>
                  <a:txBody>
                    <a:bodyPr/>
                    <a:lstStyle/>
                    <a:p>
                      <a:r>
                        <a:rPr kumimoji="1" lang="en-US" altLang="ja-JP" sz="1200" dirty="0"/>
                        <a:t>1996/2/23</a:t>
                      </a:r>
                      <a:endParaRPr kumimoji="1" lang="ja-JP" altLang="en-US" sz="1200" dirty="0"/>
                    </a:p>
                  </a:txBody>
                  <a:tcPr/>
                </a:tc>
                <a:tc>
                  <a:txBody>
                    <a:bodyPr/>
                    <a:lstStyle/>
                    <a:p>
                      <a:r>
                        <a:rPr kumimoji="1" lang="en-US" altLang="ja-JP" sz="1200" dirty="0"/>
                        <a:t>2022/7</a:t>
                      </a:r>
                      <a:endParaRPr kumimoji="1" lang="ja-JP" altLang="en-US" sz="1200" dirty="0"/>
                    </a:p>
                  </a:txBody>
                  <a:tcPr/>
                </a:tc>
                <a:tc>
                  <a:txBody>
                    <a:bodyPr/>
                    <a:lstStyle/>
                    <a:p>
                      <a:r>
                        <a:rPr kumimoji="1" lang="en-US" altLang="ja-JP" sz="1200" dirty="0"/>
                        <a:t>3</a:t>
                      </a:r>
                      <a:r>
                        <a:rPr kumimoji="1" lang="ja-JP" altLang="en-US" sz="1200" dirty="0"/>
                        <a:t>年</a:t>
                      </a:r>
                      <a:r>
                        <a:rPr kumimoji="1" lang="en-US" altLang="ja-JP" sz="1200" dirty="0"/>
                        <a:t>10</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902287736"/>
                  </a:ext>
                </a:extLst>
              </a:tr>
              <a:tr h="534788">
                <a:tc>
                  <a:txBody>
                    <a:bodyPr/>
                    <a:lstStyle/>
                    <a:p>
                      <a:r>
                        <a:rPr kumimoji="1" lang="ja-JP" altLang="en-US" sz="1200" dirty="0"/>
                        <a:t>野原 しん</a:t>
                      </a:r>
                    </a:p>
                  </a:txBody>
                  <a:tcPr/>
                </a:tc>
                <a:tc>
                  <a:txBody>
                    <a:bodyPr/>
                    <a:lstStyle/>
                    <a:p>
                      <a:r>
                        <a:rPr kumimoji="1" lang="en-US" altLang="ja-JP" sz="1200" dirty="0"/>
                        <a:t>00007</a:t>
                      </a:r>
                      <a:endParaRPr kumimoji="1" lang="ja-JP" altLang="en-US" sz="1200" dirty="0"/>
                    </a:p>
                  </a:txBody>
                  <a:tcPr/>
                </a:tc>
                <a:tc>
                  <a:txBody>
                    <a:bodyPr/>
                    <a:lstStyle/>
                    <a:p>
                      <a:r>
                        <a:rPr kumimoji="1" lang="en-US" altLang="ja-JP" sz="1200" dirty="0"/>
                        <a:t>2003/1/30</a:t>
                      </a:r>
                      <a:endParaRPr kumimoji="1" lang="ja-JP" altLang="en-US" sz="1200" dirty="0"/>
                    </a:p>
                  </a:txBody>
                  <a:tcPr/>
                </a:tc>
                <a:tc>
                  <a:txBody>
                    <a:bodyPr/>
                    <a:lstStyle/>
                    <a:p>
                      <a:r>
                        <a:rPr kumimoji="1" lang="en-US" altLang="ja-JP" sz="1200" dirty="0"/>
                        <a:t>2025/12</a:t>
                      </a:r>
                      <a:endParaRPr kumimoji="1" lang="ja-JP" altLang="en-US" sz="1200" dirty="0"/>
                    </a:p>
                  </a:txBody>
                  <a:tcPr/>
                </a:tc>
                <a:tc>
                  <a:txBody>
                    <a:bodyPr/>
                    <a:lstStyle/>
                    <a:p>
                      <a:r>
                        <a:rPr kumimoji="1" lang="en-US" altLang="ja-JP" sz="1200" dirty="0"/>
                        <a:t>5</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924052398"/>
                  </a:ext>
                </a:extLst>
              </a:tr>
            </a:tbl>
          </a:graphicData>
        </a:graphic>
      </p:graphicFrame>
      <p:sp>
        <p:nvSpPr>
          <p:cNvPr id="31" name="テキスト ボックス 30">
            <a:extLst>
              <a:ext uri="{FF2B5EF4-FFF2-40B4-BE49-F238E27FC236}">
                <a16:creationId xmlns:a16="http://schemas.microsoft.com/office/drawing/2014/main" id="{DAB45A54-0647-0F47-5940-77CCD425DB38}"/>
              </a:ext>
            </a:extLst>
          </p:cNvPr>
          <p:cNvSpPr txBox="1"/>
          <p:nvPr/>
        </p:nvSpPr>
        <p:spPr>
          <a:xfrm>
            <a:off x="5362247" y="1925891"/>
            <a:ext cx="914400" cy="369332"/>
          </a:xfrm>
          <a:prstGeom prst="rect">
            <a:avLst/>
          </a:prstGeom>
          <a:noFill/>
        </p:spPr>
        <p:txBody>
          <a:bodyPr wrap="square" rtlCol="0">
            <a:spAutoFit/>
          </a:bodyPr>
          <a:lstStyle/>
          <a:p>
            <a:r>
              <a:rPr kumimoji="1" lang="ja-JP" altLang="en-US" dirty="0">
                <a:solidFill>
                  <a:schemeClr val="bg1"/>
                </a:solidFill>
              </a:rPr>
              <a:t>ソート</a:t>
            </a:r>
          </a:p>
        </p:txBody>
      </p:sp>
      <p:sp>
        <p:nvSpPr>
          <p:cNvPr id="33" name="テキスト ボックス 32">
            <a:extLst>
              <a:ext uri="{FF2B5EF4-FFF2-40B4-BE49-F238E27FC236}">
                <a16:creationId xmlns:a16="http://schemas.microsoft.com/office/drawing/2014/main" id="{5881DAB9-9875-B72D-460D-36D2F8356914}"/>
              </a:ext>
            </a:extLst>
          </p:cNvPr>
          <p:cNvSpPr txBox="1"/>
          <p:nvPr/>
        </p:nvSpPr>
        <p:spPr>
          <a:xfrm>
            <a:off x="7361056" y="1923575"/>
            <a:ext cx="914400" cy="369332"/>
          </a:xfrm>
          <a:prstGeom prst="rect">
            <a:avLst/>
          </a:prstGeom>
          <a:noFill/>
        </p:spPr>
        <p:txBody>
          <a:bodyPr wrap="square" rtlCol="0">
            <a:spAutoFit/>
          </a:bodyPr>
          <a:lstStyle/>
          <a:p>
            <a:r>
              <a:rPr kumimoji="1" lang="ja-JP" altLang="en-US" dirty="0"/>
              <a:t>選択</a:t>
            </a:r>
          </a:p>
        </p:txBody>
      </p:sp>
      <p:sp>
        <p:nvSpPr>
          <p:cNvPr id="34" name="テキスト ボックス 33">
            <a:extLst>
              <a:ext uri="{FF2B5EF4-FFF2-40B4-BE49-F238E27FC236}">
                <a16:creationId xmlns:a16="http://schemas.microsoft.com/office/drawing/2014/main" id="{7B41F7A8-F0FC-C624-56E0-15E6C06E4898}"/>
              </a:ext>
            </a:extLst>
          </p:cNvPr>
          <p:cNvSpPr txBox="1"/>
          <p:nvPr/>
        </p:nvSpPr>
        <p:spPr>
          <a:xfrm>
            <a:off x="9243905" y="1923575"/>
            <a:ext cx="646331" cy="369332"/>
          </a:xfrm>
          <a:prstGeom prst="rect">
            <a:avLst/>
          </a:prstGeom>
          <a:noFill/>
        </p:spPr>
        <p:txBody>
          <a:bodyPr wrap="none" rtlCol="0">
            <a:spAutoFit/>
          </a:bodyPr>
          <a:lstStyle/>
          <a:p>
            <a:r>
              <a:rPr kumimoji="1" lang="ja-JP" altLang="en-US" dirty="0">
                <a:solidFill>
                  <a:srgbClr val="FF0000"/>
                </a:solidFill>
              </a:rPr>
              <a:t>削除</a:t>
            </a:r>
          </a:p>
        </p:txBody>
      </p:sp>
      <p:sp>
        <p:nvSpPr>
          <p:cNvPr id="35" name="テキスト ボックス 34">
            <a:extLst>
              <a:ext uri="{FF2B5EF4-FFF2-40B4-BE49-F238E27FC236}">
                <a16:creationId xmlns:a16="http://schemas.microsoft.com/office/drawing/2014/main" id="{FBF943BD-0FA7-7FEE-73C7-6B7AF1E698E0}"/>
              </a:ext>
            </a:extLst>
          </p:cNvPr>
          <p:cNvSpPr txBox="1"/>
          <p:nvPr/>
        </p:nvSpPr>
        <p:spPr>
          <a:xfrm>
            <a:off x="11147686" y="1923575"/>
            <a:ext cx="646331" cy="369332"/>
          </a:xfrm>
          <a:prstGeom prst="rect">
            <a:avLst/>
          </a:prstGeom>
          <a:noFill/>
        </p:spPr>
        <p:txBody>
          <a:bodyPr wrap="none" rtlCol="0">
            <a:spAutoFit/>
          </a:bodyPr>
          <a:lstStyle/>
          <a:p>
            <a:r>
              <a:rPr kumimoji="1" lang="ja-JP" altLang="en-US" dirty="0">
                <a:solidFill>
                  <a:schemeClr val="bg1"/>
                </a:solidFill>
              </a:rPr>
              <a:t>出力</a:t>
            </a:r>
          </a:p>
        </p:txBody>
      </p:sp>
    </p:spTree>
    <p:extLst>
      <p:ext uri="{BB962C8B-B14F-4D97-AF65-F5344CB8AC3E}">
        <p14:creationId xmlns:p14="http://schemas.microsoft.com/office/powerpoint/2010/main" val="1733989083"/>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7306E-50FD-E159-18D2-2449D85C1D57}"/>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B7A4D44C-21BF-9C25-DCAB-0EBAD30AD437}"/>
              </a:ext>
            </a:extLst>
          </p:cNvPr>
          <p:cNvSpPr/>
          <p:nvPr/>
        </p:nvSpPr>
        <p:spPr>
          <a:xfrm>
            <a:off x="0" y="925290"/>
            <a:ext cx="12192000"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4" name="テキスト ボックス 5">
            <a:extLst>
              <a:ext uri="{FF2B5EF4-FFF2-40B4-BE49-F238E27FC236}">
                <a16:creationId xmlns:a16="http://schemas.microsoft.com/office/drawing/2014/main" id="{67BB5918-74D4-7FF1-0E55-53C8927B93DE}"/>
              </a:ext>
            </a:extLst>
          </p:cNvPr>
          <p:cNvSpPr txBox="1"/>
          <p:nvPr/>
        </p:nvSpPr>
        <p:spPr>
          <a:xfrm>
            <a:off x="400828" y="1097007"/>
            <a:ext cx="3475927"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3600" b="0" i="0" u="none" strike="noStrike" kern="1200" cap="none" spc="0" baseline="0" dirty="0">
                <a:solidFill>
                  <a:srgbClr val="FFFFFF"/>
                </a:solidFill>
                <a:uFillTx/>
                <a:latin typeface="游ゴシック"/>
                <a:ea typeface="游ゴシック" pitchFamily="50"/>
              </a:rPr>
              <a:t>エンジニア一覧</a:t>
            </a:r>
            <a:endParaRPr lang="en-US" sz="3600" b="0" i="0" u="none" strike="noStrike" kern="1200" cap="none" spc="0" baseline="0" dirty="0">
              <a:solidFill>
                <a:srgbClr val="FFFFFF"/>
              </a:solidFill>
              <a:uFillTx/>
              <a:latin typeface="游ゴシック"/>
              <a:ea typeface="游ゴシック" pitchFamily="50"/>
            </a:endParaRPr>
          </a:p>
        </p:txBody>
      </p:sp>
      <p:sp>
        <p:nvSpPr>
          <p:cNvPr id="6" name="正方形/長方形 6">
            <a:extLst>
              <a:ext uri="{FF2B5EF4-FFF2-40B4-BE49-F238E27FC236}">
                <a16:creationId xmlns:a16="http://schemas.microsoft.com/office/drawing/2014/main" id="{6A39D422-38C9-4383-4B1E-8FC8F83E3D86}"/>
              </a:ext>
            </a:extLst>
          </p:cNvPr>
          <p:cNvSpPr/>
          <p:nvPr/>
        </p:nvSpPr>
        <p:spPr>
          <a:xfrm>
            <a:off x="9428622" y="1134209"/>
            <a:ext cx="2573321" cy="507204"/>
          </a:xfrm>
          <a:prstGeom prst="rect">
            <a:avLst/>
          </a:prstGeom>
          <a:solidFill>
            <a:srgbClr val="D9D9D9"/>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CED1A476-D3B2-9253-AF6A-B7370287DB85}"/>
              </a:ext>
            </a:extLst>
          </p:cNvPr>
          <p:cNvSpPr txBox="1"/>
          <p:nvPr/>
        </p:nvSpPr>
        <p:spPr>
          <a:xfrm>
            <a:off x="304796" y="195946"/>
            <a:ext cx="4124847"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1</a:t>
            </a:r>
            <a:r>
              <a:rPr lang="en-US" altLang="ja-JP" sz="3600" b="0" i="0" u="none" strike="noStrike" kern="1200" cap="none" spc="0" baseline="0" dirty="0">
                <a:solidFill>
                  <a:srgbClr val="000000"/>
                </a:solidFill>
                <a:uFillTx/>
                <a:latin typeface="游ゴシック"/>
                <a:ea typeface="游ゴシック" pitchFamily="50"/>
              </a:rPr>
              <a:t>-5</a:t>
            </a:r>
            <a:r>
              <a:rPr lang="ja-JP" sz="3600" b="0" i="0" u="none" strike="noStrike" kern="1200" cap="none" spc="0" baseline="0" dirty="0">
                <a:solidFill>
                  <a:srgbClr val="000000"/>
                </a:solidFill>
                <a:uFillTx/>
                <a:latin typeface="游ゴシック"/>
                <a:ea typeface="游ゴシック" pitchFamily="50"/>
              </a:rPr>
              <a:t>　</a:t>
            </a:r>
            <a:r>
              <a:rPr lang="ja-JP" altLang="en-US" sz="3600" b="0" i="0" u="none" strike="noStrike" kern="1200" cap="none" spc="0" baseline="0" dirty="0">
                <a:solidFill>
                  <a:srgbClr val="000000"/>
                </a:solidFill>
                <a:uFillTx/>
                <a:latin typeface="游ゴシック"/>
                <a:ea typeface="游ゴシック" pitchFamily="50"/>
              </a:rPr>
              <a:t>削除機能</a:t>
            </a:r>
            <a:endParaRPr lang="en-US" sz="3600" b="0" i="0" u="none" strike="noStrike" kern="1200" cap="none" spc="0" baseline="0" dirty="0">
              <a:solidFill>
                <a:srgbClr val="000000"/>
              </a:solidFill>
              <a:uFillTx/>
              <a:latin typeface="游ゴシック"/>
              <a:ea typeface="游ゴシック" pitchFamily="50"/>
            </a:endParaRPr>
          </a:p>
        </p:txBody>
      </p:sp>
      <p:sp>
        <p:nvSpPr>
          <p:cNvPr id="20" name="円: 塗りつぶしなし 19">
            <a:extLst>
              <a:ext uri="{FF2B5EF4-FFF2-40B4-BE49-F238E27FC236}">
                <a16:creationId xmlns:a16="http://schemas.microsoft.com/office/drawing/2014/main" id="{309829D4-8733-2FF1-1248-1FA24157D7FF}"/>
              </a:ext>
            </a:extLst>
          </p:cNvPr>
          <p:cNvSpPr/>
          <p:nvPr/>
        </p:nvSpPr>
        <p:spPr>
          <a:xfrm>
            <a:off x="11457974" y="1194833"/>
            <a:ext cx="283642" cy="266941"/>
          </a:xfrm>
          <a:prstGeom prst="donu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正方形/長方形 23">
            <a:extLst>
              <a:ext uri="{FF2B5EF4-FFF2-40B4-BE49-F238E27FC236}">
                <a16:creationId xmlns:a16="http://schemas.microsoft.com/office/drawing/2014/main" id="{30F96F00-D50D-3E5A-D278-957BB33A8EEC}"/>
              </a:ext>
            </a:extLst>
          </p:cNvPr>
          <p:cNvSpPr/>
          <p:nvPr/>
        </p:nvSpPr>
        <p:spPr>
          <a:xfrm rot="7871681">
            <a:off x="11742067" y="1340078"/>
            <a:ext cx="45719" cy="274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1286A52D-3293-4CE4-F80C-31A206321103}"/>
              </a:ext>
            </a:extLst>
          </p:cNvPr>
          <p:cNvSpPr/>
          <p:nvPr/>
        </p:nvSpPr>
        <p:spPr>
          <a:xfrm>
            <a:off x="5228418"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B15726BA-A323-E301-33CB-BC9E4BF61868}"/>
              </a:ext>
            </a:extLst>
          </p:cNvPr>
          <p:cNvSpPr/>
          <p:nvPr/>
        </p:nvSpPr>
        <p:spPr>
          <a:xfrm>
            <a:off x="7132199" y="1894627"/>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A2DD7CA2-C3BC-DA43-5E8B-83DD73F765F4}"/>
              </a:ext>
            </a:extLst>
          </p:cNvPr>
          <p:cNvSpPr/>
          <p:nvPr/>
        </p:nvSpPr>
        <p:spPr>
          <a:xfrm>
            <a:off x="9035980"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2BE5BBB2-2264-1C7F-1AB6-C17F62CCD534}"/>
              </a:ext>
            </a:extLst>
          </p:cNvPr>
          <p:cNvSpPr/>
          <p:nvPr/>
        </p:nvSpPr>
        <p:spPr>
          <a:xfrm>
            <a:off x="10939761"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0" name="表 29">
            <a:extLst>
              <a:ext uri="{FF2B5EF4-FFF2-40B4-BE49-F238E27FC236}">
                <a16:creationId xmlns:a16="http://schemas.microsoft.com/office/drawing/2014/main" id="{B9F76936-4CDF-89FB-67B0-D3659D7523A4}"/>
              </a:ext>
            </a:extLst>
          </p:cNvPr>
          <p:cNvGraphicFramePr>
            <a:graphicFrameLocks noGrp="1"/>
          </p:cNvGraphicFramePr>
          <p:nvPr/>
        </p:nvGraphicFramePr>
        <p:xfrm>
          <a:off x="0" y="2590586"/>
          <a:ext cx="12192000" cy="4383596"/>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843818313"/>
                    </a:ext>
                  </a:extLst>
                </a:gridCol>
                <a:gridCol w="674914">
                  <a:extLst>
                    <a:ext uri="{9D8B030D-6E8A-4147-A177-3AD203B41FA5}">
                      <a16:colId xmlns:a16="http://schemas.microsoft.com/office/drawing/2014/main" val="2593793615"/>
                    </a:ext>
                  </a:extLst>
                </a:gridCol>
                <a:gridCol w="990600">
                  <a:extLst>
                    <a:ext uri="{9D8B030D-6E8A-4147-A177-3AD203B41FA5}">
                      <a16:colId xmlns:a16="http://schemas.microsoft.com/office/drawing/2014/main" val="3819324818"/>
                    </a:ext>
                  </a:extLst>
                </a:gridCol>
                <a:gridCol w="903515">
                  <a:extLst>
                    <a:ext uri="{9D8B030D-6E8A-4147-A177-3AD203B41FA5}">
                      <a16:colId xmlns:a16="http://schemas.microsoft.com/office/drawing/2014/main" val="582941768"/>
                    </a:ext>
                  </a:extLst>
                </a:gridCol>
                <a:gridCol w="1099457">
                  <a:extLst>
                    <a:ext uri="{9D8B030D-6E8A-4147-A177-3AD203B41FA5}">
                      <a16:colId xmlns:a16="http://schemas.microsoft.com/office/drawing/2014/main" val="326648018"/>
                    </a:ext>
                  </a:extLst>
                </a:gridCol>
                <a:gridCol w="642257">
                  <a:extLst>
                    <a:ext uri="{9D8B030D-6E8A-4147-A177-3AD203B41FA5}">
                      <a16:colId xmlns:a16="http://schemas.microsoft.com/office/drawing/2014/main" val="3442362932"/>
                    </a:ext>
                  </a:extLst>
                </a:gridCol>
                <a:gridCol w="707571">
                  <a:extLst>
                    <a:ext uri="{9D8B030D-6E8A-4147-A177-3AD203B41FA5}">
                      <a16:colId xmlns:a16="http://schemas.microsoft.com/office/drawing/2014/main" val="1894457544"/>
                    </a:ext>
                  </a:extLst>
                </a:gridCol>
                <a:gridCol w="1208315">
                  <a:extLst>
                    <a:ext uri="{9D8B030D-6E8A-4147-A177-3AD203B41FA5}">
                      <a16:colId xmlns:a16="http://schemas.microsoft.com/office/drawing/2014/main" val="3378677225"/>
                    </a:ext>
                  </a:extLst>
                </a:gridCol>
                <a:gridCol w="838200">
                  <a:extLst>
                    <a:ext uri="{9D8B030D-6E8A-4147-A177-3AD203B41FA5}">
                      <a16:colId xmlns:a16="http://schemas.microsoft.com/office/drawing/2014/main" val="2724634915"/>
                    </a:ext>
                  </a:extLst>
                </a:gridCol>
                <a:gridCol w="1012371">
                  <a:extLst>
                    <a:ext uri="{9D8B030D-6E8A-4147-A177-3AD203B41FA5}">
                      <a16:colId xmlns:a16="http://schemas.microsoft.com/office/drawing/2014/main" val="2886769858"/>
                    </a:ext>
                  </a:extLst>
                </a:gridCol>
                <a:gridCol w="1883229">
                  <a:extLst>
                    <a:ext uri="{9D8B030D-6E8A-4147-A177-3AD203B41FA5}">
                      <a16:colId xmlns:a16="http://schemas.microsoft.com/office/drawing/2014/main" val="638158319"/>
                    </a:ext>
                  </a:extLst>
                </a:gridCol>
                <a:gridCol w="1317171">
                  <a:extLst>
                    <a:ext uri="{9D8B030D-6E8A-4147-A177-3AD203B41FA5}">
                      <a16:colId xmlns:a16="http://schemas.microsoft.com/office/drawing/2014/main" val="3725689978"/>
                    </a:ext>
                  </a:extLst>
                </a:gridCol>
              </a:tblGrid>
              <a:tr h="534788">
                <a:tc>
                  <a:txBody>
                    <a:bodyPr/>
                    <a:lstStyle/>
                    <a:p>
                      <a:pPr algn="ctr"/>
                      <a:r>
                        <a:rPr kumimoji="1" lang="ja-JP" altLang="en-US" sz="1200" dirty="0"/>
                        <a:t>氏名</a:t>
                      </a:r>
                    </a:p>
                  </a:txBody>
                  <a:tcPr/>
                </a:tc>
                <a:tc>
                  <a:txBody>
                    <a:bodyPr/>
                    <a:lstStyle/>
                    <a:p>
                      <a:pPr algn="ctr"/>
                      <a:r>
                        <a:rPr kumimoji="1" lang="ja-JP" altLang="en-US" sz="1200" dirty="0"/>
                        <a:t>社員</a:t>
                      </a:r>
                      <a:r>
                        <a:rPr kumimoji="1" lang="en-US" altLang="ja-JP" sz="1200" dirty="0"/>
                        <a:t>ID</a:t>
                      </a:r>
                      <a:endParaRPr kumimoji="1" lang="ja-JP" altLang="en-US" sz="1200" dirty="0"/>
                    </a:p>
                  </a:txBody>
                  <a:tcPr/>
                </a:tc>
                <a:tc>
                  <a:txBody>
                    <a:bodyPr/>
                    <a:lstStyle/>
                    <a:p>
                      <a:pPr algn="ctr"/>
                      <a:r>
                        <a:rPr kumimoji="1" lang="ja-JP" altLang="en-US" sz="1200" dirty="0"/>
                        <a:t>生年月日</a:t>
                      </a:r>
                    </a:p>
                  </a:txBody>
                  <a:tcPr/>
                </a:tc>
                <a:tc>
                  <a:txBody>
                    <a:bodyPr/>
                    <a:lstStyle/>
                    <a:p>
                      <a:pPr algn="ctr"/>
                      <a:r>
                        <a:rPr kumimoji="1" lang="ja-JP" altLang="en-US" sz="1200" dirty="0"/>
                        <a:t>入社年月</a:t>
                      </a:r>
                    </a:p>
                  </a:txBody>
                  <a:tcPr/>
                </a:tc>
                <a:tc>
                  <a:txBody>
                    <a:bodyPr/>
                    <a:lstStyle/>
                    <a:p>
                      <a:pPr algn="ctr"/>
                      <a:r>
                        <a:rPr kumimoji="1" lang="ja-JP" altLang="en-US" sz="1200" dirty="0"/>
                        <a:t>エンジニア歴</a:t>
                      </a:r>
                    </a:p>
                  </a:txBody>
                  <a:tcPr/>
                </a:tc>
                <a:tc>
                  <a:txBody>
                    <a:bodyPr/>
                    <a:lstStyle/>
                    <a:p>
                      <a:pPr algn="ctr"/>
                      <a:r>
                        <a:rPr kumimoji="1" lang="ja-JP" altLang="en-US" sz="1200" dirty="0"/>
                        <a:t>言語</a:t>
                      </a:r>
                    </a:p>
                  </a:txBody>
                  <a:tcPr/>
                </a:tc>
                <a:tc>
                  <a:txBody>
                    <a:bodyPr/>
                    <a:lstStyle/>
                    <a:p>
                      <a:pPr algn="ctr"/>
                      <a:r>
                        <a:rPr kumimoji="1" lang="ja-JP" altLang="en-US" sz="1200" dirty="0"/>
                        <a:t>経歴</a:t>
                      </a:r>
                    </a:p>
                  </a:txBody>
                  <a:tcPr/>
                </a:tc>
                <a:tc>
                  <a:txBody>
                    <a:bodyPr/>
                    <a:lstStyle/>
                    <a:p>
                      <a:pPr algn="ctr"/>
                      <a:r>
                        <a:rPr kumimoji="1" lang="ja-JP" altLang="en-US" sz="1200" dirty="0"/>
                        <a:t>研修受講歴</a:t>
                      </a:r>
                    </a:p>
                  </a:txBody>
                  <a:tcPr/>
                </a:tc>
                <a:tc>
                  <a:txBody>
                    <a:bodyPr/>
                    <a:lstStyle/>
                    <a:p>
                      <a:pPr algn="ctr"/>
                      <a:r>
                        <a:rPr kumimoji="1" lang="ja-JP" altLang="en-US" sz="1200" dirty="0"/>
                        <a:t>技術力</a:t>
                      </a:r>
                    </a:p>
                  </a:txBody>
                  <a:tcPr/>
                </a:tc>
                <a:tc>
                  <a:txBody>
                    <a:bodyPr/>
                    <a:lstStyle/>
                    <a:p>
                      <a:pPr algn="ctr"/>
                      <a:r>
                        <a:rPr kumimoji="1" lang="ja-JP" altLang="en-US" sz="1200" dirty="0"/>
                        <a:t>受講態度</a:t>
                      </a:r>
                    </a:p>
                  </a:txBody>
                  <a:tcPr/>
                </a:tc>
                <a:tc>
                  <a:txBody>
                    <a:bodyPr/>
                    <a:lstStyle/>
                    <a:p>
                      <a:pPr algn="ctr"/>
                      <a:r>
                        <a:rPr kumimoji="1" lang="ja-JP" altLang="en-US" sz="1200" dirty="0"/>
                        <a:t>コミュニケーション能力</a:t>
                      </a:r>
                    </a:p>
                  </a:txBody>
                  <a:tcPr/>
                </a:tc>
                <a:tc>
                  <a:txBody>
                    <a:bodyPr/>
                    <a:lstStyle/>
                    <a:p>
                      <a:pPr algn="ctr"/>
                      <a:r>
                        <a:rPr kumimoji="1" lang="ja-JP" altLang="en-US" sz="1200" dirty="0"/>
                        <a:t>リーダーシップ</a:t>
                      </a:r>
                    </a:p>
                  </a:txBody>
                  <a:tcPr/>
                </a:tc>
                <a:extLst>
                  <a:ext uri="{0D108BD9-81ED-4DB2-BD59-A6C34878D82A}">
                    <a16:rowId xmlns:a16="http://schemas.microsoft.com/office/drawing/2014/main" val="3031805351"/>
                  </a:ext>
                </a:extLst>
              </a:tr>
              <a:tr h="534788">
                <a:tc>
                  <a:txBody>
                    <a:bodyPr/>
                    <a:lstStyle/>
                    <a:p>
                      <a:r>
                        <a:rPr kumimoji="1" lang="ja-JP" altLang="en-US" sz="1200" dirty="0"/>
                        <a:t>山田 太郎</a:t>
                      </a:r>
                    </a:p>
                  </a:txBody>
                  <a:tcPr>
                    <a:solidFill>
                      <a:srgbClr val="FF0000"/>
                    </a:solidFill>
                  </a:tcPr>
                </a:tc>
                <a:tc>
                  <a:txBody>
                    <a:bodyPr/>
                    <a:lstStyle/>
                    <a:p>
                      <a:r>
                        <a:rPr kumimoji="1" lang="en-US" altLang="ja-JP" sz="1200" dirty="0"/>
                        <a:t>00001</a:t>
                      </a:r>
                    </a:p>
                  </a:txBody>
                  <a:tcPr>
                    <a:solidFill>
                      <a:srgbClr val="FF0000"/>
                    </a:solidFill>
                  </a:tcPr>
                </a:tc>
                <a:tc>
                  <a:txBody>
                    <a:bodyPr/>
                    <a:lstStyle/>
                    <a:p>
                      <a:r>
                        <a:rPr kumimoji="1" lang="en-US" altLang="ja-JP" sz="1200" dirty="0"/>
                        <a:t>1989/2/14</a:t>
                      </a:r>
                      <a:endParaRPr kumimoji="1" lang="ja-JP" altLang="en-US" sz="1200" dirty="0"/>
                    </a:p>
                  </a:txBody>
                  <a:tcPr>
                    <a:solidFill>
                      <a:srgbClr val="FF0000"/>
                    </a:solidFill>
                  </a:tcPr>
                </a:tc>
                <a:tc>
                  <a:txBody>
                    <a:bodyPr/>
                    <a:lstStyle/>
                    <a:p>
                      <a:r>
                        <a:rPr kumimoji="1" lang="en-US" altLang="ja-JP" sz="1200" dirty="0"/>
                        <a:t>2017/4</a:t>
                      </a:r>
                      <a:endParaRPr kumimoji="1" lang="ja-JP" altLang="en-US" sz="1200" dirty="0"/>
                    </a:p>
                  </a:txBody>
                  <a:tcPr>
                    <a:solidFill>
                      <a:srgbClr val="FF0000"/>
                    </a:solidFill>
                  </a:tcPr>
                </a:tc>
                <a:tc>
                  <a:txBody>
                    <a:bodyPr/>
                    <a:lstStyle/>
                    <a:p>
                      <a:r>
                        <a:rPr kumimoji="1" lang="en-US" altLang="ja-JP" sz="1200" dirty="0"/>
                        <a:t>13</a:t>
                      </a:r>
                      <a:r>
                        <a:rPr kumimoji="1" lang="ja-JP" altLang="en-US" sz="1200" dirty="0"/>
                        <a:t>年</a:t>
                      </a:r>
                      <a:r>
                        <a:rPr kumimoji="1" lang="en-US" altLang="ja-JP" sz="1200" dirty="0"/>
                        <a:t>2</a:t>
                      </a:r>
                      <a:r>
                        <a:rPr kumimoji="1" lang="ja-JP" altLang="en-US" sz="1200" dirty="0"/>
                        <a:t>ヶ月</a:t>
                      </a:r>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extLst>
                  <a:ext uri="{0D108BD9-81ED-4DB2-BD59-A6C34878D82A}">
                    <a16:rowId xmlns:a16="http://schemas.microsoft.com/office/drawing/2014/main" val="1181288494"/>
                  </a:ext>
                </a:extLst>
              </a:tr>
              <a:tr h="534788">
                <a:tc>
                  <a:txBody>
                    <a:bodyPr/>
                    <a:lstStyle/>
                    <a:p>
                      <a:r>
                        <a:rPr kumimoji="1" lang="ja-JP" altLang="en-US" sz="1200" dirty="0"/>
                        <a:t>田中 花子</a:t>
                      </a:r>
                    </a:p>
                  </a:txBody>
                  <a:tcPr/>
                </a:tc>
                <a:tc>
                  <a:txBody>
                    <a:bodyPr/>
                    <a:lstStyle/>
                    <a:p>
                      <a:r>
                        <a:rPr kumimoji="1" lang="en-US" altLang="ja-JP" sz="1200" dirty="0"/>
                        <a:t>00002</a:t>
                      </a:r>
                      <a:endParaRPr kumimoji="1" lang="ja-JP" altLang="en-US" sz="1200" dirty="0"/>
                    </a:p>
                  </a:txBody>
                  <a:tcPr/>
                </a:tc>
                <a:tc>
                  <a:txBody>
                    <a:bodyPr/>
                    <a:lstStyle/>
                    <a:p>
                      <a:r>
                        <a:rPr kumimoji="1" lang="en-US" altLang="ja-JP" sz="1200" dirty="0"/>
                        <a:t>1992/1/23</a:t>
                      </a:r>
                      <a:endParaRPr kumimoji="1" lang="ja-JP" altLang="en-US" sz="1200" dirty="0"/>
                    </a:p>
                  </a:txBody>
                  <a:tcPr/>
                </a:tc>
                <a:tc>
                  <a:txBody>
                    <a:bodyPr/>
                    <a:lstStyle/>
                    <a:p>
                      <a:r>
                        <a:rPr kumimoji="1" lang="en-US" altLang="ja-JP" sz="1200" dirty="0"/>
                        <a:t>2017/4</a:t>
                      </a:r>
                      <a:endParaRPr kumimoji="1" lang="ja-JP" altLang="en-US" sz="1200" dirty="0"/>
                    </a:p>
                  </a:txBody>
                  <a:tcPr/>
                </a:tc>
                <a:tc>
                  <a:txBody>
                    <a:bodyPr/>
                    <a:lstStyle/>
                    <a:p>
                      <a:r>
                        <a:rPr kumimoji="1" lang="en-US" altLang="ja-JP" sz="1200" dirty="0"/>
                        <a:t>9</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p>
                    <a:p>
                      <a:endParaRPr kumimoji="1" lang="ja-JP" altLang="en-US" dirty="0"/>
                    </a:p>
                  </a:txBody>
                  <a:tcPr/>
                </a:tc>
                <a:extLst>
                  <a:ext uri="{0D108BD9-81ED-4DB2-BD59-A6C34878D82A}">
                    <a16:rowId xmlns:a16="http://schemas.microsoft.com/office/drawing/2014/main" val="2841193060"/>
                  </a:ext>
                </a:extLst>
              </a:tr>
              <a:tr h="534788">
                <a:tc>
                  <a:txBody>
                    <a:bodyPr/>
                    <a:lstStyle/>
                    <a:p>
                      <a:r>
                        <a:rPr kumimoji="1" lang="ja-JP" altLang="en-US" sz="1200" dirty="0"/>
                        <a:t>佐藤 健</a:t>
                      </a:r>
                    </a:p>
                  </a:txBody>
                  <a:tcPr/>
                </a:tc>
                <a:tc>
                  <a:txBody>
                    <a:bodyPr/>
                    <a:lstStyle/>
                    <a:p>
                      <a:r>
                        <a:rPr kumimoji="1" lang="en-US" altLang="ja-JP" sz="1200" dirty="0"/>
                        <a:t>00003</a:t>
                      </a:r>
                      <a:endParaRPr kumimoji="1" lang="ja-JP" altLang="en-US" sz="1200" dirty="0"/>
                    </a:p>
                  </a:txBody>
                  <a:tcPr/>
                </a:tc>
                <a:tc>
                  <a:txBody>
                    <a:bodyPr/>
                    <a:lstStyle/>
                    <a:p>
                      <a:r>
                        <a:rPr kumimoji="1" lang="en-US" altLang="ja-JP" sz="1200" dirty="0"/>
                        <a:t>1990/12/31</a:t>
                      </a:r>
                      <a:endParaRPr kumimoji="1" lang="ja-JP" altLang="en-US" sz="1200" dirty="0"/>
                    </a:p>
                  </a:txBody>
                  <a:tcPr/>
                </a:tc>
                <a:tc>
                  <a:txBody>
                    <a:bodyPr/>
                    <a:lstStyle/>
                    <a:p>
                      <a:r>
                        <a:rPr kumimoji="1" lang="en-US" altLang="ja-JP" sz="1200" dirty="0"/>
                        <a:t>2017/10</a:t>
                      </a:r>
                      <a:endParaRPr kumimoji="1" lang="ja-JP" altLang="en-US" sz="1200" dirty="0"/>
                    </a:p>
                  </a:txBody>
                  <a:tcPr/>
                </a:tc>
                <a:tc>
                  <a:txBody>
                    <a:bodyPr/>
                    <a:lstStyle/>
                    <a:p>
                      <a:r>
                        <a:rPr kumimoji="1" lang="en-US" altLang="ja-JP" sz="1200" dirty="0"/>
                        <a:t>8</a:t>
                      </a:r>
                      <a:r>
                        <a:rPr kumimoji="1" lang="ja-JP" altLang="en-US" sz="1200" dirty="0"/>
                        <a:t>年</a:t>
                      </a:r>
                      <a:r>
                        <a:rPr kumimoji="1" lang="en-US" altLang="ja-JP" sz="1200" dirty="0"/>
                        <a:t>8</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125601969"/>
                  </a:ext>
                </a:extLst>
              </a:tr>
              <a:tr h="534788">
                <a:tc>
                  <a:txBody>
                    <a:bodyPr/>
                    <a:lstStyle/>
                    <a:p>
                      <a:r>
                        <a:rPr kumimoji="1" lang="ja-JP" altLang="en-US" sz="1200" dirty="0"/>
                        <a:t>木村 直也</a:t>
                      </a:r>
                    </a:p>
                  </a:txBody>
                  <a:tcPr/>
                </a:tc>
                <a:tc>
                  <a:txBody>
                    <a:bodyPr/>
                    <a:lstStyle/>
                    <a:p>
                      <a:r>
                        <a:rPr kumimoji="1" lang="en-US" altLang="ja-JP" sz="1200" dirty="0"/>
                        <a:t>00004</a:t>
                      </a:r>
                      <a:endParaRPr kumimoji="1" lang="ja-JP" altLang="en-US" sz="1200" dirty="0"/>
                    </a:p>
                  </a:txBody>
                  <a:tcPr/>
                </a:tc>
                <a:tc>
                  <a:txBody>
                    <a:bodyPr/>
                    <a:lstStyle/>
                    <a:p>
                      <a:r>
                        <a:rPr kumimoji="1" lang="en-US" altLang="ja-JP" sz="1200" dirty="0"/>
                        <a:t>2000/4/12</a:t>
                      </a:r>
                      <a:endParaRPr kumimoji="1" lang="ja-JP" altLang="en-US" sz="1200" dirty="0"/>
                    </a:p>
                  </a:txBody>
                  <a:tcPr/>
                </a:tc>
                <a:tc>
                  <a:txBody>
                    <a:bodyPr/>
                    <a:lstStyle/>
                    <a:p>
                      <a:r>
                        <a:rPr kumimoji="1" lang="en-US" altLang="ja-JP" sz="1200" dirty="0"/>
                        <a:t>2024/6</a:t>
                      </a:r>
                      <a:endParaRPr kumimoji="1" lang="ja-JP" altLang="en-US" sz="1200" dirty="0"/>
                    </a:p>
                  </a:txBody>
                  <a:tcPr/>
                </a:tc>
                <a:tc>
                  <a:txBody>
                    <a:bodyPr/>
                    <a:lstStyle/>
                    <a:p>
                      <a:r>
                        <a:rPr kumimoji="1" lang="en-US" altLang="ja-JP" sz="1200" dirty="0"/>
                        <a:t>2</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1267473416"/>
                  </a:ext>
                </a:extLst>
              </a:tr>
              <a:tr h="534788">
                <a:tc>
                  <a:txBody>
                    <a:bodyPr/>
                    <a:lstStyle/>
                    <a:p>
                      <a:r>
                        <a:rPr kumimoji="1" lang="ja-JP" altLang="en-US" sz="1200" dirty="0"/>
                        <a:t>間地 佳代</a:t>
                      </a:r>
                    </a:p>
                  </a:txBody>
                  <a:tcPr>
                    <a:solidFill>
                      <a:srgbClr val="FF0000"/>
                    </a:solidFill>
                  </a:tcPr>
                </a:tc>
                <a:tc>
                  <a:txBody>
                    <a:bodyPr/>
                    <a:lstStyle/>
                    <a:p>
                      <a:r>
                        <a:rPr kumimoji="1" lang="en-US" altLang="ja-JP" sz="1200" dirty="0"/>
                        <a:t>00005</a:t>
                      </a:r>
                      <a:endParaRPr kumimoji="1" lang="ja-JP" altLang="en-US" sz="1200" dirty="0"/>
                    </a:p>
                  </a:txBody>
                  <a:tcPr>
                    <a:solidFill>
                      <a:srgbClr val="FF0000"/>
                    </a:solidFill>
                  </a:tcPr>
                </a:tc>
                <a:tc>
                  <a:txBody>
                    <a:bodyPr/>
                    <a:lstStyle/>
                    <a:p>
                      <a:r>
                        <a:rPr kumimoji="1" lang="en-US" altLang="ja-JP" sz="1200" dirty="0"/>
                        <a:t>1995/10/24</a:t>
                      </a:r>
                      <a:endParaRPr kumimoji="1" lang="ja-JP" altLang="en-US" sz="1200" dirty="0"/>
                    </a:p>
                  </a:txBody>
                  <a:tcPr>
                    <a:solidFill>
                      <a:srgbClr val="FF0000"/>
                    </a:solidFill>
                  </a:tcPr>
                </a:tc>
                <a:tc>
                  <a:txBody>
                    <a:bodyPr/>
                    <a:lstStyle/>
                    <a:p>
                      <a:r>
                        <a:rPr kumimoji="1" lang="en-US" altLang="ja-JP" sz="1200" dirty="0"/>
                        <a:t>2019/4</a:t>
                      </a:r>
                      <a:endParaRPr kumimoji="1" lang="ja-JP" altLang="en-US" sz="1200" dirty="0"/>
                    </a:p>
                  </a:txBody>
                  <a:tcPr>
                    <a:solidFill>
                      <a:srgbClr val="FF0000"/>
                    </a:solidFill>
                  </a:tcPr>
                </a:tc>
                <a:tc>
                  <a:txBody>
                    <a:bodyPr/>
                    <a:lstStyle/>
                    <a:p>
                      <a:r>
                        <a:rPr kumimoji="1" lang="en-US" altLang="ja-JP" sz="1200" dirty="0"/>
                        <a:t>10</a:t>
                      </a:r>
                      <a:r>
                        <a:rPr kumimoji="1" lang="ja-JP" altLang="en-US" sz="1200" dirty="0"/>
                        <a:t>年</a:t>
                      </a:r>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extLst>
                  <a:ext uri="{0D108BD9-81ED-4DB2-BD59-A6C34878D82A}">
                    <a16:rowId xmlns:a16="http://schemas.microsoft.com/office/drawing/2014/main" val="761762557"/>
                  </a:ext>
                </a:extLst>
              </a:tr>
              <a:tr h="534788">
                <a:tc>
                  <a:txBody>
                    <a:bodyPr/>
                    <a:lstStyle/>
                    <a:p>
                      <a:r>
                        <a:rPr kumimoji="1" lang="ja-JP" altLang="en-US" sz="1200" dirty="0"/>
                        <a:t>秋葉 花</a:t>
                      </a:r>
                    </a:p>
                  </a:txBody>
                  <a:tcPr/>
                </a:tc>
                <a:tc>
                  <a:txBody>
                    <a:bodyPr/>
                    <a:lstStyle/>
                    <a:p>
                      <a:r>
                        <a:rPr kumimoji="1" lang="en-US" altLang="ja-JP" sz="1200" dirty="0"/>
                        <a:t>00006</a:t>
                      </a:r>
                      <a:endParaRPr kumimoji="1" lang="ja-JP" altLang="en-US" sz="1200" dirty="0"/>
                    </a:p>
                  </a:txBody>
                  <a:tcPr/>
                </a:tc>
                <a:tc>
                  <a:txBody>
                    <a:bodyPr/>
                    <a:lstStyle/>
                    <a:p>
                      <a:r>
                        <a:rPr kumimoji="1" lang="en-US" altLang="ja-JP" sz="1200" dirty="0"/>
                        <a:t>1996/2/23</a:t>
                      </a:r>
                      <a:endParaRPr kumimoji="1" lang="ja-JP" altLang="en-US" sz="1200" dirty="0"/>
                    </a:p>
                  </a:txBody>
                  <a:tcPr/>
                </a:tc>
                <a:tc>
                  <a:txBody>
                    <a:bodyPr/>
                    <a:lstStyle/>
                    <a:p>
                      <a:r>
                        <a:rPr kumimoji="1" lang="en-US" altLang="ja-JP" sz="1200" dirty="0"/>
                        <a:t>2022/7</a:t>
                      </a:r>
                      <a:endParaRPr kumimoji="1" lang="ja-JP" altLang="en-US" sz="1200" dirty="0"/>
                    </a:p>
                  </a:txBody>
                  <a:tcPr/>
                </a:tc>
                <a:tc>
                  <a:txBody>
                    <a:bodyPr/>
                    <a:lstStyle/>
                    <a:p>
                      <a:r>
                        <a:rPr kumimoji="1" lang="en-US" altLang="ja-JP" sz="1200" dirty="0"/>
                        <a:t>3</a:t>
                      </a:r>
                      <a:r>
                        <a:rPr kumimoji="1" lang="ja-JP" altLang="en-US" sz="1200" dirty="0"/>
                        <a:t>年</a:t>
                      </a:r>
                      <a:r>
                        <a:rPr kumimoji="1" lang="en-US" altLang="ja-JP" sz="1200" dirty="0"/>
                        <a:t>10</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902287736"/>
                  </a:ext>
                </a:extLst>
              </a:tr>
              <a:tr h="534788">
                <a:tc>
                  <a:txBody>
                    <a:bodyPr/>
                    <a:lstStyle/>
                    <a:p>
                      <a:r>
                        <a:rPr kumimoji="1" lang="ja-JP" altLang="en-US" sz="1200" dirty="0"/>
                        <a:t>野原 しん</a:t>
                      </a:r>
                    </a:p>
                  </a:txBody>
                  <a:tcPr/>
                </a:tc>
                <a:tc>
                  <a:txBody>
                    <a:bodyPr/>
                    <a:lstStyle/>
                    <a:p>
                      <a:r>
                        <a:rPr kumimoji="1" lang="en-US" altLang="ja-JP" sz="1200" dirty="0"/>
                        <a:t>00007</a:t>
                      </a:r>
                      <a:endParaRPr kumimoji="1" lang="ja-JP" altLang="en-US" sz="1200" dirty="0"/>
                    </a:p>
                  </a:txBody>
                  <a:tcPr/>
                </a:tc>
                <a:tc>
                  <a:txBody>
                    <a:bodyPr/>
                    <a:lstStyle/>
                    <a:p>
                      <a:r>
                        <a:rPr kumimoji="1" lang="en-US" altLang="ja-JP" sz="1200" dirty="0"/>
                        <a:t>2003/1/30</a:t>
                      </a:r>
                      <a:endParaRPr kumimoji="1" lang="ja-JP" altLang="en-US" sz="1200" dirty="0"/>
                    </a:p>
                  </a:txBody>
                  <a:tcPr/>
                </a:tc>
                <a:tc>
                  <a:txBody>
                    <a:bodyPr/>
                    <a:lstStyle/>
                    <a:p>
                      <a:r>
                        <a:rPr kumimoji="1" lang="en-US" altLang="ja-JP" sz="1200" dirty="0"/>
                        <a:t>2025/12</a:t>
                      </a:r>
                      <a:endParaRPr kumimoji="1" lang="ja-JP" altLang="en-US" sz="1200" dirty="0"/>
                    </a:p>
                  </a:txBody>
                  <a:tcPr/>
                </a:tc>
                <a:tc>
                  <a:txBody>
                    <a:bodyPr/>
                    <a:lstStyle/>
                    <a:p>
                      <a:r>
                        <a:rPr kumimoji="1" lang="en-US" altLang="ja-JP" sz="1200" dirty="0"/>
                        <a:t>5</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924052398"/>
                  </a:ext>
                </a:extLst>
              </a:tr>
            </a:tbl>
          </a:graphicData>
        </a:graphic>
      </p:graphicFrame>
      <p:sp>
        <p:nvSpPr>
          <p:cNvPr id="31" name="テキスト ボックス 30">
            <a:extLst>
              <a:ext uri="{FF2B5EF4-FFF2-40B4-BE49-F238E27FC236}">
                <a16:creationId xmlns:a16="http://schemas.microsoft.com/office/drawing/2014/main" id="{986B8898-D180-5C35-9464-4DECDC3F6E94}"/>
              </a:ext>
            </a:extLst>
          </p:cNvPr>
          <p:cNvSpPr txBox="1"/>
          <p:nvPr/>
        </p:nvSpPr>
        <p:spPr>
          <a:xfrm>
            <a:off x="5362247" y="1925891"/>
            <a:ext cx="914400" cy="369332"/>
          </a:xfrm>
          <a:prstGeom prst="rect">
            <a:avLst/>
          </a:prstGeom>
          <a:noFill/>
        </p:spPr>
        <p:txBody>
          <a:bodyPr wrap="square" rtlCol="0">
            <a:spAutoFit/>
          </a:bodyPr>
          <a:lstStyle/>
          <a:p>
            <a:r>
              <a:rPr kumimoji="1" lang="ja-JP" altLang="en-US" dirty="0">
                <a:solidFill>
                  <a:schemeClr val="bg1"/>
                </a:solidFill>
              </a:rPr>
              <a:t>ソート</a:t>
            </a:r>
          </a:p>
        </p:txBody>
      </p:sp>
      <p:sp>
        <p:nvSpPr>
          <p:cNvPr id="33" name="テキスト ボックス 32">
            <a:extLst>
              <a:ext uri="{FF2B5EF4-FFF2-40B4-BE49-F238E27FC236}">
                <a16:creationId xmlns:a16="http://schemas.microsoft.com/office/drawing/2014/main" id="{3C886234-5086-BD42-3476-BC98D29BC37E}"/>
              </a:ext>
            </a:extLst>
          </p:cNvPr>
          <p:cNvSpPr txBox="1"/>
          <p:nvPr/>
        </p:nvSpPr>
        <p:spPr>
          <a:xfrm>
            <a:off x="7361056" y="1923575"/>
            <a:ext cx="914400" cy="369332"/>
          </a:xfrm>
          <a:prstGeom prst="rect">
            <a:avLst/>
          </a:prstGeom>
          <a:noFill/>
        </p:spPr>
        <p:txBody>
          <a:bodyPr wrap="square" rtlCol="0">
            <a:spAutoFit/>
          </a:bodyPr>
          <a:lstStyle/>
          <a:p>
            <a:r>
              <a:rPr kumimoji="1" lang="ja-JP" altLang="en-US" dirty="0"/>
              <a:t>選択</a:t>
            </a:r>
          </a:p>
        </p:txBody>
      </p:sp>
      <p:sp>
        <p:nvSpPr>
          <p:cNvPr id="34" name="テキスト ボックス 33">
            <a:extLst>
              <a:ext uri="{FF2B5EF4-FFF2-40B4-BE49-F238E27FC236}">
                <a16:creationId xmlns:a16="http://schemas.microsoft.com/office/drawing/2014/main" id="{23857AF0-B5E2-A58D-ED62-D8E7CEABBF4D}"/>
              </a:ext>
            </a:extLst>
          </p:cNvPr>
          <p:cNvSpPr txBox="1"/>
          <p:nvPr/>
        </p:nvSpPr>
        <p:spPr>
          <a:xfrm>
            <a:off x="9243905" y="1923575"/>
            <a:ext cx="646331" cy="369332"/>
          </a:xfrm>
          <a:prstGeom prst="rect">
            <a:avLst/>
          </a:prstGeom>
          <a:noFill/>
        </p:spPr>
        <p:txBody>
          <a:bodyPr wrap="none" rtlCol="0">
            <a:spAutoFit/>
          </a:bodyPr>
          <a:lstStyle/>
          <a:p>
            <a:r>
              <a:rPr kumimoji="1" lang="ja-JP" altLang="en-US" dirty="0">
                <a:solidFill>
                  <a:srgbClr val="FF0000"/>
                </a:solidFill>
              </a:rPr>
              <a:t>削除</a:t>
            </a:r>
          </a:p>
        </p:txBody>
      </p:sp>
      <p:sp>
        <p:nvSpPr>
          <p:cNvPr id="35" name="テキスト ボックス 34">
            <a:extLst>
              <a:ext uri="{FF2B5EF4-FFF2-40B4-BE49-F238E27FC236}">
                <a16:creationId xmlns:a16="http://schemas.microsoft.com/office/drawing/2014/main" id="{E24BBEA2-2F9D-580E-4D2F-E69B1AB07326}"/>
              </a:ext>
            </a:extLst>
          </p:cNvPr>
          <p:cNvSpPr txBox="1"/>
          <p:nvPr/>
        </p:nvSpPr>
        <p:spPr>
          <a:xfrm>
            <a:off x="11147686" y="1923575"/>
            <a:ext cx="646331" cy="369332"/>
          </a:xfrm>
          <a:prstGeom prst="rect">
            <a:avLst/>
          </a:prstGeom>
          <a:noFill/>
        </p:spPr>
        <p:txBody>
          <a:bodyPr wrap="none" rtlCol="0">
            <a:spAutoFit/>
          </a:bodyPr>
          <a:lstStyle/>
          <a:p>
            <a:r>
              <a:rPr kumimoji="1" lang="ja-JP" altLang="en-US" dirty="0">
                <a:solidFill>
                  <a:schemeClr val="bg1"/>
                </a:solidFill>
              </a:rPr>
              <a:t>出力</a:t>
            </a:r>
          </a:p>
        </p:txBody>
      </p:sp>
      <p:sp>
        <p:nvSpPr>
          <p:cNvPr id="2" name="正方形/長方形 1">
            <a:extLst>
              <a:ext uri="{FF2B5EF4-FFF2-40B4-BE49-F238E27FC236}">
                <a16:creationId xmlns:a16="http://schemas.microsoft.com/office/drawing/2014/main" id="{43C85169-BAA1-F1E9-5054-A847871B5218}"/>
              </a:ext>
            </a:extLst>
          </p:cNvPr>
          <p:cNvSpPr/>
          <p:nvPr/>
        </p:nvSpPr>
        <p:spPr>
          <a:xfrm>
            <a:off x="2775857" y="2579701"/>
            <a:ext cx="6346372" cy="3353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9641FA6B-C508-A82A-7E15-AD414AB64B3B}"/>
              </a:ext>
            </a:extLst>
          </p:cNvPr>
          <p:cNvSpPr txBox="1"/>
          <p:nvPr/>
        </p:nvSpPr>
        <p:spPr>
          <a:xfrm>
            <a:off x="3420145" y="3464415"/>
            <a:ext cx="5057795" cy="400110"/>
          </a:xfrm>
          <a:prstGeom prst="rect">
            <a:avLst/>
          </a:prstGeom>
          <a:noFill/>
        </p:spPr>
        <p:txBody>
          <a:bodyPr wrap="none" rtlCol="0">
            <a:spAutoFit/>
          </a:bodyPr>
          <a:lstStyle/>
          <a:p>
            <a:r>
              <a:rPr kumimoji="1" lang="ja-JP" altLang="en-US" sz="2000" dirty="0">
                <a:solidFill>
                  <a:schemeClr val="bg1"/>
                </a:solidFill>
              </a:rPr>
              <a:t>選択したエンジニア情報を削除しますか？</a:t>
            </a:r>
          </a:p>
        </p:txBody>
      </p:sp>
      <p:sp>
        <p:nvSpPr>
          <p:cNvPr id="8" name="正方形/長方形 7">
            <a:extLst>
              <a:ext uri="{FF2B5EF4-FFF2-40B4-BE49-F238E27FC236}">
                <a16:creationId xmlns:a16="http://schemas.microsoft.com/office/drawing/2014/main" id="{442C1C8D-F2B3-1C2D-A47F-C85BEC632868}"/>
              </a:ext>
            </a:extLst>
          </p:cNvPr>
          <p:cNvSpPr/>
          <p:nvPr/>
        </p:nvSpPr>
        <p:spPr>
          <a:xfrm>
            <a:off x="6355536" y="4782384"/>
            <a:ext cx="1719942"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9" name="正方形/長方形 8">
            <a:extLst>
              <a:ext uri="{FF2B5EF4-FFF2-40B4-BE49-F238E27FC236}">
                <a16:creationId xmlns:a16="http://schemas.microsoft.com/office/drawing/2014/main" id="{776F1414-67BD-0D9F-C1B8-627E8F630F29}"/>
              </a:ext>
            </a:extLst>
          </p:cNvPr>
          <p:cNvSpPr/>
          <p:nvPr/>
        </p:nvSpPr>
        <p:spPr>
          <a:xfrm>
            <a:off x="3642305" y="4782384"/>
            <a:ext cx="1719942"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0" name="テキスト ボックス 9">
            <a:extLst>
              <a:ext uri="{FF2B5EF4-FFF2-40B4-BE49-F238E27FC236}">
                <a16:creationId xmlns:a16="http://schemas.microsoft.com/office/drawing/2014/main" id="{BEE28CD2-DD15-BCC6-2347-B1588B773B1A}"/>
              </a:ext>
            </a:extLst>
          </p:cNvPr>
          <p:cNvSpPr txBox="1"/>
          <p:nvPr/>
        </p:nvSpPr>
        <p:spPr>
          <a:xfrm>
            <a:off x="4102166" y="4831096"/>
            <a:ext cx="800219" cy="461665"/>
          </a:xfrm>
          <a:prstGeom prst="rect">
            <a:avLst/>
          </a:prstGeom>
          <a:noFill/>
        </p:spPr>
        <p:txBody>
          <a:bodyPr wrap="none" rtlCol="0">
            <a:spAutoFit/>
          </a:bodyPr>
          <a:lstStyle/>
          <a:p>
            <a:r>
              <a:rPr kumimoji="1" lang="ja-JP" altLang="en-US" sz="2400" dirty="0">
                <a:solidFill>
                  <a:schemeClr val="bg1"/>
                </a:solidFill>
              </a:rPr>
              <a:t>はい</a:t>
            </a:r>
          </a:p>
        </p:txBody>
      </p:sp>
      <p:sp>
        <p:nvSpPr>
          <p:cNvPr id="11" name="テキスト ボックス 10">
            <a:extLst>
              <a:ext uri="{FF2B5EF4-FFF2-40B4-BE49-F238E27FC236}">
                <a16:creationId xmlns:a16="http://schemas.microsoft.com/office/drawing/2014/main" id="{9CA6C738-77E2-CE48-85D6-58B4F239FF1C}"/>
              </a:ext>
            </a:extLst>
          </p:cNvPr>
          <p:cNvSpPr txBox="1"/>
          <p:nvPr/>
        </p:nvSpPr>
        <p:spPr>
          <a:xfrm>
            <a:off x="6661509" y="4831095"/>
            <a:ext cx="1107996" cy="461665"/>
          </a:xfrm>
          <a:prstGeom prst="rect">
            <a:avLst/>
          </a:prstGeom>
          <a:noFill/>
        </p:spPr>
        <p:txBody>
          <a:bodyPr wrap="none" rtlCol="0">
            <a:spAutoFit/>
          </a:bodyPr>
          <a:lstStyle/>
          <a:p>
            <a:r>
              <a:rPr kumimoji="1" lang="ja-JP" altLang="en-US" sz="2400" dirty="0">
                <a:solidFill>
                  <a:schemeClr val="bg1"/>
                </a:solidFill>
              </a:rPr>
              <a:t>いいえ</a:t>
            </a:r>
          </a:p>
        </p:txBody>
      </p:sp>
    </p:spTree>
    <p:extLst>
      <p:ext uri="{BB962C8B-B14F-4D97-AF65-F5344CB8AC3E}">
        <p14:creationId xmlns:p14="http://schemas.microsoft.com/office/powerpoint/2010/main" val="540363680"/>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9D4B7-8BC7-2649-53DC-4E194A8D8686}"/>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A6A184F9-0628-7C94-9AF0-36C23513E5CF}"/>
              </a:ext>
            </a:extLst>
          </p:cNvPr>
          <p:cNvSpPr/>
          <p:nvPr/>
        </p:nvSpPr>
        <p:spPr>
          <a:xfrm>
            <a:off x="304796" y="925290"/>
            <a:ext cx="6868881"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4EA7BEF9-3088-8698-FF8B-96704DFF6236}"/>
              </a:ext>
            </a:extLst>
          </p:cNvPr>
          <p:cNvSpPr txBox="1"/>
          <p:nvPr/>
        </p:nvSpPr>
        <p:spPr>
          <a:xfrm>
            <a:off x="304796" y="195946"/>
            <a:ext cx="9700091"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en-US" sz="3600" dirty="0">
                <a:solidFill>
                  <a:srgbClr val="000000"/>
                </a:solidFill>
                <a:latin typeface="游ゴシック"/>
                <a:ea typeface="游ゴシック" pitchFamily="50"/>
              </a:rPr>
              <a:t>2</a:t>
            </a:r>
            <a:r>
              <a:rPr lang="en-US" altLang="ja-JP" sz="3600" b="0" i="0" u="none" strike="noStrike" kern="1200" cap="none" spc="0" baseline="0" dirty="0">
                <a:solidFill>
                  <a:srgbClr val="000000"/>
                </a:solidFill>
                <a:uFillTx/>
                <a:latin typeface="游ゴシック"/>
                <a:ea typeface="游ゴシック" pitchFamily="50"/>
              </a:rPr>
              <a:t>-2, 2-2-3</a:t>
            </a:r>
            <a:r>
              <a:rPr lang="ja-JP" sz="3600" b="0" i="0" u="none" strike="noStrike" kern="1200" cap="none" spc="0" baseline="0" dirty="0">
                <a:solidFill>
                  <a:srgbClr val="000000"/>
                </a:solidFill>
                <a:uFillTx/>
                <a:latin typeface="游ゴシック"/>
                <a:ea typeface="游ゴシック" pitchFamily="50"/>
              </a:rPr>
              <a:t>　</a:t>
            </a:r>
            <a:r>
              <a:rPr lang="ja-JP" altLang="en-US" sz="3600" dirty="0">
                <a:solidFill>
                  <a:srgbClr val="000000"/>
                </a:solidFill>
                <a:latin typeface="游ゴシック"/>
                <a:ea typeface="游ゴシック" pitchFamily="50"/>
              </a:rPr>
              <a:t>詳細情報表示、保存日付表示</a:t>
            </a:r>
            <a:endParaRPr lang="en-US" sz="3600" b="0" i="0" u="none" strike="noStrike" kern="1200" cap="none" spc="0" baseline="0" dirty="0">
              <a:solidFill>
                <a:srgbClr val="000000"/>
              </a:solidFill>
              <a:uFillTx/>
              <a:latin typeface="游ゴシック"/>
              <a:ea typeface="游ゴシック" pitchFamily="50"/>
            </a:endParaRPr>
          </a:p>
        </p:txBody>
      </p:sp>
      <p:pic>
        <p:nvPicPr>
          <p:cNvPr id="5" name="図 4">
            <a:extLst>
              <a:ext uri="{FF2B5EF4-FFF2-40B4-BE49-F238E27FC236}">
                <a16:creationId xmlns:a16="http://schemas.microsoft.com/office/drawing/2014/main" id="{E23B3C79-7819-B918-E348-76CCE5539A21}"/>
              </a:ext>
            </a:extLst>
          </p:cNvPr>
          <p:cNvPicPr>
            <a:picLocks noChangeAspect="1"/>
          </p:cNvPicPr>
          <p:nvPr/>
        </p:nvPicPr>
        <p:blipFill>
          <a:blip r:embed="rId3"/>
          <a:stretch>
            <a:fillRect/>
          </a:stretch>
        </p:blipFill>
        <p:spPr>
          <a:xfrm>
            <a:off x="8564335" y="3515404"/>
            <a:ext cx="2857500" cy="2352675"/>
          </a:xfrm>
          <a:prstGeom prst="rect">
            <a:avLst/>
          </a:prstGeom>
        </p:spPr>
      </p:pic>
      <p:sp>
        <p:nvSpPr>
          <p:cNvPr id="6" name="テキスト ボックス 5">
            <a:extLst>
              <a:ext uri="{FF2B5EF4-FFF2-40B4-BE49-F238E27FC236}">
                <a16:creationId xmlns:a16="http://schemas.microsoft.com/office/drawing/2014/main" id="{D82E3B20-7D11-A8E9-85C1-ABDCF3ACC6A7}"/>
              </a:ext>
            </a:extLst>
          </p:cNvPr>
          <p:cNvSpPr txBox="1"/>
          <p:nvPr/>
        </p:nvSpPr>
        <p:spPr>
          <a:xfrm>
            <a:off x="2205839" y="1088573"/>
            <a:ext cx="4701928" cy="769441"/>
          </a:xfrm>
          <a:prstGeom prst="rect">
            <a:avLst/>
          </a:prstGeom>
          <a:noFill/>
        </p:spPr>
        <p:txBody>
          <a:bodyPr wrap="none" rtlCol="0">
            <a:spAutoFit/>
          </a:bodyPr>
          <a:lstStyle/>
          <a:p>
            <a:r>
              <a:rPr kumimoji="1" lang="ja-JP" altLang="en-US" sz="2400" dirty="0">
                <a:solidFill>
                  <a:schemeClr val="bg1"/>
                </a:solidFill>
              </a:rPr>
              <a:t>山田花子　　</a:t>
            </a:r>
            <a:r>
              <a:rPr lang="ja-JP" altLang="en-US" sz="2000" dirty="0">
                <a:solidFill>
                  <a:schemeClr val="bg1"/>
                </a:solidFill>
              </a:rPr>
              <a:t>保存日時：</a:t>
            </a:r>
            <a:r>
              <a:rPr lang="en-US" altLang="ja-JP" sz="2000" dirty="0">
                <a:solidFill>
                  <a:schemeClr val="bg1"/>
                </a:solidFill>
              </a:rPr>
              <a:t>2023/05/21</a:t>
            </a:r>
            <a:endParaRPr kumimoji="1" lang="en-US" altLang="ja-JP" sz="2000" dirty="0">
              <a:solidFill>
                <a:schemeClr val="bg1"/>
              </a:solidFill>
            </a:endParaRPr>
          </a:p>
          <a:p>
            <a:r>
              <a:rPr kumimoji="1" lang="en-US" altLang="ja-JP" sz="2000" dirty="0">
                <a:solidFill>
                  <a:schemeClr val="bg1"/>
                </a:solidFill>
              </a:rPr>
              <a:t>ID</a:t>
            </a:r>
            <a:r>
              <a:rPr kumimoji="1" lang="ja-JP" altLang="en-US" sz="2000" dirty="0">
                <a:solidFill>
                  <a:schemeClr val="bg1"/>
                </a:solidFill>
              </a:rPr>
              <a:t>：</a:t>
            </a:r>
            <a:r>
              <a:rPr kumimoji="1" lang="en-US" altLang="ja-JP" sz="2000" dirty="0">
                <a:solidFill>
                  <a:schemeClr val="bg1"/>
                </a:solidFill>
              </a:rPr>
              <a:t>00001</a:t>
            </a:r>
            <a:r>
              <a:rPr kumimoji="1" lang="ja-JP" altLang="en-US" sz="2000" dirty="0">
                <a:solidFill>
                  <a:schemeClr val="bg1"/>
                </a:solidFill>
              </a:rPr>
              <a:t>　　 入社年月：</a:t>
            </a:r>
            <a:r>
              <a:rPr kumimoji="1" lang="en-US" altLang="ja-JP" sz="2000" dirty="0">
                <a:solidFill>
                  <a:schemeClr val="bg1"/>
                </a:solidFill>
              </a:rPr>
              <a:t>2010/04/01</a:t>
            </a:r>
            <a:endParaRPr kumimoji="1" lang="ja-JP" altLang="en-US" sz="2000" dirty="0">
              <a:solidFill>
                <a:schemeClr val="bg1"/>
              </a:solidFill>
            </a:endParaRPr>
          </a:p>
        </p:txBody>
      </p:sp>
      <p:sp>
        <p:nvSpPr>
          <p:cNvPr id="8" name="楕円 7">
            <a:extLst>
              <a:ext uri="{FF2B5EF4-FFF2-40B4-BE49-F238E27FC236}">
                <a16:creationId xmlns:a16="http://schemas.microsoft.com/office/drawing/2014/main" id="{4A187DF5-0C98-E9F6-1853-B29DEC2456E1}"/>
              </a:ext>
            </a:extLst>
          </p:cNvPr>
          <p:cNvSpPr/>
          <p:nvPr/>
        </p:nvSpPr>
        <p:spPr>
          <a:xfrm>
            <a:off x="729342" y="1046361"/>
            <a:ext cx="1210587" cy="115388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1" name="表 10">
            <a:extLst>
              <a:ext uri="{FF2B5EF4-FFF2-40B4-BE49-F238E27FC236}">
                <a16:creationId xmlns:a16="http://schemas.microsoft.com/office/drawing/2014/main" id="{738F86F8-9705-9F5B-7469-7D749E50F3A2}"/>
              </a:ext>
            </a:extLst>
          </p:cNvPr>
          <p:cNvGraphicFramePr>
            <a:graphicFrameLocks noGrp="1"/>
          </p:cNvGraphicFramePr>
          <p:nvPr>
            <p:extLst>
              <p:ext uri="{D42A27DB-BD31-4B8C-83A1-F6EECF244321}">
                <p14:modId xmlns:p14="http://schemas.microsoft.com/office/powerpoint/2010/main" val="1616280697"/>
              </p:ext>
            </p:extLst>
          </p:nvPr>
        </p:nvGraphicFramePr>
        <p:xfrm>
          <a:off x="304796" y="2514600"/>
          <a:ext cx="6868882" cy="4018552"/>
        </p:xfrm>
        <a:graphic>
          <a:graphicData uri="http://schemas.openxmlformats.org/drawingml/2006/table">
            <a:tbl>
              <a:tblPr firstRow="1" bandRow="1">
                <a:tableStyleId>{2D5ABB26-0587-4C30-8999-92F81FD0307C}</a:tableStyleId>
              </a:tblPr>
              <a:tblGrid>
                <a:gridCol w="3434441">
                  <a:extLst>
                    <a:ext uri="{9D8B030D-6E8A-4147-A177-3AD203B41FA5}">
                      <a16:colId xmlns:a16="http://schemas.microsoft.com/office/drawing/2014/main" val="1318044104"/>
                    </a:ext>
                  </a:extLst>
                </a:gridCol>
                <a:gridCol w="3434441">
                  <a:extLst>
                    <a:ext uri="{9D8B030D-6E8A-4147-A177-3AD203B41FA5}">
                      <a16:colId xmlns:a16="http://schemas.microsoft.com/office/drawing/2014/main" val="3473135034"/>
                    </a:ext>
                  </a:extLst>
                </a:gridCol>
              </a:tblGrid>
              <a:tr h="502319">
                <a:tc>
                  <a:txBody>
                    <a:bodyPr/>
                    <a:lstStyle/>
                    <a:p>
                      <a:pPr algn="ctr"/>
                      <a:r>
                        <a:rPr kumimoji="1" lang="ja-JP" altLang="en-US" dirty="0"/>
                        <a:t>エンジニア歴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996094942"/>
                  </a:ext>
                </a:extLst>
              </a:tr>
              <a:tr h="502319">
                <a:tc>
                  <a:txBody>
                    <a:bodyPr/>
                    <a:lstStyle/>
                    <a:p>
                      <a:pPr algn="ctr"/>
                      <a:r>
                        <a:rPr kumimoji="1" lang="ja-JP" altLang="en-US" dirty="0"/>
                        <a:t>言語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949209427"/>
                  </a:ext>
                </a:extLst>
              </a:tr>
              <a:tr h="502319">
                <a:tc>
                  <a:txBody>
                    <a:bodyPr/>
                    <a:lstStyle/>
                    <a:p>
                      <a:pPr algn="ctr"/>
                      <a:r>
                        <a:rPr kumimoji="1" lang="ja-JP" altLang="en-US" dirty="0"/>
                        <a:t>経歴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371875526"/>
                  </a:ext>
                </a:extLst>
              </a:tr>
              <a:tr h="502319">
                <a:tc>
                  <a:txBody>
                    <a:bodyPr/>
                    <a:lstStyle/>
                    <a:p>
                      <a:pPr algn="ctr"/>
                      <a:r>
                        <a:rPr kumimoji="1" lang="ja-JP" altLang="en-US" dirty="0"/>
                        <a:t>研修受講歴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736958627"/>
                  </a:ext>
                </a:extLst>
              </a:tr>
              <a:tr h="502319">
                <a:tc>
                  <a:txBody>
                    <a:bodyPr/>
                    <a:lstStyle/>
                    <a:p>
                      <a:pPr algn="ctr"/>
                      <a:r>
                        <a:rPr kumimoji="1" lang="ja-JP" altLang="en-US" dirty="0"/>
                        <a:t>技術力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250902219"/>
                  </a:ext>
                </a:extLst>
              </a:tr>
              <a:tr h="502319">
                <a:tc>
                  <a:txBody>
                    <a:bodyPr/>
                    <a:lstStyle/>
                    <a:p>
                      <a:pPr algn="ctr"/>
                      <a:r>
                        <a:rPr kumimoji="1" lang="ja-JP" altLang="en-US" dirty="0"/>
                        <a:t>受講態度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53779568"/>
                  </a:ext>
                </a:extLst>
              </a:tr>
              <a:tr h="502319">
                <a:tc>
                  <a:txBody>
                    <a:bodyPr/>
                    <a:lstStyle/>
                    <a:p>
                      <a:pPr algn="ctr"/>
                      <a:r>
                        <a:rPr kumimoji="1" lang="ja-JP" altLang="en-US" dirty="0"/>
                        <a:t>コミュニケーション能力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296586340"/>
                  </a:ext>
                </a:extLst>
              </a:tr>
              <a:tr h="502319">
                <a:tc>
                  <a:txBody>
                    <a:bodyPr/>
                    <a:lstStyle/>
                    <a:p>
                      <a:pPr algn="ctr"/>
                      <a:r>
                        <a:rPr kumimoji="1" lang="ja-JP" altLang="en-US" dirty="0"/>
                        <a:t>リーダーシップ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806307394"/>
                  </a:ext>
                </a:extLst>
              </a:tr>
            </a:tbl>
          </a:graphicData>
        </a:graphic>
      </p:graphicFrame>
      <p:sp>
        <p:nvSpPr>
          <p:cNvPr id="13" name="正方形/長方形 12">
            <a:extLst>
              <a:ext uri="{FF2B5EF4-FFF2-40B4-BE49-F238E27FC236}">
                <a16:creationId xmlns:a16="http://schemas.microsoft.com/office/drawing/2014/main" id="{7142097C-C72F-FCEB-7A3D-ABBD5F3CC97A}"/>
              </a:ext>
            </a:extLst>
          </p:cNvPr>
          <p:cNvSpPr/>
          <p:nvPr/>
        </p:nvSpPr>
        <p:spPr>
          <a:xfrm>
            <a:off x="5713359" y="199904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6934A9AA-9F0E-7BAE-5034-FC6720633242}"/>
              </a:ext>
            </a:extLst>
          </p:cNvPr>
          <p:cNvSpPr/>
          <p:nvPr/>
        </p:nvSpPr>
        <p:spPr>
          <a:xfrm>
            <a:off x="4025712" y="199904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BA8E48A3-69A9-70F2-5D0A-4C586366326C}"/>
              </a:ext>
            </a:extLst>
          </p:cNvPr>
          <p:cNvSpPr txBox="1"/>
          <p:nvPr/>
        </p:nvSpPr>
        <p:spPr>
          <a:xfrm>
            <a:off x="4233637" y="2024599"/>
            <a:ext cx="646331" cy="369332"/>
          </a:xfrm>
          <a:prstGeom prst="rect">
            <a:avLst/>
          </a:prstGeom>
          <a:noFill/>
        </p:spPr>
        <p:txBody>
          <a:bodyPr wrap="none" rtlCol="0">
            <a:spAutoFit/>
          </a:bodyPr>
          <a:lstStyle/>
          <a:p>
            <a:r>
              <a:rPr kumimoji="1" lang="ja-JP" altLang="en-US" dirty="0">
                <a:solidFill>
                  <a:schemeClr val="bg1"/>
                </a:solidFill>
              </a:rPr>
              <a:t>編集</a:t>
            </a:r>
          </a:p>
        </p:txBody>
      </p:sp>
      <p:sp>
        <p:nvSpPr>
          <p:cNvPr id="16" name="テキスト ボックス 15">
            <a:extLst>
              <a:ext uri="{FF2B5EF4-FFF2-40B4-BE49-F238E27FC236}">
                <a16:creationId xmlns:a16="http://schemas.microsoft.com/office/drawing/2014/main" id="{16CF45E2-926B-92E4-7F80-D15F34A3C508}"/>
              </a:ext>
            </a:extLst>
          </p:cNvPr>
          <p:cNvSpPr txBox="1"/>
          <p:nvPr/>
        </p:nvSpPr>
        <p:spPr>
          <a:xfrm>
            <a:off x="5921284" y="2013351"/>
            <a:ext cx="646331" cy="369332"/>
          </a:xfrm>
          <a:prstGeom prst="rect">
            <a:avLst/>
          </a:prstGeom>
          <a:noFill/>
        </p:spPr>
        <p:txBody>
          <a:bodyPr wrap="none" rtlCol="0">
            <a:spAutoFit/>
          </a:bodyPr>
          <a:lstStyle/>
          <a:p>
            <a:r>
              <a:rPr kumimoji="1" lang="ja-JP" altLang="en-US" dirty="0">
                <a:solidFill>
                  <a:schemeClr val="bg1"/>
                </a:solidFill>
              </a:rPr>
              <a:t>戻る</a:t>
            </a:r>
          </a:p>
        </p:txBody>
      </p:sp>
    </p:spTree>
    <p:extLst>
      <p:ext uri="{BB962C8B-B14F-4D97-AF65-F5344CB8AC3E}">
        <p14:creationId xmlns:p14="http://schemas.microsoft.com/office/powerpoint/2010/main" val="2912531920"/>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1D289-5D56-487F-850C-F360FE7710EB}"/>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BDE9BE8F-A0F2-B219-FEC4-203789B2B360}"/>
              </a:ext>
            </a:extLst>
          </p:cNvPr>
          <p:cNvSpPr/>
          <p:nvPr/>
        </p:nvSpPr>
        <p:spPr>
          <a:xfrm>
            <a:off x="304796" y="925290"/>
            <a:ext cx="6868881"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1405B83E-DF49-B445-BD8B-E2BDDAA52705}"/>
              </a:ext>
            </a:extLst>
          </p:cNvPr>
          <p:cNvSpPr txBox="1"/>
          <p:nvPr/>
        </p:nvSpPr>
        <p:spPr>
          <a:xfrm>
            <a:off x="304796" y="195946"/>
            <a:ext cx="4124847"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en-US" sz="3600" dirty="0">
                <a:solidFill>
                  <a:srgbClr val="000000"/>
                </a:solidFill>
                <a:latin typeface="游ゴシック"/>
                <a:ea typeface="游ゴシック" pitchFamily="50"/>
              </a:rPr>
              <a:t>2</a:t>
            </a:r>
            <a:r>
              <a:rPr lang="en-US" altLang="ja-JP" sz="3600" b="0" i="0" u="none" strike="noStrike" kern="1200" cap="none" spc="0" baseline="0" dirty="0">
                <a:solidFill>
                  <a:srgbClr val="000000"/>
                </a:solidFill>
                <a:uFillTx/>
                <a:latin typeface="游ゴシック"/>
                <a:ea typeface="游ゴシック" pitchFamily="50"/>
              </a:rPr>
              <a:t>-4</a:t>
            </a:r>
            <a:r>
              <a:rPr lang="ja-JP" sz="3600" b="0" i="0" u="none" strike="noStrike" kern="1200" cap="none" spc="0" baseline="0" dirty="0">
                <a:solidFill>
                  <a:srgbClr val="000000"/>
                </a:solidFill>
                <a:uFillTx/>
                <a:latin typeface="游ゴシック"/>
                <a:ea typeface="游ゴシック" pitchFamily="50"/>
              </a:rPr>
              <a:t>　</a:t>
            </a:r>
            <a:r>
              <a:rPr lang="ja-JP" altLang="en-US" sz="3600" b="0" i="0" u="none" strike="noStrike" kern="1200" cap="none" spc="0" baseline="0" dirty="0">
                <a:solidFill>
                  <a:srgbClr val="000000"/>
                </a:solidFill>
                <a:uFillTx/>
                <a:latin typeface="游ゴシック"/>
                <a:ea typeface="游ゴシック" pitchFamily="50"/>
              </a:rPr>
              <a:t>情報更新</a:t>
            </a:r>
            <a:endParaRPr lang="en-US" sz="3600" b="0" i="0" u="none" strike="noStrike" kern="1200" cap="none" spc="0" baseline="0" dirty="0">
              <a:solidFill>
                <a:srgbClr val="000000"/>
              </a:solidFill>
              <a:uFillTx/>
              <a:latin typeface="游ゴシック"/>
              <a:ea typeface="游ゴシック" pitchFamily="50"/>
            </a:endParaRPr>
          </a:p>
        </p:txBody>
      </p:sp>
      <p:pic>
        <p:nvPicPr>
          <p:cNvPr id="5" name="図 4">
            <a:extLst>
              <a:ext uri="{FF2B5EF4-FFF2-40B4-BE49-F238E27FC236}">
                <a16:creationId xmlns:a16="http://schemas.microsoft.com/office/drawing/2014/main" id="{FAA0FAD2-56B7-FC34-A1A9-469EDD111A4A}"/>
              </a:ext>
            </a:extLst>
          </p:cNvPr>
          <p:cNvPicPr>
            <a:picLocks noChangeAspect="1"/>
          </p:cNvPicPr>
          <p:nvPr/>
        </p:nvPicPr>
        <p:blipFill>
          <a:blip r:embed="rId3"/>
          <a:stretch>
            <a:fillRect/>
          </a:stretch>
        </p:blipFill>
        <p:spPr>
          <a:xfrm>
            <a:off x="8564335" y="3515404"/>
            <a:ext cx="2857500" cy="2352675"/>
          </a:xfrm>
          <a:prstGeom prst="rect">
            <a:avLst/>
          </a:prstGeom>
        </p:spPr>
      </p:pic>
      <p:sp>
        <p:nvSpPr>
          <p:cNvPr id="6" name="テキスト ボックス 5">
            <a:extLst>
              <a:ext uri="{FF2B5EF4-FFF2-40B4-BE49-F238E27FC236}">
                <a16:creationId xmlns:a16="http://schemas.microsoft.com/office/drawing/2014/main" id="{3DAE774B-C446-286A-8DD7-C15654635E19}"/>
              </a:ext>
            </a:extLst>
          </p:cNvPr>
          <p:cNvSpPr txBox="1"/>
          <p:nvPr/>
        </p:nvSpPr>
        <p:spPr>
          <a:xfrm>
            <a:off x="2205839" y="1088573"/>
            <a:ext cx="4701928" cy="769441"/>
          </a:xfrm>
          <a:prstGeom prst="rect">
            <a:avLst/>
          </a:prstGeom>
          <a:noFill/>
        </p:spPr>
        <p:txBody>
          <a:bodyPr wrap="none" rtlCol="0">
            <a:spAutoFit/>
          </a:bodyPr>
          <a:lstStyle/>
          <a:p>
            <a:r>
              <a:rPr kumimoji="1" lang="ja-JP" altLang="en-US" sz="2400" dirty="0">
                <a:solidFill>
                  <a:schemeClr val="bg1"/>
                </a:solidFill>
              </a:rPr>
              <a:t>山田花子　　</a:t>
            </a:r>
            <a:r>
              <a:rPr lang="ja-JP" altLang="en-US" sz="2000" dirty="0">
                <a:solidFill>
                  <a:schemeClr val="bg1"/>
                </a:solidFill>
              </a:rPr>
              <a:t>保存日時：</a:t>
            </a:r>
            <a:r>
              <a:rPr lang="en-US" altLang="ja-JP" sz="2000" dirty="0">
                <a:solidFill>
                  <a:schemeClr val="bg1"/>
                </a:solidFill>
              </a:rPr>
              <a:t>2023/05/21</a:t>
            </a:r>
            <a:endParaRPr kumimoji="1" lang="en-US" altLang="ja-JP" sz="2000" dirty="0">
              <a:solidFill>
                <a:schemeClr val="bg1"/>
              </a:solidFill>
            </a:endParaRPr>
          </a:p>
          <a:p>
            <a:r>
              <a:rPr kumimoji="1" lang="en-US" altLang="ja-JP" sz="2000" dirty="0">
                <a:solidFill>
                  <a:schemeClr val="bg1"/>
                </a:solidFill>
              </a:rPr>
              <a:t>ID</a:t>
            </a:r>
            <a:r>
              <a:rPr kumimoji="1" lang="ja-JP" altLang="en-US" sz="2000" dirty="0">
                <a:solidFill>
                  <a:schemeClr val="bg1"/>
                </a:solidFill>
              </a:rPr>
              <a:t>：</a:t>
            </a:r>
            <a:r>
              <a:rPr kumimoji="1" lang="en-US" altLang="ja-JP" sz="2000" dirty="0">
                <a:solidFill>
                  <a:schemeClr val="bg1"/>
                </a:solidFill>
              </a:rPr>
              <a:t>00001</a:t>
            </a:r>
            <a:r>
              <a:rPr kumimoji="1" lang="ja-JP" altLang="en-US" sz="2000" dirty="0">
                <a:solidFill>
                  <a:schemeClr val="bg1"/>
                </a:solidFill>
              </a:rPr>
              <a:t>　　 入社年月：</a:t>
            </a:r>
            <a:r>
              <a:rPr kumimoji="1" lang="en-US" altLang="ja-JP" sz="2000" dirty="0">
                <a:solidFill>
                  <a:schemeClr val="bg1"/>
                </a:solidFill>
              </a:rPr>
              <a:t>2010/04/01</a:t>
            </a:r>
            <a:endParaRPr kumimoji="1" lang="ja-JP" altLang="en-US" sz="2000" dirty="0">
              <a:solidFill>
                <a:schemeClr val="bg1"/>
              </a:solidFill>
            </a:endParaRPr>
          </a:p>
        </p:txBody>
      </p:sp>
      <p:sp>
        <p:nvSpPr>
          <p:cNvPr id="8" name="楕円 7">
            <a:extLst>
              <a:ext uri="{FF2B5EF4-FFF2-40B4-BE49-F238E27FC236}">
                <a16:creationId xmlns:a16="http://schemas.microsoft.com/office/drawing/2014/main" id="{DF22C71D-4D75-EA0D-224A-AE4BC39F5492}"/>
              </a:ext>
            </a:extLst>
          </p:cNvPr>
          <p:cNvSpPr/>
          <p:nvPr/>
        </p:nvSpPr>
        <p:spPr>
          <a:xfrm>
            <a:off x="729342" y="1046361"/>
            <a:ext cx="1210587" cy="115388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1" name="表 10">
            <a:extLst>
              <a:ext uri="{FF2B5EF4-FFF2-40B4-BE49-F238E27FC236}">
                <a16:creationId xmlns:a16="http://schemas.microsoft.com/office/drawing/2014/main" id="{1D995383-86C0-8BC7-7570-98DEC820CDD5}"/>
              </a:ext>
            </a:extLst>
          </p:cNvPr>
          <p:cNvGraphicFramePr>
            <a:graphicFrameLocks noGrp="1"/>
          </p:cNvGraphicFramePr>
          <p:nvPr/>
        </p:nvGraphicFramePr>
        <p:xfrm>
          <a:off x="304796" y="2514600"/>
          <a:ext cx="6868882" cy="4018552"/>
        </p:xfrm>
        <a:graphic>
          <a:graphicData uri="http://schemas.openxmlformats.org/drawingml/2006/table">
            <a:tbl>
              <a:tblPr firstRow="1" bandRow="1">
                <a:tableStyleId>{2D5ABB26-0587-4C30-8999-92F81FD0307C}</a:tableStyleId>
              </a:tblPr>
              <a:tblGrid>
                <a:gridCol w="3434441">
                  <a:extLst>
                    <a:ext uri="{9D8B030D-6E8A-4147-A177-3AD203B41FA5}">
                      <a16:colId xmlns:a16="http://schemas.microsoft.com/office/drawing/2014/main" val="1318044104"/>
                    </a:ext>
                  </a:extLst>
                </a:gridCol>
                <a:gridCol w="3434441">
                  <a:extLst>
                    <a:ext uri="{9D8B030D-6E8A-4147-A177-3AD203B41FA5}">
                      <a16:colId xmlns:a16="http://schemas.microsoft.com/office/drawing/2014/main" val="3473135034"/>
                    </a:ext>
                  </a:extLst>
                </a:gridCol>
              </a:tblGrid>
              <a:tr h="502319">
                <a:tc>
                  <a:txBody>
                    <a:bodyPr/>
                    <a:lstStyle/>
                    <a:p>
                      <a:pPr algn="ctr"/>
                      <a:r>
                        <a:rPr kumimoji="1" lang="ja-JP" altLang="en-US" dirty="0"/>
                        <a:t>エンジニア歴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996094942"/>
                  </a:ext>
                </a:extLst>
              </a:tr>
              <a:tr h="502319">
                <a:tc>
                  <a:txBody>
                    <a:bodyPr/>
                    <a:lstStyle/>
                    <a:p>
                      <a:pPr algn="ctr"/>
                      <a:r>
                        <a:rPr kumimoji="1" lang="ja-JP" altLang="en-US" dirty="0"/>
                        <a:t>言語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949209427"/>
                  </a:ext>
                </a:extLst>
              </a:tr>
              <a:tr h="502319">
                <a:tc>
                  <a:txBody>
                    <a:bodyPr/>
                    <a:lstStyle/>
                    <a:p>
                      <a:pPr algn="ctr"/>
                      <a:r>
                        <a:rPr kumimoji="1" lang="ja-JP" altLang="en-US" dirty="0"/>
                        <a:t>経歴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371875526"/>
                  </a:ext>
                </a:extLst>
              </a:tr>
              <a:tr h="502319">
                <a:tc>
                  <a:txBody>
                    <a:bodyPr/>
                    <a:lstStyle/>
                    <a:p>
                      <a:pPr algn="ctr"/>
                      <a:r>
                        <a:rPr kumimoji="1" lang="ja-JP" altLang="en-US" dirty="0"/>
                        <a:t>研修受講歴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736958627"/>
                  </a:ext>
                </a:extLst>
              </a:tr>
              <a:tr h="502319">
                <a:tc>
                  <a:txBody>
                    <a:bodyPr/>
                    <a:lstStyle/>
                    <a:p>
                      <a:pPr algn="ctr"/>
                      <a:r>
                        <a:rPr kumimoji="1" lang="ja-JP" altLang="en-US" dirty="0"/>
                        <a:t>技術力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250902219"/>
                  </a:ext>
                </a:extLst>
              </a:tr>
              <a:tr h="502319">
                <a:tc>
                  <a:txBody>
                    <a:bodyPr/>
                    <a:lstStyle/>
                    <a:p>
                      <a:pPr algn="ctr"/>
                      <a:r>
                        <a:rPr kumimoji="1" lang="ja-JP" altLang="en-US" dirty="0"/>
                        <a:t>受講態度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53779568"/>
                  </a:ext>
                </a:extLst>
              </a:tr>
              <a:tr h="502319">
                <a:tc>
                  <a:txBody>
                    <a:bodyPr/>
                    <a:lstStyle/>
                    <a:p>
                      <a:pPr algn="ctr"/>
                      <a:r>
                        <a:rPr kumimoji="1" lang="ja-JP" altLang="en-US" dirty="0"/>
                        <a:t>コミュニケーション能力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296586340"/>
                  </a:ext>
                </a:extLst>
              </a:tr>
              <a:tr h="502319">
                <a:tc>
                  <a:txBody>
                    <a:bodyPr/>
                    <a:lstStyle/>
                    <a:p>
                      <a:pPr algn="ctr"/>
                      <a:r>
                        <a:rPr kumimoji="1" lang="ja-JP" altLang="en-US" dirty="0"/>
                        <a:t>リーダーシップ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806307394"/>
                  </a:ext>
                </a:extLst>
              </a:tr>
            </a:tbl>
          </a:graphicData>
        </a:graphic>
      </p:graphicFrame>
      <p:sp>
        <p:nvSpPr>
          <p:cNvPr id="13" name="正方形/長方形 12">
            <a:extLst>
              <a:ext uri="{FF2B5EF4-FFF2-40B4-BE49-F238E27FC236}">
                <a16:creationId xmlns:a16="http://schemas.microsoft.com/office/drawing/2014/main" id="{2C910036-1CFA-5D75-FB78-5DCFD9998986}"/>
              </a:ext>
            </a:extLst>
          </p:cNvPr>
          <p:cNvSpPr/>
          <p:nvPr/>
        </p:nvSpPr>
        <p:spPr>
          <a:xfrm>
            <a:off x="5713359" y="199904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1BBA2E0B-CE3C-3F8C-0C8C-AA3005FD9553}"/>
              </a:ext>
            </a:extLst>
          </p:cNvPr>
          <p:cNvSpPr/>
          <p:nvPr/>
        </p:nvSpPr>
        <p:spPr>
          <a:xfrm>
            <a:off x="4025712" y="199904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F7535457-4E7E-3D91-D70C-BB256F6B9102}"/>
              </a:ext>
            </a:extLst>
          </p:cNvPr>
          <p:cNvSpPr txBox="1"/>
          <p:nvPr/>
        </p:nvSpPr>
        <p:spPr>
          <a:xfrm>
            <a:off x="4233637" y="2024599"/>
            <a:ext cx="646331" cy="369332"/>
          </a:xfrm>
          <a:prstGeom prst="rect">
            <a:avLst/>
          </a:prstGeom>
          <a:noFill/>
        </p:spPr>
        <p:txBody>
          <a:bodyPr wrap="none" rtlCol="0">
            <a:spAutoFit/>
          </a:bodyPr>
          <a:lstStyle/>
          <a:p>
            <a:r>
              <a:rPr lang="ja-JP" altLang="en-US" dirty="0">
                <a:solidFill>
                  <a:schemeClr val="bg1"/>
                </a:solidFill>
              </a:rPr>
              <a:t>更新</a:t>
            </a:r>
            <a:endParaRPr kumimoji="1" lang="ja-JP" altLang="en-US" dirty="0">
              <a:solidFill>
                <a:schemeClr val="bg1"/>
              </a:solidFill>
            </a:endParaRPr>
          </a:p>
        </p:txBody>
      </p:sp>
      <p:sp>
        <p:nvSpPr>
          <p:cNvPr id="16" name="テキスト ボックス 15">
            <a:extLst>
              <a:ext uri="{FF2B5EF4-FFF2-40B4-BE49-F238E27FC236}">
                <a16:creationId xmlns:a16="http://schemas.microsoft.com/office/drawing/2014/main" id="{66C8EEA4-8307-CE27-69C7-22DD59A1C7EE}"/>
              </a:ext>
            </a:extLst>
          </p:cNvPr>
          <p:cNvSpPr txBox="1"/>
          <p:nvPr/>
        </p:nvSpPr>
        <p:spPr>
          <a:xfrm>
            <a:off x="5921284" y="2013351"/>
            <a:ext cx="646331" cy="369332"/>
          </a:xfrm>
          <a:prstGeom prst="rect">
            <a:avLst/>
          </a:prstGeom>
          <a:noFill/>
        </p:spPr>
        <p:txBody>
          <a:bodyPr wrap="none" rtlCol="0">
            <a:spAutoFit/>
          </a:bodyPr>
          <a:lstStyle/>
          <a:p>
            <a:r>
              <a:rPr kumimoji="1" lang="ja-JP" altLang="en-US" dirty="0">
                <a:solidFill>
                  <a:schemeClr val="bg1"/>
                </a:solidFill>
              </a:rPr>
              <a:t>戻る</a:t>
            </a:r>
          </a:p>
        </p:txBody>
      </p:sp>
      <p:grpSp>
        <p:nvGrpSpPr>
          <p:cNvPr id="28" name="グループ化 27">
            <a:extLst>
              <a:ext uri="{FF2B5EF4-FFF2-40B4-BE49-F238E27FC236}">
                <a16:creationId xmlns:a16="http://schemas.microsoft.com/office/drawing/2014/main" id="{99D2975D-53EE-9638-09E9-6AE9A24D66A6}"/>
              </a:ext>
            </a:extLst>
          </p:cNvPr>
          <p:cNvGrpSpPr/>
          <p:nvPr/>
        </p:nvGrpSpPr>
        <p:grpSpPr>
          <a:xfrm>
            <a:off x="6689348" y="4155585"/>
            <a:ext cx="456186" cy="338815"/>
            <a:chOff x="8329219" y="1911229"/>
            <a:chExt cx="492606" cy="377633"/>
          </a:xfrm>
        </p:grpSpPr>
        <p:sp>
          <p:nvSpPr>
            <p:cNvPr id="2" name="正方形/長方形 1">
              <a:extLst>
                <a:ext uri="{FF2B5EF4-FFF2-40B4-BE49-F238E27FC236}">
                  <a16:creationId xmlns:a16="http://schemas.microsoft.com/office/drawing/2014/main" id="{5CAC2C04-8859-7AA3-801F-90A8238DCE66}"/>
                </a:ext>
              </a:extLst>
            </p:cNvPr>
            <p:cNvSpPr/>
            <p:nvPr/>
          </p:nvSpPr>
          <p:spPr>
            <a:xfrm rot="2806521">
              <a:off x="8524781" y="1772135"/>
              <a:ext cx="157950" cy="43613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二等辺三角形 3">
              <a:extLst>
                <a:ext uri="{FF2B5EF4-FFF2-40B4-BE49-F238E27FC236}">
                  <a16:creationId xmlns:a16="http://schemas.microsoft.com/office/drawing/2014/main" id="{CA9D9A19-3217-70B7-E9CE-9DD7B5665EA4}"/>
                </a:ext>
              </a:extLst>
            </p:cNvPr>
            <p:cNvSpPr/>
            <p:nvPr/>
          </p:nvSpPr>
          <p:spPr>
            <a:xfrm rot="13936911">
              <a:off x="8299002" y="2135548"/>
              <a:ext cx="183531" cy="123098"/>
            </a:xfrm>
            <a:prstGeom prst="triangle">
              <a:avLst>
                <a:gd name="adj" fmla="val 46154"/>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9" name="グループ化 28">
            <a:extLst>
              <a:ext uri="{FF2B5EF4-FFF2-40B4-BE49-F238E27FC236}">
                <a16:creationId xmlns:a16="http://schemas.microsoft.com/office/drawing/2014/main" id="{79B027D5-2AF1-D531-FFFF-DE135CECEB37}"/>
              </a:ext>
            </a:extLst>
          </p:cNvPr>
          <p:cNvGrpSpPr/>
          <p:nvPr/>
        </p:nvGrpSpPr>
        <p:grpSpPr>
          <a:xfrm>
            <a:off x="6704587" y="3692947"/>
            <a:ext cx="456186" cy="338815"/>
            <a:chOff x="8329219" y="1911229"/>
            <a:chExt cx="492606" cy="377633"/>
          </a:xfrm>
        </p:grpSpPr>
        <p:sp>
          <p:nvSpPr>
            <p:cNvPr id="30" name="正方形/長方形 29">
              <a:extLst>
                <a:ext uri="{FF2B5EF4-FFF2-40B4-BE49-F238E27FC236}">
                  <a16:creationId xmlns:a16="http://schemas.microsoft.com/office/drawing/2014/main" id="{1F529A3A-0311-A0FB-F045-4E2BA0566380}"/>
                </a:ext>
              </a:extLst>
            </p:cNvPr>
            <p:cNvSpPr/>
            <p:nvPr/>
          </p:nvSpPr>
          <p:spPr>
            <a:xfrm rot="2806521">
              <a:off x="8524781" y="1772135"/>
              <a:ext cx="157950" cy="43613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二等辺三角形 30">
              <a:extLst>
                <a:ext uri="{FF2B5EF4-FFF2-40B4-BE49-F238E27FC236}">
                  <a16:creationId xmlns:a16="http://schemas.microsoft.com/office/drawing/2014/main" id="{FFF62069-631E-00CA-18AD-2E7121217A77}"/>
                </a:ext>
              </a:extLst>
            </p:cNvPr>
            <p:cNvSpPr/>
            <p:nvPr/>
          </p:nvSpPr>
          <p:spPr>
            <a:xfrm rot="13936911">
              <a:off x="8299002" y="2135548"/>
              <a:ext cx="183531" cy="123098"/>
            </a:xfrm>
            <a:prstGeom prst="triangle">
              <a:avLst>
                <a:gd name="adj" fmla="val 46154"/>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2" name="グループ化 31">
            <a:extLst>
              <a:ext uri="{FF2B5EF4-FFF2-40B4-BE49-F238E27FC236}">
                <a16:creationId xmlns:a16="http://schemas.microsoft.com/office/drawing/2014/main" id="{D352545F-CBD8-9CEB-2263-F22013723224}"/>
              </a:ext>
            </a:extLst>
          </p:cNvPr>
          <p:cNvGrpSpPr/>
          <p:nvPr/>
        </p:nvGrpSpPr>
        <p:grpSpPr>
          <a:xfrm>
            <a:off x="6679674" y="3156588"/>
            <a:ext cx="456186" cy="338815"/>
            <a:chOff x="8329219" y="1911229"/>
            <a:chExt cx="492606" cy="377633"/>
          </a:xfrm>
        </p:grpSpPr>
        <p:sp>
          <p:nvSpPr>
            <p:cNvPr id="33" name="正方形/長方形 32">
              <a:extLst>
                <a:ext uri="{FF2B5EF4-FFF2-40B4-BE49-F238E27FC236}">
                  <a16:creationId xmlns:a16="http://schemas.microsoft.com/office/drawing/2014/main" id="{420486CF-CCD3-4013-BFD1-87295402AB9A}"/>
                </a:ext>
              </a:extLst>
            </p:cNvPr>
            <p:cNvSpPr/>
            <p:nvPr/>
          </p:nvSpPr>
          <p:spPr>
            <a:xfrm rot="2806521">
              <a:off x="8524781" y="1772135"/>
              <a:ext cx="157950" cy="43613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二等辺三角形 33">
              <a:extLst>
                <a:ext uri="{FF2B5EF4-FFF2-40B4-BE49-F238E27FC236}">
                  <a16:creationId xmlns:a16="http://schemas.microsoft.com/office/drawing/2014/main" id="{3DF1FFF0-0B7A-5BBF-65B1-BE3AC9EE202A}"/>
                </a:ext>
              </a:extLst>
            </p:cNvPr>
            <p:cNvSpPr/>
            <p:nvPr/>
          </p:nvSpPr>
          <p:spPr>
            <a:xfrm rot="13936911">
              <a:off x="8299002" y="2135548"/>
              <a:ext cx="183531" cy="123098"/>
            </a:xfrm>
            <a:prstGeom prst="triangle">
              <a:avLst>
                <a:gd name="adj" fmla="val 46154"/>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5" name="グループ化 34">
            <a:extLst>
              <a:ext uri="{FF2B5EF4-FFF2-40B4-BE49-F238E27FC236}">
                <a16:creationId xmlns:a16="http://schemas.microsoft.com/office/drawing/2014/main" id="{438D08C5-D69B-74FA-F0F9-450B2E85183C}"/>
              </a:ext>
            </a:extLst>
          </p:cNvPr>
          <p:cNvGrpSpPr/>
          <p:nvPr/>
        </p:nvGrpSpPr>
        <p:grpSpPr>
          <a:xfrm>
            <a:off x="6679674" y="2672201"/>
            <a:ext cx="456186" cy="338815"/>
            <a:chOff x="8329219" y="1911229"/>
            <a:chExt cx="492606" cy="377633"/>
          </a:xfrm>
        </p:grpSpPr>
        <p:sp>
          <p:nvSpPr>
            <p:cNvPr id="36" name="正方形/長方形 35">
              <a:extLst>
                <a:ext uri="{FF2B5EF4-FFF2-40B4-BE49-F238E27FC236}">
                  <a16:creationId xmlns:a16="http://schemas.microsoft.com/office/drawing/2014/main" id="{C9274A2E-B513-FC4A-FEC3-B29947A545C4}"/>
                </a:ext>
              </a:extLst>
            </p:cNvPr>
            <p:cNvSpPr/>
            <p:nvPr/>
          </p:nvSpPr>
          <p:spPr>
            <a:xfrm rot="2806521">
              <a:off x="8524781" y="1772135"/>
              <a:ext cx="157950" cy="43613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04AB9364-C49A-E5CA-B60C-455410A6A578}"/>
                </a:ext>
              </a:extLst>
            </p:cNvPr>
            <p:cNvSpPr/>
            <p:nvPr/>
          </p:nvSpPr>
          <p:spPr>
            <a:xfrm rot="13936911">
              <a:off x="8299002" y="2135548"/>
              <a:ext cx="183531" cy="123098"/>
            </a:xfrm>
            <a:prstGeom prst="triangle">
              <a:avLst>
                <a:gd name="adj" fmla="val 46154"/>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8" name="テキスト ボックス 37">
            <a:extLst>
              <a:ext uri="{FF2B5EF4-FFF2-40B4-BE49-F238E27FC236}">
                <a16:creationId xmlns:a16="http://schemas.microsoft.com/office/drawing/2014/main" id="{359C98DC-0DAC-7345-A127-8AD9B623CDCB}"/>
              </a:ext>
            </a:extLst>
          </p:cNvPr>
          <p:cNvSpPr txBox="1"/>
          <p:nvPr/>
        </p:nvSpPr>
        <p:spPr>
          <a:xfrm>
            <a:off x="3871972" y="4552011"/>
            <a:ext cx="2898550" cy="523220"/>
          </a:xfrm>
          <a:prstGeom prst="rect">
            <a:avLst/>
          </a:prstGeom>
          <a:noFill/>
        </p:spPr>
        <p:txBody>
          <a:bodyPr wrap="none" rtlCol="0">
            <a:spAutoFit/>
          </a:bodyPr>
          <a:lstStyle/>
          <a:p>
            <a:r>
              <a:rPr lang="ja-JP" altLang="en-US" sz="2800" dirty="0"/>
              <a:t>ー　　　</a:t>
            </a:r>
            <a:r>
              <a:rPr kumimoji="1" lang="en-US" altLang="ja-JP" sz="2800" dirty="0"/>
              <a:t>5</a:t>
            </a:r>
            <a:r>
              <a:rPr kumimoji="1" lang="ja-JP" altLang="en-US" sz="2800" dirty="0"/>
              <a:t>　</a:t>
            </a:r>
            <a:r>
              <a:rPr lang="ja-JP" altLang="en-US" sz="2800" dirty="0"/>
              <a:t>　　</a:t>
            </a:r>
            <a:endParaRPr kumimoji="1" lang="ja-JP" altLang="en-US" sz="2800" dirty="0"/>
          </a:p>
        </p:txBody>
      </p:sp>
      <p:sp>
        <p:nvSpPr>
          <p:cNvPr id="39" name="テキスト ボックス 38">
            <a:extLst>
              <a:ext uri="{FF2B5EF4-FFF2-40B4-BE49-F238E27FC236}">
                <a16:creationId xmlns:a16="http://schemas.microsoft.com/office/drawing/2014/main" id="{CE22A79F-8B17-7B10-5C19-923689CB190C}"/>
              </a:ext>
            </a:extLst>
          </p:cNvPr>
          <p:cNvSpPr txBox="1"/>
          <p:nvPr/>
        </p:nvSpPr>
        <p:spPr>
          <a:xfrm>
            <a:off x="3871970" y="5574090"/>
            <a:ext cx="325762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ー　　　</a:t>
            </a:r>
            <a:r>
              <a:rPr lang="en-US" altLang="ja-JP" sz="2800" dirty="0">
                <a:solidFill>
                  <a:prstClr val="black"/>
                </a:solidFill>
                <a:latin typeface="游ゴシック" panose="02110004020202020204"/>
                <a:ea typeface="游ゴシック" panose="020B0400000000000000" pitchFamily="50" charset="-128"/>
              </a:rPr>
              <a:t>4</a:t>
            </a: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p>
        </p:txBody>
      </p:sp>
      <p:sp>
        <p:nvSpPr>
          <p:cNvPr id="40" name="テキスト ボックス 39">
            <a:extLst>
              <a:ext uri="{FF2B5EF4-FFF2-40B4-BE49-F238E27FC236}">
                <a16:creationId xmlns:a16="http://schemas.microsoft.com/office/drawing/2014/main" id="{9629F78E-E56C-2131-A310-8D0803ECCF3B}"/>
              </a:ext>
            </a:extLst>
          </p:cNvPr>
          <p:cNvSpPr txBox="1"/>
          <p:nvPr/>
        </p:nvSpPr>
        <p:spPr>
          <a:xfrm>
            <a:off x="3871969" y="6057773"/>
            <a:ext cx="325762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ー　　　</a:t>
            </a:r>
            <a:r>
              <a:rPr lang="en-US" altLang="ja-JP" sz="2800" dirty="0">
                <a:solidFill>
                  <a:prstClr val="black"/>
                </a:solidFill>
                <a:latin typeface="游ゴシック" panose="02110004020202020204"/>
                <a:ea typeface="游ゴシック" panose="020B0400000000000000" pitchFamily="50" charset="-128"/>
              </a:rPr>
              <a:t>4</a:t>
            </a: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p>
        </p:txBody>
      </p:sp>
      <p:sp>
        <p:nvSpPr>
          <p:cNvPr id="41" name="テキスト ボックス 40">
            <a:extLst>
              <a:ext uri="{FF2B5EF4-FFF2-40B4-BE49-F238E27FC236}">
                <a16:creationId xmlns:a16="http://schemas.microsoft.com/office/drawing/2014/main" id="{AC785023-FBFE-6FA4-0362-BCED630B3FCE}"/>
              </a:ext>
            </a:extLst>
          </p:cNvPr>
          <p:cNvSpPr txBox="1"/>
          <p:nvPr/>
        </p:nvSpPr>
        <p:spPr>
          <a:xfrm>
            <a:off x="3871971" y="5088370"/>
            <a:ext cx="289855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ー　　　</a:t>
            </a:r>
            <a:r>
              <a:rPr kumimoji="1" lang="en-US" altLang="ja-JP"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5</a:t>
            </a: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p>
        </p:txBody>
      </p:sp>
    </p:spTree>
    <p:extLst>
      <p:ext uri="{BB962C8B-B14F-4D97-AF65-F5344CB8AC3E}">
        <p14:creationId xmlns:p14="http://schemas.microsoft.com/office/powerpoint/2010/main" val="398954403"/>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49D9A-EEAA-F5D2-9A73-6895B7423EAD}"/>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1544A001-35A7-FDCB-F1CB-2B6EDFEE4CF6}"/>
              </a:ext>
            </a:extLst>
          </p:cNvPr>
          <p:cNvSpPr/>
          <p:nvPr/>
        </p:nvSpPr>
        <p:spPr>
          <a:xfrm>
            <a:off x="304796" y="925290"/>
            <a:ext cx="6868881"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BAD4590A-186D-6A0B-D128-DBC46A91C31E}"/>
              </a:ext>
            </a:extLst>
          </p:cNvPr>
          <p:cNvSpPr txBox="1"/>
          <p:nvPr/>
        </p:nvSpPr>
        <p:spPr>
          <a:xfrm>
            <a:off x="304796" y="195946"/>
            <a:ext cx="7361311"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2-3</a:t>
            </a:r>
            <a:r>
              <a:rPr lang="ja-JP" sz="3600" b="0" i="0" u="none" strike="noStrike" kern="1200" cap="none" spc="0" baseline="0" dirty="0">
                <a:solidFill>
                  <a:srgbClr val="000000"/>
                </a:solidFill>
                <a:uFillTx/>
                <a:latin typeface="游ゴシック"/>
                <a:ea typeface="游ゴシック" pitchFamily="50"/>
              </a:rPr>
              <a:t>　</a:t>
            </a:r>
            <a:r>
              <a:rPr lang="ja-JP" altLang="en-US" sz="3600" dirty="0">
                <a:solidFill>
                  <a:srgbClr val="000000"/>
                </a:solidFill>
                <a:latin typeface="游ゴシック"/>
                <a:ea typeface="游ゴシック" pitchFamily="50"/>
              </a:rPr>
              <a:t>エンジニアの新規追加画面</a:t>
            </a:r>
            <a:endParaRPr lang="en-US" sz="3600" b="0" i="0" u="none" strike="noStrike" kern="1200" cap="none" spc="0" baseline="0" dirty="0">
              <a:solidFill>
                <a:srgbClr val="000000"/>
              </a:solidFill>
              <a:uFillTx/>
              <a:latin typeface="游ゴシック"/>
              <a:ea typeface="游ゴシック" pitchFamily="50"/>
            </a:endParaRPr>
          </a:p>
        </p:txBody>
      </p:sp>
      <p:pic>
        <p:nvPicPr>
          <p:cNvPr id="5" name="図 4">
            <a:extLst>
              <a:ext uri="{FF2B5EF4-FFF2-40B4-BE49-F238E27FC236}">
                <a16:creationId xmlns:a16="http://schemas.microsoft.com/office/drawing/2014/main" id="{792AA0F7-2EAB-BBED-36BA-32C471297D62}"/>
              </a:ext>
            </a:extLst>
          </p:cNvPr>
          <p:cNvPicPr>
            <a:picLocks noChangeAspect="1"/>
          </p:cNvPicPr>
          <p:nvPr/>
        </p:nvPicPr>
        <p:blipFill>
          <a:blip r:embed="rId3"/>
          <a:stretch>
            <a:fillRect/>
          </a:stretch>
        </p:blipFill>
        <p:spPr>
          <a:xfrm>
            <a:off x="8564335" y="3515404"/>
            <a:ext cx="2857500" cy="2352675"/>
          </a:xfrm>
          <a:prstGeom prst="rect">
            <a:avLst/>
          </a:prstGeom>
        </p:spPr>
      </p:pic>
      <p:sp>
        <p:nvSpPr>
          <p:cNvPr id="6" name="テキスト ボックス 5">
            <a:extLst>
              <a:ext uri="{FF2B5EF4-FFF2-40B4-BE49-F238E27FC236}">
                <a16:creationId xmlns:a16="http://schemas.microsoft.com/office/drawing/2014/main" id="{68A9A908-C26A-B79E-B056-6C54165282DB}"/>
              </a:ext>
            </a:extLst>
          </p:cNvPr>
          <p:cNvSpPr txBox="1"/>
          <p:nvPr/>
        </p:nvSpPr>
        <p:spPr>
          <a:xfrm>
            <a:off x="2205839" y="1088573"/>
            <a:ext cx="3262432" cy="769441"/>
          </a:xfrm>
          <a:prstGeom prst="rect">
            <a:avLst/>
          </a:prstGeom>
          <a:noFill/>
        </p:spPr>
        <p:txBody>
          <a:bodyPr wrap="none" rtlCol="0">
            <a:spAutoFit/>
          </a:bodyPr>
          <a:lstStyle/>
          <a:p>
            <a:r>
              <a:rPr lang="ja-JP" altLang="en-US" sz="2400" dirty="0">
                <a:solidFill>
                  <a:schemeClr val="bg1"/>
                </a:solidFill>
              </a:rPr>
              <a:t>名前：フルネーム　　</a:t>
            </a:r>
            <a:endParaRPr lang="en-US" altLang="ja-JP" sz="2000" dirty="0">
              <a:solidFill>
                <a:schemeClr val="bg1"/>
              </a:solidFill>
            </a:endParaRPr>
          </a:p>
          <a:p>
            <a:r>
              <a:rPr lang="ja-JP" altLang="en-US" sz="2000" dirty="0">
                <a:solidFill>
                  <a:schemeClr val="bg1"/>
                </a:solidFill>
              </a:rPr>
              <a:t> 入社年月：</a:t>
            </a:r>
            <a:r>
              <a:rPr lang="en-US" altLang="ja-JP" sz="2000" dirty="0" err="1">
                <a:solidFill>
                  <a:schemeClr val="bg1"/>
                </a:solidFill>
              </a:rPr>
              <a:t>yyyy</a:t>
            </a:r>
            <a:r>
              <a:rPr lang="en-US" altLang="ja-JP" sz="2000" dirty="0">
                <a:solidFill>
                  <a:schemeClr val="bg1"/>
                </a:solidFill>
              </a:rPr>
              <a:t>/mm/dd</a:t>
            </a:r>
            <a:endParaRPr lang="ja-JP" altLang="en-US" sz="2000" dirty="0">
              <a:solidFill>
                <a:schemeClr val="bg1"/>
              </a:solidFill>
            </a:endParaRPr>
          </a:p>
        </p:txBody>
      </p:sp>
      <p:sp>
        <p:nvSpPr>
          <p:cNvPr id="8" name="楕円 7">
            <a:extLst>
              <a:ext uri="{FF2B5EF4-FFF2-40B4-BE49-F238E27FC236}">
                <a16:creationId xmlns:a16="http://schemas.microsoft.com/office/drawing/2014/main" id="{6B3CA4E3-A54B-8509-48F6-48A70D596005}"/>
              </a:ext>
            </a:extLst>
          </p:cNvPr>
          <p:cNvSpPr/>
          <p:nvPr/>
        </p:nvSpPr>
        <p:spPr>
          <a:xfrm>
            <a:off x="729342" y="1046361"/>
            <a:ext cx="1210587" cy="115388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1" name="表 10">
            <a:extLst>
              <a:ext uri="{FF2B5EF4-FFF2-40B4-BE49-F238E27FC236}">
                <a16:creationId xmlns:a16="http://schemas.microsoft.com/office/drawing/2014/main" id="{7E9A1DBC-26D7-E6EE-2C0A-E9C75E86934E}"/>
              </a:ext>
            </a:extLst>
          </p:cNvPr>
          <p:cNvGraphicFramePr>
            <a:graphicFrameLocks noGrp="1"/>
          </p:cNvGraphicFramePr>
          <p:nvPr/>
        </p:nvGraphicFramePr>
        <p:xfrm>
          <a:off x="304796" y="2514600"/>
          <a:ext cx="6868882" cy="4018552"/>
        </p:xfrm>
        <a:graphic>
          <a:graphicData uri="http://schemas.openxmlformats.org/drawingml/2006/table">
            <a:tbl>
              <a:tblPr firstRow="1" bandRow="1">
                <a:tableStyleId>{2D5ABB26-0587-4C30-8999-92F81FD0307C}</a:tableStyleId>
              </a:tblPr>
              <a:tblGrid>
                <a:gridCol w="3434441">
                  <a:extLst>
                    <a:ext uri="{9D8B030D-6E8A-4147-A177-3AD203B41FA5}">
                      <a16:colId xmlns:a16="http://schemas.microsoft.com/office/drawing/2014/main" val="1318044104"/>
                    </a:ext>
                  </a:extLst>
                </a:gridCol>
                <a:gridCol w="3434441">
                  <a:extLst>
                    <a:ext uri="{9D8B030D-6E8A-4147-A177-3AD203B41FA5}">
                      <a16:colId xmlns:a16="http://schemas.microsoft.com/office/drawing/2014/main" val="3473135034"/>
                    </a:ext>
                  </a:extLst>
                </a:gridCol>
              </a:tblGrid>
              <a:tr h="502319">
                <a:tc>
                  <a:txBody>
                    <a:bodyPr/>
                    <a:lstStyle/>
                    <a:p>
                      <a:pPr algn="ctr"/>
                      <a:r>
                        <a:rPr kumimoji="1" lang="ja-JP" altLang="en-US" dirty="0"/>
                        <a:t>エンジニア歴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996094942"/>
                  </a:ext>
                </a:extLst>
              </a:tr>
              <a:tr h="502319">
                <a:tc>
                  <a:txBody>
                    <a:bodyPr/>
                    <a:lstStyle/>
                    <a:p>
                      <a:pPr algn="ctr"/>
                      <a:r>
                        <a:rPr kumimoji="1" lang="ja-JP" altLang="en-US" dirty="0"/>
                        <a:t>言語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949209427"/>
                  </a:ext>
                </a:extLst>
              </a:tr>
              <a:tr h="502319">
                <a:tc>
                  <a:txBody>
                    <a:bodyPr/>
                    <a:lstStyle/>
                    <a:p>
                      <a:pPr algn="ctr"/>
                      <a:r>
                        <a:rPr kumimoji="1" lang="ja-JP" altLang="en-US" dirty="0"/>
                        <a:t>経歴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371875526"/>
                  </a:ext>
                </a:extLst>
              </a:tr>
              <a:tr h="502319">
                <a:tc>
                  <a:txBody>
                    <a:bodyPr/>
                    <a:lstStyle/>
                    <a:p>
                      <a:pPr algn="ctr"/>
                      <a:r>
                        <a:rPr kumimoji="1" lang="ja-JP" altLang="en-US" dirty="0"/>
                        <a:t>研修受講歴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736958627"/>
                  </a:ext>
                </a:extLst>
              </a:tr>
              <a:tr h="502319">
                <a:tc>
                  <a:txBody>
                    <a:bodyPr/>
                    <a:lstStyle/>
                    <a:p>
                      <a:pPr algn="ctr"/>
                      <a:r>
                        <a:rPr kumimoji="1" lang="ja-JP" altLang="en-US" dirty="0"/>
                        <a:t>技術力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250902219"/>
                  </a:ext>
                </a:extLst>
              </a:tr>
              <a:tr h="502319">
                <a:tc>
                  <a:txBody>
                    <a:bodyPr/>
                    <a:lstStyle/>
                    <a:p>
                      <a:pPr algn="ctr"/>
                      <a:r>
                        <a:rPr kumimoji="1" lang="ja-JP" altLang="en-US" dirty="0"/>
                        <a:t>受講態度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53779568"/>
                  </a:ext>
                </a:extLst>
              </a:tr>
              <a:tr h="502319">
                <a:tc>
                  <a:txBody>
                    <a:bodyPr/>
                    <a:lstStyle/>
                    <a:p>
                      <a:pPr algn="ctr"/>
                      <a:r>
                        <a:rPr kumimoji="1" lang="ja-JP" altLang="en-US" dirty="0"/>
                        <a:t>コミュニケーション能力</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296586340"/>
                  </a:ext>
                </a:extLst>
              </a:tr>
              <a:tr h="502319">
                <a:tc>
                  <a:txBody>
                    <a:bodyPr/>
                    <a:lstStyle/>
                    <a:p>
                      <a:pPr algn="ctr"/>
                      <a:r>
                        <a:rPr kumimoji="1" lang="ja-JP" altLang="en-US" dirty="0"/>
                        <a:t>リーダーシップ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806307394"/>
                  </a:ext>
                </a:extLst>
              </a:tr>
            </a:tbl>
          </a:graphicData>
        </a:graphic>
      </p:graphicFrame>
      <p:sp>
        <p:nvSpPr>
          <p:cNvPr id="13" name="正方形/長方形 12">
            <a:extLst>
              <a:ext uri="{FF2B5EF4-FFF2-40B4-BE49-F238E27FC236}">
                <a16:creationId xmlns:a16="http://schemas.microsoft.com/office/drawing/2014/main" id="{EF20B0F3-3AFC-083A-4C81-7C5E883D4238}"/>
              </a:ext>
            </a:extLst>
          </p:cNvPr>
          <p:cNvSpPr/>
          <p:nvPr/>
        </p:nvSpPr>
        <p:spPr>
          <a:xfrm>
            <a:off x="5713359" y="199904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D1CCD03A-40A2-7BD6-4D80-F0FFAEF419B8}"/>
              </a:ext>
            </a:extLst>
          </p:cNvPr>
          <p:cNvSpPr/>
          <p:nvPr/>
        </p:nvSpPr>
        <p:spPr>
          <a:xfrm>
            <a:off x="4025712" y="199904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28E26700-22DE-1D5E-A100-FFCB22BB0910}"/>
              </a:ext>
            </a:extLst>
          </p:cNvPr>
          <p:cNvSpPr txBox="1"/>
          <p:nvPr/>
        </p:nvSpPr>
        <p:spPr>
          <a:xfrm>
            <a:off x="4233637" y="2024599"/>
            <a:ext cx="646331" cy="369332"/>
          </a:xfrm>
          <a:prstGeom prst="rect">
            <a:avLst/>
          </a:prstGeom>
          <a:noFill/>
        </p:spPr>
        <p:txBody>
          <a:bodyPr wrap="none" rtlCol="0">
            <a:spAutoFit/>
          </a:bodyPr>
          <a:lstStyle/>
          <a:p>
            <a:r>
              <a:rPr lang="ja-JP" altLang="en-US" dirty="0">
                <a:solidFill>
                  <a:schemeClr val="bg1"/>
                </a:solidFill>
              </a:rPr>
              <a:t>更新</a:t>
            </a:r>
            <a:endParaRPr kumimoji="1" lang="ja-JP" altLang="en-US" dirty="0">
              <a:solidFill>
                <a:schemeClr val="bg1"/>
              </a:solidFill>
            </a:endParaRPr>
          </a:p>
        </p:txBody>
      </p:sp>
      <p:sp>
        <p:nvSpPr>
          <p:cNvPr id="16" name="テキスト ボックス 15">
            <a:extLst>
              <a:ext uri="{FF2B5EF4-FFF2-40B4-BE49-F238E27FC236}">
                <a16:creationId xmlns:a16="http://schemas.microsoft.com/office/drawing/2014/main" id="{57A0C70D-8607-4DD2-B2C0-EDC97D86100B}"/>
              </a:ext>
            </a:extLst>
          </p:cNvPr>
          <p:cNvSpPr txBox="1"/>
          <p:nvPr/>
        </p:nvSpPr>
        <p:spPr>
          <a:xfrm>
            <a:off x="5921284" y="2013351"/>
            <a:ext cx="646331" cy="369332"/>
          </a:xfrm>
          <a:prstGeom prst="rect">
            <a:avLst/>
          </a:prstGeom>
          <a:noFill/>
        </p:spPr>
        <p:txBody>
          <a:bodyPr wrap="none" rtlCol="0">
            <a:spAutoFit/>
          </a:bodyPr>
          <a:lstStyle/>
          <a:p>
            <a:r>
              <a:rPr kumimoji="1" lang="ja-JP" altLang="en-US" dirty="0">
                <a:solidFill>
                  <a:schemeClr val="bg1"/>
                </a:solidFill>
              </a:rPr>
              <a:t>戻る</a:t>
            </a:r>
          </a:p>
        </p:txBody>
      </p:sp>
      <p:grpSp>
        <p:nvGrpSpPr>
          <p:cNvPr id="28" name="グループ化 27">
            <a:extLst>
              <a:ext uri="{FF2B5EF4-FFF2-40B4-BE49-F238E27FC236}">
                <a16:creationId xmlns:a16="http://schemas.microsoft.com/office/drawing/2014/main" id="{16DC09A0-A449-BF93-3AAA-1EE51079F54C}"/>
              </a:ext>
            </a:extLst>
          </p:cNvPr>
          <p:cNvGrpSpPr/>
          <p:nvPr/>
        </p:nvGrpSpPr>
        <p:grpSpPr>
          <a:xfrm>
            <a:off x="6689348" y="4155585"/>
            <a:ext cx="456186" cy="338815"/>
            <a:chOff x="8329219" y="1911229"/>
            <a:chExt cx="492606" cy="377633"/>
          </a:xfrm>
        </p:grpSpPr>
        <p:sp>
          <p:nvSpPr>
            <p:cNvPr id="2" name="正方形/長方形 1">
              <a:extLst>
                <a:ext uri="{FF2B5EF4-FFF2-40B4-BE49-F238E27FC236}">
                  <a16:creationId xmlns:a16="http://schemas.microsoft.com/office/drawing/2014/main" id="{83FF5ED2-4CC1-CB5B-4E48-8C759DAB9BC6}"/>
                </a:ext>
              </a:extLst>
            </p:cNvPr>
            <p:cNvSpPr/>
            <p:nvPr/>
          </p:nvSpPr>
          <p:spPr>
            <a:xfrm rot="2806521">
              <a:off x="8524781" y="1772135"/>
              <a:ext cx="157950" cy="43613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二等辺三角形 3">
              <a:extLst>
                <a:ext uri="{FF2B5EF4-FFF2-40B4-BE49-F238E27FC236}">
                  <a16:creationId xmlns:a16="http://schemas.microsoft.com/office/drawing/2014/main" id="{2DD78777-EA91-FB47-99BD-5634EF19436A}"/>
                </a:ext>
              </a:extLst>
            </p:cNvPr>
            <p:cNvSpPr/>
            <p:nvPr/>
          </p:nvSpPr>
          <p:spPr>
            <a:xfrm rot="13936911">
              <a:off x="8299002" y="2135548"/>
              <a:ext cx="183531" cy="123098"/>
            </a:xfrm>
            <a:prstGeom prst="triangle">
              <a:avLst>
                <a:gd name="adj" fmla="val 46154"/>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9" name="グループ化 28">
            <a:extLst>
              <a:ext uri="{FF2B5EF4-FFF2-40B4-BE49-F238E27FC236}">
                <a16:creationId xmlns:a16="http://schemas.microsoft.com/office/drawing/2014/main" id="{A4965779-9AC0-96CC-AAF3-3EC98FD059C4}"/>
              </a:ext>
            </a:extLst>
          </p:cNvPr>
          <p:cNvGrpSpPr/>
          <p:nvPr/>
        </p:nvGrpSpPr>
        <p:grpSpPr>
          <a:xfrm>
            <a:off x="6704587" y="3692947"/>
            <a:ext cx="456186" cy="338815"/>
            <a:chOff x="8329219" y="1911229"/>
            <a:chExt cx="492606" cy="377633"/>
          </a:xfrm>
        </p:grpSpPr>
        <p:sp>
          <p:nvSpPr>
            <p:cNvPr id="30" name="正方形/長方形 29">
              <a:extLst>
                <a:ext uri="{FF2B5EF4-FFF2-40B4-BE49-F238E27FC236}">
                  <a16:creationId xmlns:a16="http://schemas.microsoft.com/office/drawing/2014/main" id="{CBD849C4-6FAA-01B8-401C-49F0D74C4AA2}"/>
                </a:ext>
              </a:extLst>
            </p:cNvPr>
            <p:cNvSpPr/>
            <p:nvPr/>
          </p:nvSpPr>
          <p:spPr>
            <a:xfrm rot="2806521">
              <a:off x="8524781" y="1772135"/>
              <a:ext cx="157950" cy="43613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二等辺三角形 30">
              <a:extLst>
                <a:ext uri="{FF2B5EF4-FFF2-40B4-BE49-F238E27FC236}">
                  <a16:creationId xmlns:a16="http://schemas.microsoft.com/office/drawing/2014/main" id="{6714EA31-8366-1957-4CC8-5781192BB4BC}"/>
                </a:ext>
              </a:extLst>
            </p:cNvPr>
            <p:cNvSpPr/>
            <p:nvPr/>
          </p:nvSpPr>
          <p:spPr>
            <a:xfrm rot="13936911">
              <a:off x="8299002" y="2135548"/>
              <a:ext cx="183531" cy="123098"/>
            </a:xfrm>
            <a:prstGeom prst="triangle">
              <a:avLst>
                <a:gd name="adj" fmla="val 46154"/>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2" name="グループ化 31">
            <a:extLst>
              <a:ext uri="{FF2B5EF4-FFF2-40B4-BE49-F238E27FC236}">
                <a16:creationId xmlns:a16="http://schemas.microsoft.com/office/drawing/2014/main" id="{FAE6E9BD-5268-33BD-4E21-C596A597CE12}"/>
              </a:ext>
            </a:extLst>
          </p:cNvPr>
          <p:cNvGrpSpPr/>
          <p:nvPr/>
        </p:nvGrpSpPr>
        <p:grpSpPr>
          <a:xfrm>
            <a:off x="6679674" y="3156588"/>
            <a:ext cx="456186" cy="338815"/>
            <a:chOff x="8329219" y="1911229"/>
            <a:chExt cx="492606" cy="377633"/>
          </a:xfrm>
        </p:grpSpPr>
        <p:sp>
          <p:nvSpPr>
            <p:cNvPr id="33" name="正方形/長方形 32">
              <a:extLst>
                <a:ext uri="{FF2B5EF4-FFF2-40B4-BE49-F238E27FC236}">
                  <a16:creationId xmlns:a16="http://schemas.microsoft.com/office/drawing/2014/main" id="{2569EE50-8E84-2C36-A10F-F92D57D90994}"/>
                </a:ext>
              </a:extLst>
            </p:cNvPr>
            <p:cNvSpPr/>
            <p:nvPr/>
          </p:nvSpPr>
          <p:spPr>
            <a:xfrm rot="2806521">
              <a:off x="8524781" y="1772135"/>
              <a:ext cx="157950" cy="43613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二等辺三角形 33">
              <a:extLst>
                <a:ext uri="{FF2B5EF4-FFF2-40B4-BE49-F238E27FC236}">
                  <a16:creationId xmlns:a16="http://schemas.microsoft.com/office/drawing/2014/main" id="{E9765A87-003F-F2FA-F698-189A30B7CB1C}"/>
                </a:ext>
              </a:extLst>
            </p:cNvPr>
            <p:cNvSpPr/>
            <p:nvPr/>
          </p:nvSpPr>
          <p:spPr>
            <a:xfrm rot="13936911">
              <a:off x="8299002" y="2135548"/>
              <a:ext cx="183531" cy="123098"/>
            </a:xfrm>
            <a:prstGeom prst="triangle">
              <a:avLst>
                <a:gd name="adj" fmla="val 46154"/>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5" name="グループ化 34">
            <a:extLst>
              <a:ext uri="{FF2B5EF4-FFF2-40B4-BE49-F238E27FC236}">
                <a16:creationId xmlns:a16="http://schemas.microsoft.com/office/drawing/2014/main" id="{EE6369ED-E9BF-60F4-D9D8-00E42AAC50EA}"/>
              </a:ext>
            </a:extLst>
          </p:cNvPr>
          <p:cNvGrpSpPr/>
          <p:nvPr/>
        </p:nvGrpSpPr>
        <p:grpSpPr>
          <a:xfrm>
            <a:off x="6679674" y="2672201"/>
            <a:ext cx="456186" cy="338815"/>
            <a:chOff x="8329219" y="1911229"/>
            <a:chExt cx="492606" cy="377633"/>
          </a:xfrm>
        </p:grpSpPr>
        <p:sp>
          <p:nvSpPr>
            <p:cNvPr id="36" name="正方形/長方形 35">
              <a:extLst>
                <a:ext uri="{FF2B5EF4-FFF2-40B4-BE49-F238E27FC236}">
                  <a16:creationId xmlns:a16="http://schemas.microsoft.com/office/drawing/2014/main" id="{CF6D7ACA-5C50-3492-6A7B-A583BB41A5CC}"/>
                </a:ext>
              </a:extLst>
            </p:cNvPr>
            <p:cNvSpPr/>
            <p:nvPr/>
          </p:nvSpPr>
          <p:spPr>
            <a:xfrm rot="2806521">
              <a:off x="8524781" y="1772135"/>
              <a:ext cx="157950" cy="43613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4B12E378-F1DB-0ADE-8CC3-8BC0CCF7A53D}"/>
                </a:ext>
              </a:extLst>
            </p:cNvPr>
            <p:cNvSpPr/>
            <p:nvPr/>
          </p:nvSpPr>
          <p:spPr>
            <a:xfrm rot="13936911">
              <a:off x="8299002" y="2135548"/>
              <a:ext cx="183531" cy="123098"/>
            </a:xfrm>
            <a:prstGeom prst="triangle">
              <a:avLst>
                <a:gd name="adj" fmla="val 46154"/>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8" name="テキスト ボックス 37">
            <a:extLst>
              <a:ext uri="{FF2B5EF4-FFF2-40B4-BE49-F238E27FC236}">
                <a16:creationId xmlns:a16="http://schemas.microsoft.com/office/drawing/2014/main" id="{7D5E780B-A450-DF9C-A097-805AE27C89EF}"/>
              </a:ext>
            </a:extLst>
          </p:cNvPr>
          <p:cNvSpPr txBox="1"/>
          <p:nvPr/>
        </p:nvSpPr>
        <p:spPr>
          <a:xfrm>
            <a:off x="3871972" y="4552011"/>
            <a:ext cx="3257623" cy="523220"/>
          </a:xfrm>
          <a:prstGeom prst="rect">
            <a:avLst/>
          </a:prstGeom>
          <a:noFill/>
        </p:spPr>
        <p:txBody>
          <a:bodyPr wrap="none" rtlCol="0">
            <a:spAutoFit/>
          </a:bodyPr>
          <a:lstStyle/>
          <a:p>
            <a:r>
              <a:rPr lang="ja-JP" altLang="en-US" sz="2800" dirty="0"/>
              <a:t>ー　　　</a:t>
            </a:r>
            <a:r>
              <a:rPr lang="en-US" altLang="ja-JP" sz="2800" dirty="0"/>
              <a:t>3</a:t>
            </a:r>
            <a:r>
              <a:rPr kumimoji="1" lang="ja-JP" altLang="en-US" sz="2800" dirty="0"/>
              <a:t>　</a:t>
            </a:r>
            <a:r>
              <a:rPr lang="ja-JP" altLang="en-US" sz="2800" dirty="0"/>
              <a:t>　　＋</a:t>
            </a:r>
            <a:endParaRPr kumimoji="1" lang="ja-JP" altLang="en-US" sz="2800" dirty="0"/>
          </a:p>
        </p:txBody>
      </p:sp>
      <p:sp>
        <p:nvSpPr>
          <p:cNvPr id="39" name="テキスト ボックス 38">
            <a:extLst>
              <a:ext uri="{FF2B5EF4-FFF2-40B4-BE49-F238E27FC236}">
                <a16:creationId xmlns:a16="http://schemas.microsoft.com/office/drawing/2014/main" id="{32826743-B1BE-A4BB-F1D7-6E8A4AFEDD6C}"/>
              </a:ext>
            </a:extLst>
          </p:cNvPr>
          <p:cNvSpPr txBox="1"/>
          <p:nvPr/>
        </p:nvSpPr>
        <p:spPr>
          <a:xfrm>
            <a:off x="3871970" y="5574090"/>
            <a:ext cx="325762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ー　　　</a:t>
            </a:r>
            <a:r>
              <a:rPr kumimoji="1" lang="en-US" altLang="ja-JP"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3</a:t>
            </a: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p>
        </p:txBody>
      </p:sp>
      <p:sp>
        <p:nvSpPr>
          <p:cNvPr id="40" name="テキスト ボックス 39">
            <a:extLst>
              <a:ext uri="{FF2B5EF4-FFF2-40B4-BE49-F238E27FC236}">
                <a16:creationId xmlns:a16="http://schemas.microsoft.com/office/drawing/2014/main" id="{DCF06FAA-08DE-784A-8E61-C17A6DFAAC32}"/>
              </a:ext>
            </a:extLst>
          </p:cNvPr>
          <p:cNvSpPr txBox="1"/>
          <p:nvPr/>
        </p:nvSpPr>
        <p:spPr>
          <a:xfrm>
            <a:off x="3871969" y="6057773"/>
            <a:ext cx="325762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ー　　　</a:t>
            </a:r>
            <a:r>
              <a:rPr kumimoji="1" lang="en-US" altLang="ja-JP"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3</a:t>
            </a: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p>
        </p:txBody>
      </p:sp>
      <p:sp>
        <p:nvSpPr>
          <p:cNvPr id="41" name="テキスト ボックス 40">
            <a:extLst>
              <a:ext uri="{FF2B5EF4-FFF2-40B4-BE49-F238E27FC236}">
                <a16:creationId xmlns:a16="http://schemas.microsoft.com/office/drawing/2014/main" id="{73EB0332-80C6-342D-5ADA-2B289EA6A318}"/>
              </a:ext>
            </a:extLst>
          </p:cNvPr>
          <p:cNvSpPr txBox="1"/>
          <p:nvPr/>
        </p:nvSpPr>
        <p:spPr>
          <a:xfrm>
            <a:off x="3871971" y="5088370"/>
            <a:ext cx="325762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ー　　　</a:t>
            </a:r>
            <a:r>
              <a:rPr lang="en-US" altLang="ja-JP" sz="2800" dirty="0">
                <a:solidFill>
                  <a:prstClr val="black"/>
                </a:solidFill>
                <a:latin typeface="游ゴシック" panose="02110004020202020204"/>
                <a:ea typeface="游ゴシック" panose="020B0400000000000000" pitchFamily="50" charset="-128"/>
              </a:rPr>
              <a:t>3</a:t>
            </a:r>
            <a:r>
              <a:rPr kumimoji="1" lang="ja-JP" altLang="en-US"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lang="ja-JP" altLang="en-US" sz="2800" dirty="0">
                <a:solidFill>
                  <a:prstClr val="black"/>
                </a:solidFill>
                <a:latin typeface="游ゴシック" panose="02110004020202020204"/>
                <a:ea typeface="游ゴシック" panose="020B0400000000000000" pitchFamily="50" charset="-128"/>
              </a:rPr>
              <a:t>＋</a:t>
            </a:r>
            <a:endParaRPr kumimoji="1" lang="en-US" altLang="ja-JP" sz="2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p:txBody>
      </p:sp>
      <p:grpSp>
        <p:nvGrpSpPr>
          <p:cNvPr id="9" name="グループ化 8">
            <a:extLst>
              <a:ext uri="{FF2B5EF4-FFF2-40B4-BE49-F238E27FC236}">
                <a16:creationId xmlns:a16="http://schemas.microsoft.com/office/drawing/2014/main" id="{6A3FD21B-4FC6-5D0D-139A-3337BE81AC49}"/>
              </a:ext>
            </a:extLst>
          </p:cNvPr>
          <p:cNvGrpSpPr/>
          <p:nvPr/>
        </p:nvGrpSpPr>
        <p:grpSpPr>
          <a:xfrm>
            <a:off x="5277995" y="1470850"/>
            <a:ext cx="456186" cy="338815"/>
            <a:chOff x="8329219" y="1911229"/>
            <a:chExt cx="492606" cy="377633"/>
          </a:xfrm>
        </p:grpSpPr>
        <p:sp>
          <p:nvSpPr>
            <p:cNvPr id="10" name="正方形/長方形 9">
              <a:extLst>
                <a:ext uri="{FF2B5EF4-FFF2-40B4-BE49-F238E27FC236}">
                  <a16:creationId xmlns:a16="http://schemas.microsoft.com/office/drawing/2014/main" id="{AA71691D-28F4-241F-7C9D-04C5A80D0B80}"/>
                </a:ext>
              </a:extLst>
            </p:cNvPr>
            <p:cNvSpPr/>
            <p:nvPr/>
          </p:nvSpPr>
          <p:spPr>
            <a:xfrm rot="2806521">
              <a:off x="8524781" y="1772135"/>
              <a:ext cx="157950" cy="43613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二等辺三角形 11">
              <a:extLst>
                <a:ext uri="{FF2B5EF4-FFF2-40B4-BE49-F238E27FC236}">
                  <a16:creationId xmlns:a16="http://schemas.microsoft.com/office/drawing/2014/main" id="{0C2A4B28-970F-9A8B-BA2B-1292C1F38DC2}"/>
                </a:ext>
              </a:extLst>
            </p:cNvPr>
            <p:cNvSpPr/>
            <p:nvPr/>
          </p:nvSpPr>
          <p:spPr>
            <a:xfrm rot="13936911">
              <a:off x="8299002" y="2135548"/>
              <a:ext cx="183531" cy="123098"/>
            </a:xfrm>
            <a:prstGeom prst="triangle">
              <a:avLst>
                <a:gd name="adj" fmla="val 46154"/>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 name="グループ化 16">
            <a:extLst>
              <a:ext uri="{FF2B5EF4-FFF2-40B4-BE49-F238E27FC236}">
                <a16:creationId xmlns:a16="http://schemas.microsoft.com/office/drawing/2014/main" id="{8805C9F6-1907-DF85-1E0E-8DD51FA4B81C}"/>
              </a:ext>
            </a:extLst>
          </p:cNvPr>
          <p:cNvGrpSpPr/>
          <p:nvPr/>
        </p:nvGrpSpPr>
        <p:grpSpPr>
          <a:xfrm>
            <a:off x="4944831" y="1067814"/>
            <a:ext cx="456186" cy="338815"/>
            <a:chOff x="8329219" y="1911229"/>
            <a:chExt cx="492606" cy="377633"/>
          </a:xfrm>
        </p:grpSpPr>
        <p:sp>
          <p:nvSpPr>
            <p:cNvPr id="18" name="正方形/長方形 17">
              <a:extLst>
                <a:ext uri="{FF2B5EF4-FFF2-40B4-BE49-F238E27FC236}">
                  <a16:creationId xmlns:a16="http://schemas.microsoft.com/office/drawing/2014/main" id="{AC761158-FF8B-09D9-C581-CE5A6131A795}"/>
                </a:ext>
              </a:extLst>
            </p:cNvPr>
            <p:cNvSpPr/>
            <p:nvPr/>
          </p:nvSpPr>
          <p:spPr>
            <a:xfrm rot="2806521">
              <a:off x="8524781" y="1772135"/>
              <a:ext cx="157950" cy="43613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二等辺三角形 18">
              <a:extLst>
                <a:ext uri="{FF2B5EF4-FFF2-40B4-BE49-F238E27FC236}">
                  <a16:creationId xmlns:a16="http://schemas.microsoft.com/office/drawing/2014/main" id="{14E04DB4-85AA-01A3-C454-BFC6B01D09C7}"/>
                </a:ext>
              </a:extLst>
            </p:cNvPr>
            <p:cNvSpPr/>
            <p:nvPr/>
          </p:nvSpPr>
          <p:spPr>
            <a:xfrm rot="13936911">
              <a:off x="8299002" y="2135548"/>
              <a:ext cx="183531" cy="123098"/>
            </a:xfrm>
            <a:prstGeom prst="triangle">
              <a:avLst>
                <a:gd name="adj" fmla="val 46154"/>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19367769"/>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AFF41-16A5-6488-B694-8510FA9DDA76}"/>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6BC2B056-FE12-3217-F3AB-558494ABCF1C}"/>
              </a:ext>
            </a:extLst>
          </p:cNvPr>
          <p:cNvSpPr/>
          <p:nvPr/>
        </p:nvSpPr>
        <p:spPr>
          <a:xfrm>
            <a:off x="0" y="925290"/>
            <a:ext cx="12192000"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FFFFFF"/>
              </a:solidFill>
              <a:uFillTx/>
              <a:latin typeface="游ゴシック"/>
              <a:ea typeface="游ゴシック" pitchFamily="50"/>
            </a:endParaRPr>
          </a:p>
        </p:txBody>
      </p:sp>
      <p:sp>
        <p:nvSpPr>
          <p:cNvPr id="4" name="テキスト ボックス 5">
            <a:extLst>
              <a:ext uri="{FF2B5EF4-FFF2-40B4-BE49-F238E27FC236}">
                <a16:creationId xmlns:a16="http://schemas.microsoft.com/office/drawing/2014/main" id="{42238935-8111-22BC-24D7-3A6DD5C9CB0C}"/>
              </a:ext>
            </a:extLst>
          </p:cNvPr>
          <p:cNvSpPr txBox="1"/>
          <p:nvPr/>
        </p:nvSpPr>
        <p:spPr>
          <a:xfrm>
            <a:off x="400828" y="1097007"/>
            <a:ext cx="3475927"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3600" b="0" i="0" u="none" strike="noStrike" kern="1200" cap="none" spc="0" baseline="0" dirty="0">
                <a:solidFill>
                  <a:srgbClr val="FFFFFF"/>
                </a:solidFill>
                <a:uFillTx/>
                <a:latin typeface="游ゴシック"/>
                <a:ea typeface="游ゴシック" pitchFamily="50"/>
              </a:rPr>
              <a:t>エンジニア一覧</a:t>
            </a:r>
            <a:endParaRPr lang="en-US" sz="3600" b="0" i="0" u="none" strike="noStrike" kern="1200" cap="none" spc="0" baseline="0" dirty="0">
              <a:solidFill>
                <a:srgbClr val="FFFFFF"/>
              </a:solidFill>
              <a:uFillTx/>
              <a:latin typeface="游ゴシック"/>
              <a:ea typeface="游ゴシック" pitchFamily="50"/>
            </a:endParaRPr>
          </a:p>
        </p:txBody>
      </p:sp>
      <p:sp>
        <p:nvSpPr>
          <p:cNvPr id="6" name="正方形/長方形 6">
            <a:extLst>
              <a:ext uri="{FF2B5EF4-FFF2-40B4-BE49-F238E27FC236}">
                <a16:creationId xmlns:a16="http://schemas.microsoft.com/office/drawing/2014/main" id="{224AF464-AE9E-5168-0654-15236972B348}"/>
              </a:ext>
            </a:extLst>
          </p:cNvPr>
          <p:cNvSpPr/>
          <p:nvPr/>
        </p:nvSpPr>
        <p:spPr>
          <a:xfrm>
            <a:off x="9428622" y="1134209"/>
            <a:ext cx="2573321" cy="507204"/>
          </a:xfrm>
          <a:prstGeom prst="rect">
            <a:avLst/>
          </a:prstGeom>
          <a:solidFill>
            <a:srgbClr val="D9D9D9"/>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87ABB627-0B46-E63C-97B6-835293C71D30}"/>
              </a:ext>
            </a:extLst>
          </p:cNvPr>
          <p:cNvSpPr txBox="1"/>
          <p:nvPr/>
        </p:nvSpPr>
        <p:spPr>
          <a:xfrm>
            <a:off x="304796" y="195946"/>
            <a:ext cx="5048177"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en-US" sz="3600" dirty="0">
                <a:solidFill>
                  <a:srgbClr val="000000"/>
                </a:solidFill>
                <a:latin typeface="游ゴシック"/>
                <a:ea typeface="游ゴシック" pitchFamily="50"/>
              </a:rPr>
              <a:t>4</a:t>
            </a:r>
            <a:r>
              <a:rPr lang="en-US" altLang="ja-JP" sz="3600" b="0" i="0" u="none" strike="noStrike" kern="1200" cap="none" spc="0" baseline="0" dirty="0">
                <a:solidFill>
                  <a:srgbClr val="000000"/>
                </a:solidFill>
                <a:uFillTx/>
                <a:latin typeface="游ゴシック"/>
                <a:ea typeface="游ゴシック" pitchFamily="50"/>
              </a:rPr>
              <a:t>-2</a:t>
            </a:r>
            <a:r>
              <a:rPr lang="ja-JP" sz="3600" b="0" i="0" u="none" strike="noStrike" kern="1200" cap="none" spc="0" baseline="0" dirty="0">
                <a:solidFill>
                  <a:srgbClr val="000000"/>
                </a:solidFill>
                <a:uFillTx/>
                <a:latin typeface="游ゴシック"/>
                <a:ea typeface="游ゴシック" pitchFamily="50"/>
              </a:rPr>
              <a:t>　</a:t>
            </a:r>
            <a:r>
              <a:rPr lang="ja-JP" altLang="en-US" sz="3600" b="0" i="0" u="none" strike="noStrike" kern="1200" cap="none" spc="0" baseline="0" dirty="0">
                <a:solidFill>
                  <a:srgbClr val="000000"/>
                </a:solidFill>
                <a:uFillTx/>
                <a:latin typeface="游ゴシック"/>
                <a:ea typeface="游ゴシック" pitchFamily="50"/>
              </a:rPr>
              <a:t>情報一括追加</a:t>
            </a:r>
            <a:endParaRPr lang="en-US" sz="3600" b="0" i="0" u="none" strike="noStrike" kern="1200" cap="none" spc="0" baseline="0" dirty="0">
              <a:solidFill>
                <a:srgbClr val="000000"/>
              </a:solidFill>
              <a:uFillTx/>
              <a:latin typeface="游ゴシック"/>
              <a:ea typeface="游ゴシック" pitchFamily="50"/>
            </a:endParaRPr>
          </a:p>
        </p:txBody>
      </p:sp>
      <p:sp>
        <p:nvSpPr>
          <p:cNvPr id="20" name="円: 塗りつぶしなし 19">
            <a:extLst>
              <a:ext uri="{FF2B5EF4-FFF2-40B4-BE49-F238E27FC236}">
                <a16:creationId xmlns:a16="http://schemas.microsoft.com/office/drawing/2014/main" id="{2E690C91-7506-D293-11B4-38D65A55270F}"/>
              </a:ext>
            </a:extLst>
          </p:cNvPr>
          <p:cNvSpPr/>
          <p:nvPr/>
        </p:nvSpPr>
        <p:spPr>
          <a:xfrm>
            <a:off x="11457974" y="1194833"/>
            <a:ext cx="283642" cy="266941"/>
          </a:xfrm>
          <a:prstGeom prst="donu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正方形/長方形 23">
            <a:extLst>
              <a:ext uri="{FF2B5EF4-FFF2-40B4-BE49-F238E27FC236}">
                <a16:creationId xmlns:a16="http://schemas.microsoft.com/office/drawing/2014/main" id="{DFA9B734-5A8F-9AC5-E798-C09AA8241EA9}"/>
              </a:ext>
            </a:extLst>
          </p:cNvPr>
          <p:cNvSpPr/>
          <p:nvPr/>
        </p:nvSpPr>
        <p:spPr>
          <a:xfrm rot="7871681">
            <a:off x="11742067" y="1340078"/>
            <a:ext cx="45719" cy="274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BBBB1AA9-B0EF-031E-B4DB-651A4DA7E006}"/>
              </a:ext>
            </a:extLst>
          </p:cNvPr>
          <p:cNvSpPr/>
          <p:nvPr/>
        </p:nvSpPr>
        <p:spPr>
          <a:xfrm>
            <a:off x="5228418"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4A266CB9-3945-8DBB-E647-05DAEF7C96E4}"/>
              </a:ext>
            </a:extLst>
          </p:cNvPr>
          <p:cNvSpPr/>
          <p:nvPr/>
        </p:nvSpPr>
        <p:spPr>
          <a:xfrm>
            <a:off x="7132199" y="1894627"/>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544EBD32-DB89-BCE3-5AA3-404366915BF3}"/>
              </a:ext>
            </a:extLst>
          </p:cNvPr>
          <p:cNvSpPr/>
          <p:nvPr/>
        </p:nvSpPr>
        <p:spPr>
          <a:xfrm>
            <a:off x="9035980"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1B77DBD6-0511-343A-8012-5AC1DF283AB6}"/>
              </a:ext>
            </a:extLst>
          </p:cNvPr>
          <p:cNvSpPr/>
          <p:nvPr/>
        </p:nvSpPr>
        <p:spPr>
          <a:xfrm>
            <a:off x="10939761"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0" name="表 29">
            <a:extLst>
              <a:ext uri="{FF2B5EF4-FFF2-40B4-BE49-F238E27FC236}">
                <a16:creationId xmlns:a16="http://schemas.microsoft.com/office/drawing/2014/main" id="{7175EEAE-23ED-D6B9-B079-380FE7D752F4}"/>
              </a:ext>
            </a:extLst>
          </p:cNvPr>
          <p:cNvGraphicFramePr>
            <a:graphicFrameLocks noGrp="1"/>
          </p:cNvGraphicFramePr>
          <p:nvPr/>
        </p:nvGraphicFramePr>
        <p:xfrm>
          <a:off x="0" y="2579700"/>
          <a:ext cx="12192000" cy="4383596"/>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843818313"/>
                    </a:ext>
                  </a:extLst>
                </a:gridCol>
                <a:gridCol w="674914">
                  <a:extLst>
                    <a:ext uri="{9D8B030D-6E8A-4147-A177-3AD203B41FA5}">
                      <a16:colId xmlns:a16="http://schemas.microsoft.com/office/drawing/2014/main" val="2593793615"/>
                    </a:ext>
                  </a:extLst>
                </a:gridCol>
                <a:gridCol w="990600">
                  <a:extLst>
                    <a:ext uri="{9D8B030D-6E8A-4147-A177-3AD203B41FA5}">
                      <a16:colId xmlns:a16="http://schemas.microsoft.com/office/drawing/2014/main" val="3819324818"/>
                    </a:ext>
                  </a:extLst>
                </a:gridCol>
                <a:gridCol w="903515">
                  <a:extLst>
                    <a:ext uri="{9D8B030D-6E8A-4147-A177-3AD203B41FA5}">
                      <a16:colId xmlns:a16="http://schemas.microsoft.com/office/drawing/2014/main" val="582941768"/>
                    </a:ext>
                  </a:extLst>
                </a:gridCol>
                <a:gridCol w="1099457">
                  <a:extLst>
                    <a:ext uri="{9D8B030D-6E8A-4147-A177-3AD203B41FA5}">
                      <a16:colId xmlns:a16="http://schemas.microsoft.com/office/drawing/2014/main" val="326648018"/>
                    </a:ext>
                  </a:extLst>
                </a:gridCol>
                <a:gridCol w="642257">
                  <a:extLst>
                    <a:ext uri="{9D8B030D-6E8A-4147-A177-3AD203B41FA5}">
                      <a16:colId xmlns:a16="http://schemas.microsoft.com/office/drawing/2014/main" val="3442362932"/>
                    </a:ext>
                  </a:extLst>
                </a:gridCol>
                <a:gridCol w="707571">
                  <a:extLst>
                    <a:ext uri="{9D8B030D-6E8A-4147-A177-3AD203B41FA5}">
                      <a16:colId xmlns:a16="http://schemas.microsoft.com/office/drawing/2014/main" val="1894457544"/>
                    </a:ext>
                  </a:extLst>
                </a:gridCol>
                <a:gridCol w="1208315">
                  <a:extLst>
                    <a:ext uri="{9D8B030D-6E8A-4147-A177-3AD203B41FA5}">
                      <a16:colId xmlns:a16="http://schemas.microsoft.com/office/drawing/2014/main" val="3378677225"/>
                    </a:ext>
                  </a:extLst>
                </a:gridCol>
                <a:gridCol w="838200">
                  <a:extLst>
                    <a:ext uri="{9D8B030D-6E8A-4147-A177-3AD203B41FA5}">
                      <a16:colId xmlns:a16="http://schemas.microsoft.com/office/drawing/2014/main" val="2724634915"/>
                    </a:ext>
                  </a:extLst>
                </a:gridCol>
                <a:gridCol w="1012371">
                  <a:extLst>
                    <a:ext uri="{9D8B030D-6E8A-4147-A177-3AD203B41FA5}">
                      <a16:colId xmlns:a16="http://schemas.microsoft.com/office/drawing/2014/main" val="2886769858"/>
                    </a:ext>
                  </a:extLst>
                </a:gridCol>
                <a:gridCol w="1883229">
                  <a:extLst>
                    <a:ext uri="{9D8B030D-6E8A-4147-A177-3AD203B41FA5}">
                      <a16:colId xmlns:a16="http://schemas.microsoft.com/office/drawing/2014/main" val="638158319"/>
                    </a:ext>
                  </a:extLst>
                </a:gridCol>
                <a:gridCol w="1317171">
                  <a:extLst>
                    <a:ext uri="{9D8B030D-6E8A-4147-A177-3AD203B41FA5}">
                      <a16:colId xmlns:a16="http://schemas.microsoft.com/office/drawing/2014/main" val="3725689978"/>
                    </a:ext>
                  </a:extLst>
                </a:gridCol>
              </a:tblGrid>
              <a:tr h="534788">
                <a:tc>
                  <a:txBody>
                    <a:bodyPr/>
                    <a:lstStyle/>
                    <a:p>
                      <a:pPr algn="ctr"/>
                      <a:r>
                        <a:rPr kumimoji="1" lang="ja-JP" altLang="en-US" sz="1200" dirty="0"/>
                        <a:t>氏名</a:t>
                      </a:r>
                    </a:p>
                  </a:txBody>
                  <a:tcPr/>
                </a:tc>
                <a:tc>
                  <a:txBody>
                    <a:bodyPr/>
                    <a:lstStyle/>
                    <a:p>
                      <a:pPr algn="ctr"/>
                      <a:r>
                        <a:rPr kumimoji="1" lang="ja-JP" altLang="en-US" sz="1200" dirty="0"/>
                        <a:t>社員</a:t>
                      </a:r>
                      <a:r>
                        <a:rPr kumimoji="1" lang="en-US" altLang="ja-JP" sz="1200" dirty="0"/>
                        <a:t>ID</a:t>
                      </a:r>
                      <a:endParaRPr kumimoji="1" lang="ja-JP" altLang="en-US" sz="1200" dirty="0"/>
                    </a:p>
                  </a:txBody>
                  <a:tcPr/>
                </a:tc>
                <a:tc>
                  <a:txBody>
                    <a:bodyPr/>
                    <a:lstStyle/>
                    <a:p>
                      <a:pPr algn="ctr"/>
                      <a:r>
                        <a:rPr kumimoji="1" lang="ja-JP" altLang="en-US" sz="1200" dirty="0"/>
                        <a:t>生年月日</a:t>
                      </a:r>
                    </a:p>
                  </a:txBody>
                  <a:tcPr/>
                </a:tc>
                <a:tc>
                  <a:txBody>
                    <a:bodyPr/>
                    <a:lstStyle/>
                    <a:p>
                      <a:pPr algn="ctr"/>
                      <a:r>
                        <a:rPr kumimoji="1" lang="ja-JP" altLang="en-US" sz="1200" dirty="0"/>
                        <a:t>入社年月</a:t>
                      </a:r>
                    </a:p>
                  </a:txBody>
                  <a:tcPr/>
                </a:tc>
                <a:tc>
                  <a:txBody>
                    <a:bodyPr/>
                    <a:lstStyle/>
                    <a:p>
                      <a:pPr algn="ctr"/>
                      <a:r>
                        <a:rPr kumimoji="1" lang="ja-JP" altLang="en-US" sz="1200" dirty="0"/>
                        <a:t>エンジニア歴</a:t>
                      </a:r>
                    </a:p>
                  </a:txBody>
                  <a:tcPr/>
                </a:tc>
                <a:tc>
                  <a:txBody>
                    <a:bodyPr/>
                    <a:lstStyle/>
                    <a:p>
                      <a:pPr algn="ctr"/>
                      <a:r>
                        <a:rPr kumimoji="1" lang="ja-JP" altLang="en-US" sz="1200" dirty="0"/>
                        <a:t>言語</a:t>
                      </a:r>
                    </a:p>
                  </a:txBody>
                  <a:tcPr/>
                </a:tc>
                <a:tc>
                  <a:txBody>
                    <a:bodyPr/>
                    <a:lstStyle/>
                    <a:p>
                      <a:pPr algn="ctr"/>
                      <a:r>
                        <a:rPr kumimoji="1" lang="ja-JP" altLang="en-US" sz="1200" dirty="0"/>
                        <a:t>経歴</a:t>
                      </a:r>
                    </a:p>
                  </a:txBody>
                  <a:tcPr/>
                </a:tc>
                <a:tc>
                  <a:txBody>
                    <a:bodyPr/>
                    <a:lstStyle/>
                    <a:p>
                      <a:pPr algn="ctr"/>
                      <a:r>
                        <a:rPr kumimoji="1" lang="ja-JP" altLang="en-US" sz="1200" dirty="0"/>
                        <a:t>研修受講歴</a:t>
                      </a:r>
                    </a:p>
                  </a:txBody>
                  <a:tcPr/>
                </a:tc>
                <a:tc>
                  <a:txBody>
                    <a:bodyPr/>
                    <a:lstStyle/>
                    <a:p>
                      <a:pPr algn="ctr"/>
                      <a:r>
                        <a:rPr kumimoji="1" lang="ja-JP" altLang="en-US" sz="1200" dirty="0"/>
                        <a:t>技術力</a:t>
                      </a:r>
                    </a:p>
                  </a:txBody>
                  <a:tcPr/>
                </a:tc>
                <a:tc>
                  <a:txBody>
                    <a:bodyPr/>
                    <a:lstStyle/>
                    <a:p>
                      <a:pPr algn="ctr"/>
                      <a:r>
                        <a:rPr kumimoji="1" lang="ja-JP" altLang="en-US" sz="1200" dirty="0"/>
                        <a:t>受講態度</a:t>
                      </a:r>
                    </a:p>
                  </a:txBody>
                  <a:tcPr/>
                </a:tc>
                <a:tc>
                  <a:txBody>
                    <a:bodyPr/>
                    <a:lstStyle/>
                    <a:p>
                      <a:pPr algn="ctr"/>
                      <a:r>
                        <a:rPr kumimoji="1" lang="ja-JP" altLang="en-US" sz="1200" dirty="0"/>
                        <a:t>コミュニケーション能力</a:t>
                      </a:r>
                    </a:p>
                  </a:txBody>
                  <a:tcPr/>
                </a:tc>
                <a:tc>
                  <a:txBody>
                    <a:bodyPr/>
                    <a:lstStyle/>
                    <a:p>
                      <a:pPr algn="ctr"/>
                      <a:r>
                        <a:rPr kumimoji="1" lang="ja-JP" altLang="en-US" sz="1200" dirty="0"/>
                        <a:t>リーダーシップ</a:t>
                      </a:r>
                    </a:p>
                  </a:txBody>
                  <a:tcPr/>
                </a:tc>
                <a:extLst>
                  <a:ext uri="{0D108BD9-81ED-4DB2-BD59-A6C34878D82A}">
                    <a16:rowId xmlns:a16="http://schemas.microsoft.com/office/drawing/2014/main" val="3031805351"/>
                  </a:ext>
                </a:extLst>
              </a:tr>
              <a:tr h="534788">
                <a:tc>
                  <a:txBody>
                    <a:bodyPr/>
                    <a:lstStyle/>
                    <a:p>
                      <a:r>
                        <a:rPr kumimoji="1" lang="ja-JP" altLang="en-US" sz="1200" dirty="0"/>
                        <a:t>山田 太郎</a:t>
                      </a:r>
                    </a:p>
                  </a:txBody>
                  <a:tcPr/>
                </a:tc>
                <a:tc>
                  <a:txBody>
                    <a:bodyPr/>
                    <a:lstStyle/>
                    <a:p>
                      <a:r>
                        <a:rPr kumimoji="1" lang="en-US" altLang="ja-JP" sz="1200" dirty="0"/>
                        <a:t>00001</a:t>
                      </a:r>
                    </a:p>
                  </a:txBody>
                  <a:tcPr/>
                </a:tc>
                <a:tc>
                  <a:txBody>
                    <a:bodyPr/>
                    <a:lstStyle/>
                    <a:p>
                      <a:r>
                        <a:rPr kumimoji="1" lang="en-US" altLang="ja-JP" sz="1200" dirty="0"/>
                        <a:t>1989/2/14</a:t>
                      </a:r>
                      <a:endParaRPr kumimoji="1" lang="ja-JP" altLang="en-US" sz="1200" dirty="0"/>
                    </a:p>
                  </a:txBody>
                  <a:tcPr/>
                </a:tc>
                <a:tc>
                  <a:txBody>
                    <a:bodyPr/>
                    <a:lstStyle/>
                    <a:p>
                      <a:r>
                        <a:rPr kumimoji="1" lang="en-US" altLang="ja-JP" sz="1200" dirty="0"/>
                        <a:t>2017/4</a:t>
                      </a:r>
                      <a:endParaRPr kumimoji="1" lang="ja-JP" altLang="en-US" sz="1200" dirty="0"/>
                    </a:p>
                  </a:txBody>
                  <a:tcPr/>
                </a:tc>
                <a:tc>
                  <a:txBody>
                    <a:bodyPr/>
                    <a:lstStyle/>
                    <a:p>
                      <a:r>
                        <a:rPr kumimoji="1" lang="en-US" altLang="ja-JP" sz="1200" dirty="0"/>
                        <a:t>13</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1181288494"/>
                  </a:ext>
                </a:extLst>
              </a:tr>
              <a:tr h="534788">
                <a:tc>
                  <a:txBody>
                    <a:bodyPr/>
                    <a:lstStyle/>
                    <a:p>
                      <a:r>
                        <a:rPr kumimoji="1" lang="ja-JP" altLang="en-US" sz="1200" dirty="0"/>
                        <a:t>田中 花子</a:t>
                      </a:r>
                    </a:p>
                  </a:txBody>
                  <a:tcPr/>
                </a:tc>
                <a:tc>
                  <a:txBody>
                    <a:bodyPr/>
                    <a:lstStyle/>
                    <a:p>
                      <a:r>
                        <a:rPr kumimoji="1" lang="en-US" altLang="ja-JP" sz="1200" dirty="0"/>
                        <a:t>00002</a:t>
                      </a:r>
                      <a:endParaRPr kumimoji="1" lang="ja-JP" altLang="en-US" sz="1200" dirty="0"/>
                    </a:p>
                  </a:txBody>
                  <a:tcPr/>
                </a:tc>
                <a:tc>
                  <a:txBody>
                    <a:bodyPr/>
                    <a:lstStyle/>
                    <a:p>
                      <a:r>
                        <a:rPr kumimoji="1" lang="en-US" altLang="ja-JP" sz="1200" dirty="0"/>
                        <a:t>1992/1/23</a:t>
                      </a:r>
                      <a:endParaRPr kumimoji="1" lang="ja-JP" altLang="en-US" sz="1200" dirty="0"/>
                    </a:p>
                  </a:txBody>
                  <a:tcPr/>
                </a:tc>
                <a:tc>
                  <a:txBody>
                    <a:bodyPr/>
                    <a:lstStyle/>
                    <a:p>
                      <a:r>
                        <a:rPr kumimoji="1" lang="en-US" altLang="ja-JP" sz="1200" dirty="0"/>
                        <a:t>2017/4</a:t>
                      </a:r>
                      <a:endParaRPr kumimoji="1" lang="ja-JP" altLang="en-US" sz="1200" dirty="0"/>
                    </a:p>
                  </a:txBody>
                  <a:tcPr/>
                </a:tc>
                <a:tc>
                  <a:txBody>
                    <a:bodyPr/>
                    <a:lstStyle/>
                    <a:p>
                      <a:r>
                        <a:rPr kumimoji="1" lang="en-US" altLang="ja-JP" sz="1200" dirty="0"/>
                        <a:t>9</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p>
                    <a:p>
                      <a:endParaRPr kumimoji="1" lang="ja-JP" altLang="en-US" dirty="0"/>
                    </a:p>
                  </a:txBody>
                  <a:tcPr/>
                </a:tc>
                <a:extLst>
                  <a:ext uri="{0D108BD9-81ED-4DB2-BD59-A6C34878D82A}">
                    <a16:rowId xmlns:a16="http://schemas.microsoft.com/office/drawing/2014/main" val="2841193060"/>
                  </a:ext>
                </a:extLst>
              </a:tr>
              <a:tr h="534788">
                <a:tc>
                  <a:txBody>
                    <a:bodyPr/>
                    <a:lstStyle/>
                    <a:p>
                      <a:r>
                        <a:rPr kumimoji="1" lang="ja-JP" altLang="en-US" sz="1200" dirty="0"/>
                        <a:t>佐藤 健</a:t>
                      </a:r>
                    </a:p>
                  </a:txBody>
                  <a:tcPr/>
                </a:tc>
                <a:tc>
                  <a:txBody>
                    <a:bodyPr/>
                    <a:lstStyle/>
                    <a:p>
                      <a:r>
                        <a:rPr kumimoji="1" lang="en-US" altLang="ja-JP" sz="1200" dirty="0"/>
                        <a:t>00003</a:t>
                      </a:r>
                      <a:endParaRPr kumimoji="1" lang="ja-JP" altLang="en-US" sz="1200" dirty="0"/>
                    </a:p>
                  </a:txBody>
                  <a:tcPr/>
                </a:tc>
                <a:tc>
                  <a:txBody>
                    <a:bodyPr/>
                    <a:lstStyle/>
                    <a:p>
                      <a:r>
                        <a:rPr kumimoji="1" lang="en-US" altLang="ja-JP" sz="1200" dirty="0"/>
                        <a:t>1990/12/31</a:t>
                      </a:r>
                      <a:endParaRPr kumimoji="1" lang="ja-JP" altLang="en-US" sz="1200" dirty="0"/>
                    </a:p>
                  </a:txBody>
                  <a:tcPr/>
                </a:tc>
                <a:tc>
                  <a:txBody>
                    <a:bodyPr/>
                    <a:lstStyle/>
                    <a:p>
                      <a:r>
                        <a:rPr kumimoji="1" lang="en-US" altLang="ja-JP" sz="1200" dirty="0"/>
                        <a:t>2017/10</a:t>
                      </a:r>
                      <a:endParaRPr kumimoji="1" lang="ja-JP" altLang="en-US" sz="1200" dirty="0"/>
                    </a:p>
                  </a:txBody>
                  <a:tcPr/>
                </a:tc>
                <a:tc>
                  <a:txBody>
                    <a:bodyPr/>
                    <a:lstStyle/>
                    <a:p>
                      <a:r>
                        <a:rPr kumimoji="1" lang="en-US" altLang="ja-JP" sz="1200" dirty="0"/>
                        <a:t>8</a:t>
                      </a:r>
                      <a:r>
                        <a:rPr kumimoji="1" lang="ja-JP" altLang="en-US" sz="1200" dirty="0"/>
                        <a:t>年</a:t>
                      </a:r>
                      <a:r>
                        <a:rPr kumimoji="1" lang="en-US" altLang="ja-JP" sz="1200" dirty="0"/>
                        <a:t>8</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125601969"/>
                  </a:ext>
                </a:extLst>
              </a:tr>
              <a:tr h="534788">
                <a:tc>
                  <a:txBody>
                    <a:bodyPr/>
                    <a:lstStyle/>
                    <a:p>
                      <a:r>
                        <a:rPr kumimoji="1" lang="ja-JP" altLang="en-US" sz="1200" dirty="0"/>
                        <a:t>木村 直也</a:t>
                      </a:r>
                    </a:p>
                  </a:txBody>
                  <a:tcPr/>
                </a:tc>
                <a:tc>
                  <a:txBody>
                    <a:bodyPr/>
                    <a:lstStyle/>
                    <a:p>
                      <a:r>
                        <a:rPr kumimoji="1" lang="en-US" altLang="ja-JP" sz="1200" dirty="0"/>
                        <a:t>00004</a:t>
                      </a:r>
                      <a:endParaRPr kumimoji="1" lang="ja-JP" altLang="en-US" sz="1200" dirty="0"/>
                    </a:p>
                  </a:txBody>
                  <a:tcPr/>
                </a:tc>
                <a:tc>
                  <a:txBody>
                    <a:bodyPr/>
                    <a:lstStyle/>
                    <a:p>
                      <a:r>
                        <a:rPr kumimoji="1" lang="en-US" altLang="ja-JP" sz="1200" dirty="0"/>
                        <a:t>2000/4/12</a:t>
                      </a:r>
                      <a:endParaRPr kumimoji="1" lang="ja-JP" altLang="en-US" sz="1200" dirty="0"/>
                    </a:p>
                  </a:txBody>
                  <a:tcPr/>
                </a:tc>
                <a:tc>
                  <a:txBody>
                    <a:bodyPr/>
                    <a:lstStyle/>
                    <a:p>
                      <a:r>
                        <a:rPr kumimoji="1" lang="en-US" altLang="ja-JP" sz="1200" dirty="0"/>
                        <a:t>2024/6</a:t>
                      </a:r>
                      <a:endParaRPr kumimoji="1" lang="ja-JP" altLang="en-US" sz="1200" dirty="0"/>
                    </a:p>
                  </a:txBody>
                  <a:tcPr/>
                </a:tc>
                <a:tc>
                  <a:txBody>
                    <a:bodyPr/>
                    <a:lstStyle/>
                    <a:p>
                      <a:r>
                        <a:rPr kumimoji="1" lang="en-US" altLang="ja-JP" sz="1200" dirty="0"/>
                        <a:t>2</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1267473416"/>
                  </a:ext>
                </a:extLst>
              </a:tr>
              <a:tr h="534788">
                <a:tc>
                  <a:txBody>
                    <a:bodyPr/>
                    <a:lstStyle/>
                    <a:p>
                      <a:r>
                        <a:rPr kumimoji="1" lang="ja-JP" altLang="en-US" sz="1200" dirty="0"/>
                        <a:t>間地 佳代</a:t>
                      </a:r>
                    </a:p>
                  </a:txBody>
                  <a:tcPr/>
                </a:tc>
                <a:tc>
                  <a:txBody>
                    <a:bodyPr/>
                    <a:lstStyle/>
                    <a:p>
                      <a:r>
                        <a:rPr kumimoji="1" lang="en-US" altLang="ja-JP" sz="1200" dirty="0"/>
                        <a:t>00005</a:t>
                      </a:r>
                      <a:endParaRPr kumimoji="1" lang="ja-JP" altLang="en-US" sz="1200" dirty="0"/>
                    </a:p>
                  </a:txBody>
                  <a:tcPr/>
                </a:tc>
                <a:tc>
                  <a:txBody>
                    <a:bodyPr/>
                    <a:lstStyle/>
                    <a:p>
                      <a:r>
                        <a:rPr kumimoji="1" lang="en-US" altLang="ja-JP" sz="1200" dirty="0"/>
                        <a:t>1995/10/24</a:t>
                      </a:r>
                      <a:endParaRPr kumimoji="1" lang="ja-JP" altLang="en-US" sz="1200" dirty="0"/>
                    </a:p>
                  </a:txBody>
                  <a:tcPr/>
                </a:tc>
                <a:tc>
                  <a:txBody>
                    <a:bodyPr/>
                    <a:lstStyle/>
                    <a:p>
                      <a:r>
                        <a:rPr kumimoji="1" lang="en-US" altLang="ja-JP" sz="1200" dirty="0"/>
                        <a:t>2019/4</a:t>
                      </a:r>
                      <a:endParaRPr kumimoji="1" lang="ja-JP" altLang="en-US" sz="1200" dirty="0"/>
                    </a:p>
                  </a:txBody>
                  <a:tcPr/>
                </a:tc>
                <a:tc>
                  <a:txBody>
                    <a:bodyPr/>
                    <a:lstStyle/>
                    <a:p>
                      <a:r>
                        <a:rPr kumimoji="1" lang="en-US" altLang="ja-JP" sz="1200" dirty="0"/>
                        <a:t>10</a:t>
                      </a:r>
                      <a:r>
                        <a:rPr kumimoji="1" lang="ja-JP" altLang="en-US" sz="1200" dirty="0"/>
                        <a:t>年</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761762557"/>
                  </a:ext>
                </a:extLst>
              </a:tr>
              <a:tr h="534788">
                <a:tc>
                  <a:txBody>
                    <a:bodyPr/>
                    <a:lstStyle/>
                    <a:p>
                      <a:r>
                        <a:rPr kumimoji="1" lang="ja-JP" altLang="en-US" sz="1200" dirty="0"/>
                        <a:t>秋葉 花</a:t>
                      </a:r>
                    </a:p>
                  </a:txBody>
                  <a:tcPr/>
                </a:tc>
                <a:tc>
                  <a:txBody>
                    <a:bodyPr/>
                    <a:lstStyle/>
                    <a:p>
                      <a:r>
                        <a:rPr kumimoji="1" lang="en-US" altLang="ja-JP" sz="1200" dirty="0"/>
                        <a:t>00006</a:t>
                      </a:r>
                      <a:endParaRPr kumimoji="1" lang="ja-JP" altLang="en-US" sz="1200" dirty="0"/>
                    </a:p>
                  </a:txBody>
                  <a:tcPr/>
                </a:tc>
                <a:tc>
                  <a:txBody>
                    <a:bodyPr/>
                    <a:lstStyle/>
                    <a:p>
                      <a:r>
                        <a:rPr kumimoji="1" lang="en-US" altLang="ja-JP" sz="1200" dirty="0"/>
                        <a:t>1996/2/23</a:t>
                      </a:r>
                      <a:endParaRPr kumimoji="1" lang="ja-JP" altLang="en-US" sz="1200" dirty="0"/>
                    </a:p>
                  </a:txBody>
                  <a:tcPr/>
                </a:tc>
                <a:tc>
                  <a:txBody>
                    <a:bodyPr/>
                    <a:lstStyle/>
                    <a:p>
                      <a:r>
                        <a:rPr kumimoji="1" lang="en-US" altLang="ja-JP" sz="1200" dirty="0"/>
                        <a:t>2022/7</a:t>
                      </a:r>
                      <a:endParaRPr kumimoji="1" lang="ja-JP" altLang="en-US" sz="1200" dirty="0"/>
                    </a:p>
                  </a:txBody>
                  <a:tcPr/>
                </a:tc>
                <a:tc>
                  <a:txBody>
                    <a:bodyPr/>
                    <a:lstStyle/>
                    <a:p>
                      <a:r>
                        <a:rPr kumimoji="1" lang="en-US" altLang="ja-JP" sz="1200" dirty="0"/>
                        <a:t>3</a:t>
                      </a:r>
                      <a:r>
                        <a:rPr kumimoji="1" lang="ja-JP" altLang="en-US" sz="1200" dirty="0"/>
                        <a:t>年</a:t>
                      </a:r>
                      <a:r>
                        <a:rPr kumimoji="1" lang="en-US" altLang="ja-JP" sz="1200" dirty="0"/>
                        <a:t>10</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902287736"/>
                  </a:ext>
                </a:extLst>
              </a:tr>
              <a:tr h="534788">
                <a:tc>
                  <a:txBody>
                    <a:bodyPr/>
                    <a:lstStyle/>
                    <a:p>
                      <a:r>
                        <a:rPr kumimoji="1" lang="ja-JP" altLang="en-US" sz="1200" dirty="0"/>
                        <a:t>野原 しん</a:t>
                      </a:r>
                    </a:p>
                  </a:txBody>
                  <a:tcPr/>
                </a:tc>
                <a:tc>
                  <a:txBody>
                    <a:bodyPr/>
                    <a:lstStyle/>
                    <a:p>
                      <a:r>
                        <a:rPr kumimoji="1" lang="en-US" altLang="ja-JP" sz="1200" dirty="0"/>
                        <a:t>00007</a:t>
                      </a:r>
                      <a:endParaRPr kumimoji="1" lang="ja-JP" altLang="en-US" sz="1200" dirty="0"/>
                    </a:p>
                  </a:txBody>
                  <a:tcPr/>
                </a:tc>
                <a:tc>
                  <a:txBody>
                    <a:bodyPr/>
                    <a:lstStyle/>
                    <a:p>
                      <a:r>
                        <a:rPr kumimoji="1" lang="en-US" altLang="ja-JP" sz="1200" dirty="0"/>
                        <a:t>2003/1/30</a:t>
                      </a:r>
                      <a:endParaRPr kumimoji="1" lang="ja-JP" altLang="en-US" sz="1200" dirty="0"/>
                    </a:p>
                  </a:txBody>
                  <a:tcPr/>
                </a:tc>
                <a:tc>
                  <a:txBody>
                    <a:bodyPr/>
                    <a:lstStyle/>
                    <a:p>
                      <a:r>
                        <a:rPr kumimoji="1" lang="en-US" altLang="ja-JP" sz="1200" dirty="0"/>
                        <a:t>2025/12</a:t>
                      </a:r>
                      <a:endParaRPr kumimoji="1" lang="ja-JP" altLang="en-US" sz="1200" dirty="0"/>
                    </a:p>
                  </a:txBody>
                  <a:tcPr/>
                </a:tc>
                <a:tc>
                  <a:txBody>
                    <a:bodyPr/>
                    <a:lstStyle/>
                    <a:p>
                      <a:r>
                        <a:rPr kumimoji="1" lang="en-US" altLang="ja-JP" sz="1200" dirty="0"/>
                        <a:t>5</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924052398"/>
                  </a:ext>
                </a:extLst>
              </a:tr>
            </a:tbl>
          </a:graphicData>
        </a:graphic>
      </p:graphicFrame>
      <p:sp>
        <p:nvSpPr>
          <p:cNvPr id="31" name="テキスト ボックス 30">
            <a:extLst>
              <a:ext uri="{FF2B5EF4-FFF2-40B4-BE49-F238E27FC236}">
                <a16:creationId xmlns:a16="http://schemas.microsoft.com/office/drawing/2014/main" id="{B173139A-4943-28A3-72C2-7035BD6ABBE3}"/>
              </a:ext>
            </a:extLst>
          </p:cNvPr>
          <p:cNvSpPr txBox="1"/>
          <p:nvPr/>
        </p:nvSpPr>
        <p:spPr>
          <a:xfrm>
            <a:off x="5362247" y="1925891"/>
            <a:ext cx="914400" cy="369332"/>
          </a:xfrm>
          <a:prstGeom prst="rect">
            <a:avLst/>
          </a:prstGeom>
          <a:noFill/>
        </p:spPr>
        <p:txBody>
          <a:bodyPr wrap="square" rtlCol="0">
            <a:spAutoFit/>
          </a:bodyPr>
          <a:lstStyle/>
          <a:p>
            <a:r>
              <a:rPr kumimoji="1" lang="ja-JP" altLang="en-US" dirty="0">
                <a:solidFill>
                  <a:schemeClr val="bg1"/>
                </a:solidFill>
              </a:rPr>
              <a:t>ソート</a:t>
            </a:r>
          </a:p>
        </p:txBody>
      </p:sp>
      <p:sp>
        <p:nvSpPr>
          <p:cNvPr id="33" name="テキスト ボックス 32">
            <a:extLst>
              <a:ext uri="{FF2B5EF4-FFF2-40B4-BE49-F238E27FC236}">
                <a16:creationId xmlns:a16="http://schemas.microsoft.com/office/drawing/2014/main" id="{958D91A5-D75A-3181-5AD1-548EDCD79A17}"/>
              </a:ext>
            </a:extLst>
          </p:cNvPr>
          <p:cNvSpPr txBox="1"/>
          <p:nvPr/>
        </p:nvSpPr>
        <p:spPr>
          <a:xfrm>
            <a:off x="7361056" y="1923575"/>
            <a:ext cx="914400" cy="369332"/>
          </a:xfrm>
          <a:prstGeom prst="rect">
            <a:avLst/>
          </a:prstGeom>
          <a:noFill/>
        </p:spPr>
        <p:txBody>
          <a:bodyPr wrap="square" rtlCol="0">
            <a:spAutoFit/>
          </a:bodyPr>
          <a:lstStyle/>
          <a:p>
            <a:r>
              <a:rPr kumimoji="1" lang="ja-JP" altLang="en-US" dirty="0">
                <a:solidFill>
                  <a:schemeClr val="bg1"/>
                </a:solidFill>
              </a:rPr>
              <a:t>選択</a:t>
            </a:r>
          </a:p>
        </p:txBody>
      </p:sp>
      <p:sp>
        <p:nvSpPr>
          <p:cNvPr id="34" name="テキスト ボックス 33">
            <a:extLst>
              <a:ext uri="{FF2B5EF4-FFF2-40B4-BE49-F238E27FC236}">
                <a16:creationId xmlns:a16="http://schemas.microsoft.com/office/drawing/2014/main" id="{9E89432D-FBC3-7F46-F99C-EC12DED7ACE9}"/>
              </a:ext>
            </a:extLst>
          </p:cNvPr>
          <p:cNvSpPr txBox="1"/>
          <p:nvPr/>
        </p:nvSpPr>
        <p:spPr>
          <a:xfrm>
            <a:off x="9243905" y="1923575"/>
            <a:ext cx="646331" cy="369332"/>
          </a:xfrm>
          <a:prstGeom prst="rect">
            <a:avLst/>
          </a:prstGeom>
          <a:noFill/>
        </p:spPr>
        <p:txBody>
          <a:bodyPr wrap="none" rtlCol="0">
            <a:spAutoFit/>
          </a:bodyPr>
          <a:lstStyle/>
          <a:p>
            <a:r>
              <a:rPr lang="ja-JP" altLang="en-US" dirty="0">
                <a:solidFill>
                  <a:schemeClr val="bg1"/>
                </a:solidFill>
              </a:rPr>
              <a:t>追加</a:t>
            </a:r>
            <a:endParaRPr kumimoji="1" lang="ja-JP" altLang="en-US" dirty="0">
              <a:solidFill>
                <a:schemeClr val="bg1"/>
              </a:solidFill>
            </a:endParaRPr>
          </a:p>
        </p:txBody>
      </p:sp>
      <p:sp>
        <p:nvSpPr>
          <p:cNvPr id="35" name="テキスト ボックス 34">
            <a:extLst>
              <a:ext uri="{FF2B5EF4-FFF2-40B4-BE49-F238E27FC236}">
                <a16:creationId xmlns:a16="http://schemas.microsoft.com/office/drawing/2014/main" id="{4911BA4E-B817-5E88-D487-B00800BD77E3}"/>
              </a:ext>
            </a:extLst>
          </p:cNvPr>
          <p:cNvSpPr txBox="1"/>
          <p:nvPr/>
        </p:nvSpPr>
        <p:spPr>
          <a:xfrm>
            <a:off x="11147686" y="1923575"/>
            <a:ext cx="646331" cy="369332"/>
          </a:xfrm>
          <a:prstGeom prst="rect">
            <a:avLst/>
          </a:prstGeom>
          <a:noFill/>
        </p:spPr>
        <p:txBody>
          <a:bodyPr wrap="none" rtlCol="0">
            <a:spAutoFit/>
          </a:bodyPr>
          <a:lstStyle/>
          <a:p>
            <a:r>
              <a:rPr kumimoji="1" lang="ja-JP" altLang="en-US" dirty="0">
                <a:solidFill>
                  <a:schemeClr val="bg1"/>
                </a:solidFill>
              </a:rPr>
              <a:t>出力</a:t>
            </a:r>
          </a:p>
        </p:txBody>
      </p:sp>
      <p:sp>
        <p:nvSpPr>
          <p:cNvPr id="2" name="正方形/長方形 1">
            <a:extLst>
              <a:ext uri="{FF2B5EF4-FFF2-40B4-BE49-F238E27FC236}">
                <a16:creationId xmlns:a16="http://schemas.microsoft.com/office/drawing/2014/main" id="{40F5E5D7-B39D-0E50-6E49-D90E56E07E77}"/>
              </a:ext>
            </a:extLst>
          </p:cNvPr>
          <p:cNvSpPr/>
          <p:nvPr/>
        </p:nvSpPr>
        <p:spPr>
          <a:xfrm>
            <a:off x="2775857" y="2579701"/>
            <a:ext cx="6346372" cy="3353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00A1CE10-D300-B6E5-CF73-9BD58D84436D}"/>
              </a:ext>
            </a:extLst>
          </p:cNvPr>
          <p:cNvSpPr txBox="1"/>
          <p:nvPr/>
        </p:nvSpPr>
        <p:spPr>
          <a:xfrm>
            <a:off x="3367849" y="3243578"/>
            <a:ext cx="5303055" cy="400110"/>
          </a:xfrm>
          <a:prstGeom prst="rect">
            <a:avLst/>
          </a:prstGeom>
          <a:noFill/>
        </p:spPr>
        <p:txBody>
          <a:bodyPr wrap="none" rtlCol="0">
            <a:spAutoFit/>
          </a:bodyPr>
          <a:lstStyle/>
          <a:p>
            <a:r>
              <a:rPr lang="en-US" altLang="ja-JP" sz="2000" dirty="0">
                <a:solidFill>
                  <a:schemeClr val="bg1"/>
                </a:solidFill>
              </a:rPr>
              <a:t>CSV</a:t>
            </a:r>
            <a:r>
              <a:rPr lang="ja-JP" altLang="en-US" sz="2000" dirty="0">
                <a:solidFill>
                  <a:schemeClr val="bg1"/>
                </a:solidFill>
              </a:rPr>
              <a:t>で一括出力してもよろしいでしょうか？</a:t>
            </a:r>
            <a:endParaRPr kumimoji="1" lang="ja-JP" altLang="en-US" sz="2000" dirty="0">
              <a:solidFill>
                <a:schemeClr val="bg1"/>
              </a:solidFill>
            </a:endParaRPr>
          </a:p>
        </p:txBody>
      </p:sp>
      <p:sp>
        <p:nvSpPr>
          <p:cNvPr id="8" name="正方形/長方形 7">
            <a:extLst>
              <a:ext uri="{FF2B5EF4-FFF2-40B4-BE49-F238E27FC236}">
                <a16:creationId xmlns:a16="http://schemas.microsoft.com/office/drawing/2014/main" id="{A33F0DC5-773C-7A89-FC7B-75B6D7C88C56}"/>
              </a:ext>
            </a:extLst>
          </p:cNvPr>
          <p:cNvSpPr/>
          <p:nvPr/>
        </p:nvSpPr>
        <p:spPr>
          <a:xfrm>
            <a:off x="3642305" y="4782384"/>
            <a:ext cx="1719942"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9" name="正方形/長方形 8">
            <a:extLst>
              <a:ext uri="{FF2B5EF4-FFF2-40B4-BE49-F238E27FC236}">
                <a16:creationId xmlns:a16="http://schemas.microsoft.com/office/drawing/2014/main" id="{5DAEB917-ED96-6141-2532-F15F81D0F05F}"/>
              </a:ext>
            </a:extLst>
          </p:cNvPr>
          <p:cNvSpPr/>
          <p:nvPr/>
        </p:nvSpPr>
        <p:spPr>
          <a:xfrm>
            <a:off x="6555514" y="4782384"/>
            <a:ext cx="1719942"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0" name="テキスト ボックス 9">
            <a:extLst>
              <a:ext uri="{FF2B5EF4-FFF2-40B4-BE49-F238E27FC236}">
                <a16:creationId xmlns:a16="http://schemas.microsoft.com/office/drawing/2014/main" id="{152E787C-671C-80BB-84C6-F8D8BA03AAEE}"/>
              </a:ext>
            </a:extLst>
          </p:cNvPr>
          <p:cNvSpPr txBox="1"/>
          <p:nvPr/>
        </p:nvSpPr>
        <p:spPr>
          <a:xfrm>
            <a:off x="4102166" y="4831096"/>
            <a:ext cx="800219" cy="461665"/>
          </a:xfrm>
          <a:prstGeom prst="rect">
            <a:avLst/>
          </a:prstGeom>
          <a:noFill/>
        </p:spPr>
        <p:txBody>
          <a:bodyPr wrap="none" rtlCol="0">
            <a:spAutoFit/>
          </a:bodyPr>
          <a:lstStyle/>
          <a:p>
            <a:r>
              <a:rPr kumimoji="1" lang="ja-JP" altLang="en-US" sz="2400" dirty="0">
                <a:solidFill>
                  <a:schemeClr val="bg1"/>
                </a:solidFill>
              </a:rPr>
              <a:t>はい</a:t>
            </a:r>
          </a:p>
        </p:txBody>
      </p:sp>
      <p:sp>
        <p:nvSpPr>
          <p:cNvPr id="11" name="テキスト ボックス 10">
            <a:extLst>
              <a:ext uri="{FF2B5EF4-FFF2-40B4-BE49-F238E27FC236}">
                <a16:creationId xmlns:a16="http://schemas.microsoft.com/office/drawing/2014/main" id="{2BD8FD29-DECB-A537-C371-30C9AA1B2208}"/>
              </a:ext>
            </a:extLst>
          </p:cNvPr>
          <p:cNvSpPr txBox="1"/>
          <p:nvPr/>
        </p:nvSpPr>
        <p:spPr>
          <a:xfrm>
            <a:off x="6861487" y="4815124"/>
            <a:ext cx="1107996" cy="461665"/>
          </a:xfrm>
          <a:prstGeom prst="rect">
            <a:avLst/>
          </a:prstGeom>
          <a:noFill/>
        </p:spPr>
        <p:txBody>
          <a:bodyPr wrap="none" rtlCol="0">
            <a:spAutoFit/>
          </a:bodyPr>
          <a:lstStyle/>
          <a:p>
            <a:r>
              <a:rPr kumimoji="1" lang="ja-JP" altLang="en-US" sz="2400" dirty="0">
                <a:solidFill>
                  <a:schemeClr val="bg1"/>
                </a:solidFill>
              </a:rPr>
              <a:t>いいえ</a:t>
            </a:r>
          </a:p>
        </p:txBody>
      </p:sp>
    </p:spTree>
    <p:extLst>
      <p:ext uri="{BB962C8B-B14F-4D97-AF65-F5344CB8AC3E}">
        <p14:creationId xmlns:p14="http://schemas.microsoft.com/office/powerpoint/2010/main" val="2952701429"/>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A7CA-B3A2-F9BD-3C38-1B35F7491871}"/>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8DDD9584-21F1-1581-F8D3-1B638E3C29D0}"/>
              </a:ext>
            </a:extLst>
          </p:cNvPr>
          <p:cNvSpPr/>
          <p:nvPr/>
        </p:nvSpPr>
        <p:spPr>
          <a:xfrm>
            <a:off x="304796" y="925290"/>
            <a:ext cx="6868881"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41EF7CEE-96E2-725E-5128-976F24A45B34}"/>
              </a:ext>
            </a:extLst>
          </p:cNvPr>
          <p:cNvSpPr txBox="1"/>
          <p:nvPr/>
        </p:nvSpPr>
        <p:spPr>
          <a:xfrm>
            <a:off x="304796" y="195946"/>
            <a:ext cx="4105611"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en-US" sz="3600" dirty="0">
                <a:solidFill>
                  <a:srgbClr val="000000"/>
                </a:solidFill>
                <a:latin typeface="游ゴシック"/>
                <a:ea typeface="游ゴシック" pitchFamily="50"/>
              </a:rPr>
              <a:t>4-3</a:t>
            </a:r>
            <a:r>
              <a:rPr lang="ja-JP" sz="3600" b="0" i="0" u="none" strike="noStrike" kern="1200" cap="none" spc="0" baseline="0" dirty="0">
                <a:solidFill>
                  <a:srgbClr val="000000"/>
                </a:solidFill>
                <a:uFillTx/>
                <a:latin typeface="游ゴシック"/>
                <a:ea typeface="游ゴシック" pitchFamily="50"/>
              </a:rPr>
              <a:t>　</a:t>
            </a:r>
            <a:r>
              <a:rPr lang="en-US" altLang="ja-JP" sz="3600" b="0" i="0" u="none" strike="noStrike" kern="1200" cap="none" spc="0" baseline="0" dirty="0">
                <a:solidFill>
                  <a:srgbClr val="000000"/>
                </a:solidFill>
                <a:uFillTx/>
                <a:latin typeface="游ゴシック"/>
                <a:ea typeface="游ゴシック" pitchFamily="50"/>
              </a:rPr>
              <a:t>CSV</a:t>
            </a:r>
            <a:r>
              <a:rPr lang="ja-JP" altLang="en-US" sz="3600" b="0" i="0" u="none" strike="noStrike" kern="1200" cap="none" spc="0" baseline="0" dirty="0">
                <a:solidFill>
                  <a:srgbClr val="000000"/>
                </a:solidFill>
                <a:uFillTx/>
                <a:latin typeface="游ゴシック"/>
                <a:ea typeface="游ゴシック" pitchFamily="50"/>
              </a:rPr>
              <a:t>出力</a:t>
            </a:r>
            <a:endParaRPr lang="en-US" sz="3600" b="0" i="0" u="none" strike="noStrike" kern="1200" cap="none" spc="0" baseline="0" dirty="0">
              <a:solidFill>
                <a:srgbClr val="000000"/>
              </a:solidFill>
              <a:uFillTx/>
              <a:latin typeface="游ゴシック"/>
              <a:ea typeface="游ゴシック" pitchFamily="50"/>
            </a:endParaRPr>
          </a:p>
        </p:txBody>
      </p:sp>
      <p:graphicFrame>
        <p:nvGraphicFramePr>
          <p:cNvPr id="5" name="表 4">
            <a:extLst>
              <a:ext uri="{FF2B5EF4-FFF2-40B4-BE49-F238E27FC236}">
                <a16:creationId xmlns:a16="http://schemas.microsoft.com/office/drawing/2014/main" id="{C970BF6C-2881-5314-9124-F8D34A3745DC}"/>
              </a:ext>
            </a:extLst>
          </p:cNvPr>
          <p:cNvGraphicFramePr>
            <a:graphicFrameLocks noGrp="1"/>
          </p:cNvGraphicFramePr>
          <p:nvPr>
            <p:extLst>
              <p:ext uri="{D42A27DB-BD31-4B8C-83A1-F6EECF244321}">
                <p14:modId xmlns:p14="http://schemas.microsoft.com/office/powerpoint/2010/main" val="329216579"/>
              </p:ext>
            </p:extLst>
          </p:nvPr>
        </p:nvGraphicFramePr>
        <p:xfrm>
          <a:off x="304796" y="925290"/>
          <a:ext cx="6868880" cy="4051208"/>
        </p:xfrm>
        <a:graphic>
          <a:graphicData uri="http://schemas.openxmlformats.org/drawingml/2006/table">
            <a:tbl>
              <a:tblPr>
                <a:tableStyleId>{5C22544A-7EE6-4342-B048-85BDC9FD1C3A}</a:tableStyleId>
              </a:tblPr>
              <a:tblGrid>
                <a:gridCol w="495179">
                  <a:extLst>
                    <a:ext uri="{9D8B030D-6E8A-4147-A177-3AD203B41FA5}">
                      <a16:colId xmlns:a16="http://schemas.microsoft.com/office/drawing/2014/main" val="688084510"/>
                    </a:ext>
                  </a:extLst>
                </a:gridCol>
                <a:gridCol w="6373701">
                  <a:extLst>
                    <a:ext uri="{9D8B030D-6E8A-4147-A177-3AD203B41FA5}">
                      <a16:colId xmlns:a16="http://schemas.microsoft.com/office/drawing/2014/main" val="1072463033"/>
                    </a:ext>
                  </a:extLst>
                </a:gridCol>
              </a:tblGrid>
              <a:tr h="610428">
                <a:tc>
                  <a:txBody>
                    <a:bodyPr/>
                    <a:lstStyle/>
                    <a:p>
                      <a:r>
                        <a:rPr kumimoji="1" lang="en-US" altLang="ja-JP" dirty="0"/>
                        <a:t>1</a:t>
                      </a:r>
                    </a:p>
                  </a:txBody>
                  <a:tcPr/>
                </a:tc>
                <a:tc>
                  <a:txBody>
                    <a:bodyPr/>
                    <a:lstStyle/>
                    <a:p>
                      <a:r>
                        <a:rPr kumimoji="1" lang="ja-JP" altLang="ja-JP" sz="1200" kern="1200" dirty="0">
                          <a:solidFill>
                            <a:schemeClr val="dk1"/>
                          </a:solidFill>
                          <a:effectLst/>
                          <a:latin typeface="+mn-lt"/>
                          <a:ea typeface="+mn-ea"/>
                          <a:cs typeface="+mn-cs"/>
                        </a:rPr>
                        <a:t>氏名</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社員</a:t>
                      </a:r>
                      <a:r>
                        <a:rPr kumimoji="1" lang="en-US" altLang="ja-JP" sz="1200" kern="1200" dirty="0">
                          <a:solidFill>
                            <a:schemeClr val="dk1"/>
                          </a:solidFill>
                          <a:effectLst/>
                          <a:latin typeface="+mn-lt"/>
                          <a:ea typeface="+mn-ea"/>
                          <a:cs typeface="+mn-cs"/>
                        </a:rPr>
                        <a:t>ID,</a:t>
                      </a:r>
                      <a:r>
                        <a:rPr kumimoji="1" lang="ja-JP" altLang="ja-JP" sz="1200" kern="1200" dirty="0">
                          <a:solidFill>
                            <a:schemeClr val="dk1"/>
                          </a:solidFill>
                          <a:effectLst/>
                          <a:latin typeface="+mn-lt"/>
                          <a:ea typeface="+mn-ea"/>
                          <a:cs typeface="+mn-cs"/>
                        </a:rPr>
                        <a:t>生年月日</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入社年月</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エンジニア歴</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扱える言語</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経歴</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研修の受講歴</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技術力</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受講態度</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コミュニケーション能力</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リーダーシップ備考</a:t>
                      </a:r>
                      <a:endParaRPr kumimoji="1" lang="ja-JP" altLang="en-US" sz="1200" kern="1200" dirty="0">
                        <a:solidFill>
                          <a:schemeClr val="dk1"/>
                        </a:solidFill>
                        <a:effectLst/>
                        <a:latin typeface="+mn-lt"/>
                        <a:ea typeface="+mn-ea"/>
                        <a:cs typeface="+mn-cs"/>
                      </a:endParaRPr>
                    </a:p>
                  </a:txBody>
                  <a:tcPr/>
                </a:tc>
                <a:extLst>
                  <a:ext uri="{0D108BD9-81ED-4DB2-BD59-A6C34878D82A}">
                    <a16:rowId xmlns:a16="http://schemas.microsoft.com/office/drawing/2014/main" val="3979420562"/>
                  </a:ext>
                </a:extLst>
              </a:tr>
              <a:tr h="491540">
                <a:tc>
                  <a:txBody>
                    <a:bodyPr/>
                    <a:lstStyle/>
                    <a:p>
                      <a:r>
                        <a:rPr kumimoji="1" lang="en-US" altLang="ja-JP" dirty="0"/>
                        <a:t>2</a:t>
                      </a:r>
                      <a:endParaRPr kumimoji="1" lang="ja-JP" altLang="en-US" dirty="0"/>
                    </a:p>
                  </a:txBody>
                  <a:tcPr/>
                </a:tc>
                <a:tc>
                  <a:txBody>
                    <a:bodyPr/>
                    <a:lstStyle/>
                    <a:p>
                      <a:r>
                        <a:rPr kumimoji="1" lang="ja-JP" altLang="en-US" dirty="0"/>
                        <a:t>山田太郎</a:t>
                      </a:r>
                      <a:r>
                        <a:rPr kumimoji="1" lang="en-US" altLang="ja-JP" dirty="0"/>
                        <a:t>,00001,~,~,~,~,~,~,~,~,~,~</a:t>
                      </a:r>
                      <a:endParaRPr kumimoji="1" lang="ja-JP" altLang="en-US" dirty="0"/>
                    </a:p>
                  </a:txBody>
                  <a:tcPr/>
                </a:tc>
                <a:extLst>
                  <a:ext uri="{0D108BD9-81ED-4DB2-BD59-A6C34878D82A}">
                    <a16:rowId xmlns:a16="http://schemas.microsoft.com/office/drawing/2014/main" val="1849445293"/>
                  </a:ext>
                </a:extLst>
              </a:tr>
              <a:tr h="491540">
                <a:tc>
                  <a:txBody>
                    <a:bodyPr/>
                    <a:lstStyle/>
                    <a:p>
                      <a:r>
                        <a:rPr kumimoji="1" lang="en-US" altLang="ja-JP" dirty="0"/>
                        <a:t>3</a:t>
                      </a:r>
                      <a:endParaRPr kumimoji="1" lang="ja-JP" altLang="en-US" dirty="0"/>
                    </a:p>
                  </a:txBody>
                  <a:tcPr/>
                </a:tc>
                <a:tc>
                  <a:txBody>
                    <a:bodyPr/>
                    <a:lstStyle/>
                    <a:p>
                      <a:r>
                        <a:rPr kumimoji="1" lang="ja-JP" altLang="en-US" dirty="0"/>
                        <a:t>田中 花子</a:t>
                      </a:r>
                      <a:r>
                        <a:rPr kumimoji="1" lang="en-US" altLang="ja-JP" dirty="0"/>
                        <a:t>,00002,~,~,~,~,~,~,~,~,~,~</a:t>
                      </a:r>
                      <a:endParaRPr kumimoji="1" lang="ja-JP" altLang="en-US" dirty="0"/>
                    </a:p>
                  </a:txBody>
                  <a:tcPr/>
                </a:tc>
                <a:extLst>
                  <a:ext uri="{0D108BD9-81ED-4DB2-BD59-A6C34878D82A}">
                    <a16:rowId xmlns:a16="http://schemas.microsoft.com/office/drawing/2014/main" val="1365715318"/>
                  </a:ext>
                </a:extLst>
              </a:tr>
              <a:tr h="491540">
                <a:tc>
                  <a:txBody>
                    <a:bodyPr/>
                    <a:lstStyle/>
                    <a:p>
                      <a:r>
                        <a:rPr kumimoji="1" lang="en-US" altLang="ja-JP" dirty="0"/>
                        <a:t>4</a:t>
                      </a:r>
                      <a:endParaRPr kumimoji="1" lang="ja-JP" altLang="en-US" dirty="0"/>
                    </a:p>
                  </a:txBody>
                  <a:tcPr/>
                </a:tc>
                <a:tc>
                  <a:txBody>
                    <a:bodyPr/>
                    <a:lstStyle/>
                    <a:p>
                      <a:r>
                        <a:rPr kumimoji="1" lang="ja-JP" altLang="en-US" dirty="0"/>
                        <a:t>佐藤 健</a:t>
                      </a:r>
                      <a:r>
                        <a:rPr kumimoji="1" lang="en-US" altLang="ja-JP" dirty="0"/>
                        <a:t>,00003,~,~,~,~,~,~,~,~,~,~</a:t>
                      </a:r>
                      <a:endParaRPr kumimoji="1" lang="ja-JP" altLang="en-US" dirty="0"/>
                    </a:p>
                  </a:txBody>
                  <a:tcPr/>
                </a:tc>
                <a:extLst>
                  <a:ext uri="{0D108BD9-81ED-4DB2-BD59-A6C34878D82A}">
                    <a16:rowId xmlns:a16="http://schemas.microsoft.com/office/drawing/2014/main" val="3038797237"/>
                  </a:ext>
                </a:extLst>
              </a:tr>
              <a:tr h="491540">
                <a:tc>
                  <a:txBody>
                    <a:bodyPr/>
                    <a:lstStyle/>
                    <a:p>
                      <a:r>
                        <a:rPr kumimoji="1" lang="en-US" altLang="ja-JP" dirty="0"/>
                        <a:t>5</a:t>
                      </a:r>
                      <a:endParaRPr kumimoji="1" lang="ja-JP" altLang="en-US" dirty="0"/>
                    </a:p>
                  </a:txBody>
                  <a:tcPr/>
                </a:tc>
                <a:tc>
                  <a:txBody>
                    <a:bodyPr/>
                    <a:lstStyle/>
                    <a:p>
                      <a:r>
                        <a:rPr kumimoji="1" lang="ja-JP" altLang="en-US" dirty="0"/>
                        <a:t>木村 直也</a:t>
                      </a:r>
                      <a:r>
                        <a:rPr kumimoji="1" lang="en-US" altLang="ja-JP" dirty="0"/>
                        <a:t>,00004,~,~,~,~,~,~,~,~,~,~</a:t>
                      </a:r>
                      <a:endParaRPr kumimoji="1" lang="ja-JP" altLang="en-US" dirty="0"/>
                    </a:p>
                  </a:txBody>
                  <a:tcPr/>
                </a:tc>
                <a:extLst>
                  <a:ext uri="{0D108BD9-81ED-4DB2-BD59-A6C34878D82A}">
                    <a16:rowId xmlns:a16="http://schemas.microsoft.com/office/drawing/2014/main" val="194795740"/>
                  </a:ext>
                </a:extLst>
              </a:tr>
              <a:tr h="491540">
                <a:tc>
                  <a:txBody>
                    <a:bodyPr/>
                    <a:lstStyle/>
                    <a:p>
                      <a:r>
                        <a:rPr kumimoji="1" lang="en-US" altLang="ja-JP" dirty="0"/>
                        <a:t>6</a:t>
                      </a:r>
                      <a:endParaRPr kumimoji="1" lang="ja-JP" altLang="en-US" dirty="0"/>
                    </a:p>
                  </a:txBody>
                  <a:tcPr/>
                </a:tc>
                <a:tc>
                  <a:txBody>
                    <a:bodyPr/>
                    <a:lstStyle/>
                    <a:p>
                      <a:r>
                        <a:rPr kumimoji="1" lang="ja-JP" altLang="en-US" dirty="0"/>
                        <a:t>間地 佳代</a:t>
                      </a:r>
                      <a:r>
                        <a:rPr kumimoji="1" lang="en-US" altLang="ja-JP" dirty="0"/>
                        <a:t>,00005,~,~,~,~,~,~,~,~,~,~</a:t>
                      </a:r>
                      <a:endParaRPr kumimoji="1" lang="ja-JP" altLang="en-US" dirty="0"/>
                    </a:p>
                  </a:txBody>
                  <a:tcPr/>
                </a:tc>
                <a:extLst>
                  <a:ext uri="{0D108BD9-81ED-4DB2-BD59-A6C34878D82A}">
                    <a16:rowId xmlns:a16="http://schemas.microsoft.com/office/drawing/2014/main" val="2798850053"/>
                  </a:ext>
                </a:extLst>
              </a:tr>
              <a:tr h="491540">
                <a:tc>
                  <a:txBody>
                    <a:bodyPr/>
                    <a:lstStyle/>
                    <a:p>
                      <a:r>
                        <a:rPr kumimoji="1" lang="en-US" altLang="ja-JP" dirty="0"/>
                        <a:t>7</a:t>
                      </a:r>
                      <a:endParaRPr kumimoji="1" lang="ja-JP" altLang="en-US" dirty="0"/>
                    </a:p>
                  </a:txBody>
                  <a:tcPr/>
                </a:tc>
                <a:tc>
                  <a:txBody>
                    <a:bodyPr/>
                    <a:lstStyle/>
                    <a:p>
                      <a:r>
                        <a:rPr kumimoji="1" lang="ja-JP" altLang="en-US" dirty="0"/>
                        <a:t>秋葉 花</a:t>
                      </a:r>
                      <a:r>
                        <a:rPr kumimoji="1" lang="en-US" altLang="ja-JP" dirty="0"/>
                        <a:t>,00006,~,~,~,~,~,~,~,~,~,~</a:t>
                      </a:r>
                      <a:endParaRPr kumimoji="1" lang="ja-JP" altLang="en-US" dirty="0"/>
                    </a:p>
                  </a:txBody>
                  <a:tcPr/>
                </a:tc>
                <a:extLst>
                  <a:ext uri="{0D108BD9-81ED-4DB2-BD59-A6C34878D82A}">
                    <a16:rowId xmlns:a16="http://schemas.microsoft.com/office/drawing/2014/main" val="1403626659"/>
                  </a:ext>
                </a:extLst>
              </a:tr>
              <a:tr h="491540">
                <a:tc>
                  <a:txBody>
                    <a:bodyPr/>
                    <a:lstStyle/>
                    <a:p>
                      <a:r>
                        <a:rPr kumimoji="1" lang="en-US" altLang="ja-JP" dirty="0"/>
                        <a:t>8</a:t>
                      </a:r>
                      <a:endParaRPr kumimoji="1" lang="ja-JP" altLang="en-US" dirty="0"/>
                    </a:p>
                  </a:txBody>
                  <a:tcPr/>
                </a:tc>
                <a:tc>
                  <a:txBody>
                    <a:bodyPr/>
                    <a:lstStyle/>
                    <a:p>
                      <a:r>
                        <a:rPr kumimoji="1" lang="ja-JP" altLang="en-US" dirty="0"/>
                        <a:t>野原 しん</a:t>
                      </a:r>
                      <a:r>
                        <a:rPr kumimoji="1" lang="en-US" altLang="ja-JP" dirty="0"/>
                        <a:t>,00007,~,~,~,~,~,~,~,~,~,~</a:t>
                      </a:r>
                      <a:endParaRPr kumimoji="1" lang="ja-JP" altLang="en-US" dirty="0"/>
                    </a:p>
                  </a:txBody>
                  <a:tcPr/>
                </a:tc>
                <a:extLst>
                  <a:ext uri="{0D108BD9-81ED-4DB2-BD59-A6C34878D82A}">
                    <a16:rowId xmlns:a16="http://schemas.microsoft.com/office/drawing/2014/main" val="1027197159"/>
                  </a:ext>
                </a:extLst>
              </a:tr>
            </a:tbl>
          </a:graphicData>
        </a:graphic>
      </p:graphicFrame>
      <p:pic>
        <p:nvPicPr>
          <p:cNvPr id="6" name="図 5">
            <a:extLst>
              <a:ext uri="{FF2B5EF4-FFF2-40B4-BE49-F238E27FC236}">
                <a16:creationId xmlns:a16="http://schemas.microsoft.com/office/drawing/2014/main" id="{C39329CD-A1A2-7527-2E05-9D2580888693}"/>
              </a:ext>
            </a:extLst>
          </p:cNvPr>
          <p:cNvPicPr>
            <a:picLocks noChangeAspect="1"/>
          </p:cNvPicPr>
          <p:nvPr/>
        </p:nvPicPr>
        <p:blipFill>
          <a:blip r:embed="rId3"/>
          <a:stretch>
            <a:fillRect/>
          </a:stretch>
        </p:blipFill>
        <p:spPr>
          <a:xfrm>
            <a:off x="7802825" y="4507548"/>
            <a:ext cx="3838765" cy="1855334"/>
          </a:xfrm>
          <a:prstGeom prst="rect">
            <a:avLst/>
          </a:prstGeom>
        </p:spPr>
      </p:pic>
      <p:sp>
        <p:nvSpPr>
          <p:cNvPr id="8" name="テキスト ボックス 7">
            <a:extLst>
              <a:ext uri="{FF2B5EF4-FFF2-40B4-BE49-F238E27FC236}">
                <a16:creationId xmlns:a16="http://schemas.microsoft.com/office/drawing/2014/main" id="{B90EC774-1239-7A2F-E7A9-1D8481EBE9B6}"/>
              </a:ext>
            </a:extLst>
          </p:cNvPr>
          <p:cNvSpPr txBox="1"/>
          <p:nvPr/>
        </p:nvSpPr>
        <p:spPr>
          <a:xfrm>
            <a:off x="2155372" y="5570157"/>
            <a:ext cx="3451586" cy="584775"/>
          </a:xfrm>
          <a:prstGeom prst="rect">
            <a:avLst/>
          </a:prstGeom>
          <a:noFill/>
        </p:spPr>
        <p:txBody>
          <a:bodyPr wrap="none" rtlCol="0">
            <a:spAutoFit/>
          </a:bodyPr>
          <a:lstStyle/>
          <a:p>
            <a:r>
              <a:rPr lang="ja-JP" altLang="en-US" sz="3200" dirty="0">
                <a:solidFill>
                  <a:schemeClr val="bg1"/>
                </a:solidFill>
              </a:rPr>
              <a:t>実際の</a:t>
            </a:r>
            <a:r>
              <a:rPr lang="en-US" altLang="ja-JP" sz="3200" dirty="0">
                <a:solidFill>
                  <a:schemeClr val="bg1"/>
                </a:solidFill>
              </a:rPr>
              <a:t>CSV</a:t>
            </a:r>
            <a:r>
              <a:rPr lang="ja-JP" altLang="en-US" sz="3200" dirty="0">
                <a:solidFill>
                  <a:schemeClr val="bg1"/>
                </a:solidFill>
              </a:rPr>
              <a:t>データ</a:t>
            </a:r>
            <a:endParaRPr kumimoji="1" lang="ja-JP" altLang="en-US" sz="3200" dirty="0">
              <a:solidFill>
                <a:schemeClr val="bg1"/>
              </a:solidFill>
            </a:endParaRPr>
          </a:p>
        </p:txBody>
      </p:sp>
    </p:spTree>
    <p:extLst>
      <p:ext uri="{BB962C8B-B14F-4D97-AF65-F5344CB8AC3E}">
        <p14:creationId xmlns:p14="http://schemas.microsoft.com/office/powerpoint/2010/main" val="3451763505"/>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2B41D-5251-5E95-B855-E426D4D42938}"/>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951DCC9F-989A-EA3F-90EB-279D7FF9606A}"/>
              </a:ext>
            </a:extLst>
          </p:cNvPr>
          <p:cNvSpPr/>
          <p:nvPr/>
        </p:nvSpPr>
        <p:spPr>
          <a:xfrm>
            <a:off x="0" y="925290"/>
            <a:ext cx="12192000"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4" name="テキスト ボックス 5">
            <a:extLst>
              <a:ext uri="{FF2B5EF4-FFF2-40B4-BE49-F238E27FC236}">
                <a16:creationId xmlns:a16="http://schemas.microsoft.com/office/drawing/2014/main" id="{D2BDB1DD-E956-26F2-9BB9-30DCA7AF6DB3}"/>
              </a:ext>
            </a:extLst>
          </p:cNvPr>
          <p:cNvSpPr txBox="1"/>
          <p:nvPr/>
        </p:nvSpPr>
        <p:spPr>
          <a:xfrm>
            <a:off x="400828" y="1097007"/>
            <a:ext cx="3475927"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3600" b="0" i="0" u="none" strike="noStrike" kern="1200" cap="none" spc="0" baseline="0" dirty="0">
                <a:solidFill>
                  <a:srgbClr val="FFFFFF"/>
                </a:solidFill>
                <a:uFillTx/>
                <a:latin typeface="游ゴシック"/>
                <a:ea typeface="游ゴシック" pitchFamily="50"/>
              </a:rPr>
              <a:t>エンジニア一覧</a:t>
            </a:r>
            <a:endParaRPr lang="en-US" sz="3600" b="0" i="0" u="none" strike="noStrike" kern="1200" cap="none" spc="0" baseline="0" dirty="0">
              <a:solidFill>
                <a:srgbClr val="FFFFFF"/>
              </a:solidFill>
              <a:uFillTx/>
              <a:latin typeface="游ゴシック"/>
              <a:ea typeface="游ゴシック" pitchFamily="50"/>
            </a:endParaRPr>
          </a:p>
        </p:txBody>
      </p:sp>
      <p:sp>
        <p:nvSpPr>
          <p:cNvPr id="6" name="正方形/長方形 6">
            <a:extLst>
              <a:ext uri="{FF2B5EF4-FFF2-40B4-BE49-F238E27FC236}">
                <a16:creationId xmlns:a16="http://schemas.microsoft.com/office/drawing/2014/main" id="{ACA6A790-ACFA-85B1-63F6-D796BD01D4E2}"/>
              </a:ext>
            </a:extLst>
          </p:cNvPr>
          <p:cNvSpPr/>
          <p:nvPr/>
        </p:nvSpPr>
        <p:spPr>
          <a:xfrm>
            <a:off x="9428622" y="1134209"/>
            <a:ext cx="2573321" cy="507204"/>
          </a:xfrm>
          <a:prstGeom prst="rect">
            <a:avLst/>
          </a:prstGeom>
          <a:solidFill>
            <a:srgbClr val="D9D9D9"/>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DCED6B86-5B55-FC64-B375-BF41F288AAE9}"/>
              </a:ext>
            </a:extLst>
          </p:cNvPr>
          <p:cNvSpPr txBox="1"/>
          <p:nvPr/>
        </p:nvSpPr>
        <p:spPr>
          <a:xfrm>
            <a:off x="304796" y="195946"/>
            <a:ext cx="4572085"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en-US" altLang="ja-JP" sz="3600" b="0" i="0" u="none" strike="noStrike" kern="1200" cap="none" spc="0" baseline="0" dirty="0">
                <a:solidFill>
                  <a:srgbClr val="000000"/>
                </a:solidFill>
                <a:uFillTx/>
                <a:latin typeface="游ゴシック"/>
                <a:ea typeface="游ゴシック" pitchFamily="50"/>
              </a:rPr>
              <a:t>5</a:t>
            </a:r>
            <a:r>
              <a:rPr lang="ja-JP" sz="3600" b="0" i="0" u="none" strike="noStrike" kern="1200" cap="none" spc="0" baseline="0" dirty="0">
                <a:solidFill>
                  <a:srgbClr val="000000"/>
                </a:solidFill>
                <a:uFillTx/>
                <a:latin typeface="游ゴシック"/>
                <a:ea typeface="游ゴシック" pitchFamily="50"/>
              </a:rPr>
              <a:t>　</a:t>
            </a:r>
            <a:r>
              <a:rPr lang="en-US" altLang="ja-JP" sz="3600" dirty="0">
                <a:solidFill>
                  <a:srgbClr val="000000"/>
                </a:solidFill>
                <a:latin typeface="游ゴシック"/>
                <a:ea typeface="游ゴシック" pitchFamily="50"/>
              </a:rPr>
              <a:t>CSV</a:t>
            </a:r>
            <a:r>
              <a:rPr lang="ja-JP" altLang="en-US" sz="3600" dirty="0">
                <a:solidFill>
                  <a:srgbClr val="000000"/>
                </a:solidFill>
                <a:latin typeface="游ゴシック"/>
                <a:ea typeface="游ゴシック" pitchFamily="50"/>
              </a:rPr>
              <a:t>出力</a:t>
            </a:r>
            <a:r>
              <a:rPr lang="ja-JP" altLang="en-US" sz="3600" b="0" i="0" u="none" strike="noStrike" kern="1200" cap="none" spc="0" baseline="0" dirty="0">
                <a:solidFill>
                  <a:srgbClr val="000000"/>
                </a:solidFill>
                <a:uFillTx/>
                <a:latin typeface="游ゴシック"/>
                <a:ea typeface="游ゴシック" pitchFamily="50"/>
              </a:rPr>
              <a:t>機能</a:t>
            </a:r>
            <a:endParaRPr lang="en-US" sz="3600" b="0" i="0" u="none" strike="noStrike" kern="1200" cap="none" spc="0" baseline="0" dirty="0">
              <a:solidFill>
                <a:srgbClr val="000000"/>
              </a:solidFill>
              <a:uFillTx/>
              <a:latin typeface="游ゴシック"/>
              <a:ea typeface="游ゴシック" pitchFamily="50"/>
            </a:endParaRPr>
          </a:p>
        </p:txBody>
      </p:sp>
      <p:sp>
        <p:nvSpPr>
          <p:cNvPr id="20" name="円: 塗りつぶしなし 19">
            <a:extLst>
              <a:ext uri="{FF2B5EF4-FFF2-40B4-BE49-F238E27FC236}">
                <a16:creationId xmlns:a16="http://schemas.microsoft.com/office/drawing/2014/main" id="{97A5A818-1ADF-FBB8-485E-3994D067E62F}"/>
              </a:ext>
            </a:extLst>
          </p:cNvPr>
          <p:cNvSpPr/>
          <p:nvPr/>
        </p:nvSpPr>
        <p:spPr>
          <a:xfrm>
            <a:off x="11457974" y="1194833"/>
            <a:ext cx="283642" cy="266941"/>
          </a:xfrm>
          <a:prstGeom prst="donu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正方形/長方形 23">
            <a:extLst>
              <a:ext uri="{FF2B5EF4-FFF2-40B4-BE49-F238E27FC236}">
                <a16:creationId xmlns:a16="http://schemas.microsoft.com/office/drawing/2014/main" id="{2CAEEBA4-5848-8ED0-9BA9-FD8364A3775D}"/>
              </a:ext>
            </a:extLst>
          </p:cNvPr>
          <p:cNvSpPr/>
          <p:nvPr/>
        </p:nvSpPr>
        <p:spPr>
          <a:xfrm rot="7871681">
            <a:off x="11742067" y="1340078"/>
            <a:ext cx="45719" cy="274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09EC6F2A-EB3D-D66F-C303-4FAC13A125F4}"/>
              </a:ext>
            </a:extLst>
          </p:cNvPr>
          <p:cNvSpPr/>
          <p:nvPr/>
        </p:nvSpPr>
        <p:spPr>
          <a:xfrm>
            <a:off x="5228418"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52A79565-B793-73BF-C54D-BB2EA51F7ABD}"/>
              </a:ext>
            </a:extLst>
          </p:cNvPr>
          <p:cNvSpPr/>
          <p:nvPr/>
        </p:nvSpPr>
        <p:spPr>
          <a:xfrm>
            <a:off x="7132199" y="1894627"/>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5011DF6E-6499-7E04-3947-FB219CD73B82}"/>
              </a:ext>
            </a:extLst>
          </p:cNvPr>
          <p:cNvSpPr/>
          <p:nvPr/>
        </p:nvSpPr>
        <p:spPr>
          <a:xfrm>
            <a:off x="9035980"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22D82FAE-182B-6C1C-D834-20B97B563A9A}"/>
              </a:ext>
            </a:extLst>
          </p:cNvPr>
          <p:cNvSpPr/>
          <p:nvPr/>
        </p:nvSpPr>
        <p:spPr>
          <a:xfrm>
            <a:off x="10939761"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0" name="表 29">
            <a:extLst>
              <a:ext uri="{FF2B5EF4-FFF2-40B4-BE49-F238E27FC236}">
                <a16:creationId xmlns:a16="http://schemas.microsoft.com/office/drawing/2014/main" id="{FDE8D60A-3014-5F65-8CC7-25C0CA193F57}"/>
              </a:ext>
            </a:extLst>
          </p:cNvPr>
          <p:cNvGraphicFramePr>
            <a:graphicFrameLocks noGrp="1"/>
          </p:cNvGraphicFramePr>
          <p:nvPr/>
        </p:nvGraphicFramePr>
        <p:xfrm>
          <a:off x="0" y="2590586"/>
          <a:ext cx="12192000" cy="4383596"/>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843818313"/>
                    </a:ext>
                  </a:extLst>
                </a:gridCol>
                <a:gridCol w="674914">
                  <a:extLst>
                    <a:ext uri="{9D8B030D-6E8A-4147-A177-3AD203B41FA5}">
                      <a16:colId xmlns:a16="http://schemas.microsoft.com/office/drawing/2014/main" val="2593793615"/>
                    </a:ext>
                  </a:extLst>
                </a:gridCol>
                <a:gridCol w="990600">
                  <a:extLst>
                    <a:ext uri="{9D8B030D-6E8A-4147-A177-3AD203B41FA5}">
                      <a16:colId xmlns:a16="http://schemas.microsoft.com/office/drawing/2014/main" val="3819324818"/>
                    </a:ext>
                  </a:extLst>
                </a:gridCol>
                <a:gridCol w="903515">
                  <a:extLst>
                    <a:ext uri="{9D8B030D-6E8A-4147-A177-3AD203B41FA5}">
                      <a16:colId xmlns:a16="http://schemas.microsoft.com/office/drawing/2014/main" val="582941768"/>
                    </a:ext>
                  </a:extLst>
                </a:gridCol>
                <a:gridCol w="1099457">
                  <a:extLst>
                    <a:ext uri="{9D8B030D-6E8A-4147-A177-3AD203B41FA5}">
                      <a16:colId xmlns:a16="http://schemas.microsoft.com/office/drawing/2014/main" val="326648018"/>
                    </a:ext>
                  </a:extLst>
                </a:gridCol>
                <a:gridCol w="642257">
                  <a:extLst>
                    <a:ext uri="{9D8B030D-6E8A-4147-A177-3AD203B41FA5}">
                      <a16:colId xmlns:a16="http://schemas.microsoft.com/office/drawing/2014/main" val="3442362932"/>
                    </a:ext>
                  </a:extLst>
                </a:gridCol>
                <a:gridCol w="707571">
                  <a:extLst>
                    <a:ext uri="{9D8B030D-6E8A-4147-A177-3AD203B41FA5}">
                      <a16:colId xmlns:a16="http://schemas.microsoft.com/office/drawing/2014/main" val="1894457544"/>
                    </a:ext>
                  </a:extLst>
                </a:gridCol>
                <a:gridCol w="1208315">
                  <a:extLst>
                    <a:ext uri="{9D8B030D-6E8A-4147-A177-3AD203B41FA5}">
                      <a16:colId xmlns:a16="http://schemas.microsoft.com/office/drawing/2014/main" val="3378677225"/>
                    </a:ext>
                  </a:extLst>
                </a:gridCol>
                <a:gridCol w="838200">
                  <a:extLst>
                    <a:ext uri="{9D8B030D-6E8A-4147-A177-3AD203B41FA5}">
                      <a16:colId xmlns:a16="http://schemas.microsoft.com/office/drawing/2014/main" val="2724634915"/>
                    </a:ext>
                  </a:extLst>
                </a:gridCol>
                <a:gridCol w="1012371">
                  <a:extLst>
                    <a:ext uri="{9D8B030D-6E8A-4147-A177-3AD203B41FA5}">
                      <a16:colId xmlns:a16="http://schemas.microsoft.com/office/drawing/2014/main" val="2886769858"/>
                    </a:ext>
                  </a:extLst>
                </a:gridCol>
                <a:gridCol w="1883229">
                  <a:extLst>
                    <a:ext uri="{9D8B030D-6E8A-4147-A177-3AD203B41FA5}">
                      <a16:colId xmlns:a16="http://schemas.microsoft.com/office/drawing/2014/main" val="638158319"/>
                    </a:ext>
                  </a:extLst>
                </a:gridCol>
                <a:gridCol w="1317171">
                  <a:extLst>
                    <a:ext uri="{9D8B030D-6E8A-4147-A177-3AD203B41FA5}">
                      <a16:colId xmlns:a16="http://schemas.microsoft.com/office/drawing/2014/main" val="3725689978"/>
                    </a:ext>
                  </a:extLst>
                </a:gridCol>
              </a:tblGrid>
              <a:tr h="534788">
                <a:tc>
                  <a:txBody>
                    <a:bodyPr/>
                    <a:lstStyle/>
                    <a:p>
                      <a:pPr algn="ctr"/>
                      <a:r>
                        <a:rPr kumimoji="1" lang="ja-JP" altLang="en-US" sz="1200" dirty="0"/>
                        <a:t>氏名</a:t>
                      </a:r>
                    </a:p>
                  </a:txBody>
                  <a:tcPr/>
                </a:tc>
                <a:tc>
                  <a:txBody>
                    <a:bodyPr/>
                    <a:lstStyle/>
                    <a:p>
                      <a:pPr algn="ctr"/>
                      <a:r>
                        <a:rPr kumimoji="1" lang="ja-JP" altLang="en-US" sz="1200" dirty="0"/>
                        <a:t>社員</a:t>
                      </a:r>
                      <a:r>
                        <a:rPr kumimoji="1" lang="en-US" altLang="ja-JP" sz="1200" dirty="0"/>
                        <a:t>ID</a:t>
                      </a:r>
                      <a:endParaRPr kumimoji="1" lang="ja-JP" altLang="en-US" sz="1200" dirty="0"/>
                    </a:p>
                  </a:txBody>
                  <a:tcPr/>
                </a:tc>
                <a:tc>
                  <a:txBody>
                    <a:bodyPr/>
                    <a:lstStyle/>
                    <a:p>
                      <a:pPr algn="ctr"/>
                      <a:r>
                        <a:rPr kumimoji="1" lang="ja-JP" altLang="en-US" sz="1200" dirty="0"/>
                        <a:t>生年月日</a:t>
                      </a:r>
                    </a:p>
                  </a:txBody>
                  <a:tcPr/>
                </a:tc>
                <a:tc>
                  <a:txBody>
                    <a:bodyPr/>
                    <a:lstStyle/>
                    <a:p>
                      <a:pPr algn="ctr"/>
                      <a:r>
                        <a:rPr kumimoji="1" lang="ja-JP" altLang="en-US" sz="1200" dirty="0"/>
                        <a:t>入社年月</a:t>
                      </a:r>
                    </a:p>
                  </a:txBody>
                  <a:tcPr/>
                </a:tc>
                <a:tc>
                  <a:txBody>
                    <a:bodyPr/>
                    <a:lstStyle/>
                    <a:p>
                      <a:pPr algn="ctr"/>
                      <a:r>
                        <a:rPr kumimoji="1" lang="ja-JP" altLang="en-US" sz="1200" dirty="0"/>
                        <a:t>エンジニア歴</a:t>
                      </a:r>
                    </a:p>
                  </a:txBody>
                  <a:tcPr/>
                </a:tc>
                <a:tc>
                  <a:txBody>
                    <a:bodyPr/>
                    <a:lstStyle/>
                    <a:p>
                      <a:pPr algn="ctr"/>
                      <a:r>
                        <a:rPr kumimoji="1" lang="ja-JP" altLang="en-US" sz="1200" dirty="0"/>
                        <a:t>言語</a:t>
                      </a:r>
                    </a:p>
                  </a:txBody>
                  <a:tcPr/>
                </a:tc>
                <a:tc>
                  <a:txBody>
                    <a:bodyPr/>
                    <a:lstStyle/>
                    <a:p>
                      <a:pPr algn="ctr"/>
                      <a:r>
                        <a:rPr kumimoji="1" lang="ja-JP" altLang="en-US" sz="1200" dirty="0"/>
                        <a:t>経歴</a:t>
                      </a:r>
                    </a:p>
                  </a:txBody>
                  <a:tcPr/>
                </a:tc>
                <a:tc>
                  <a:txBody>
                    <a:bodyPr/>
                    <a:lstStyle/>
                    <a:p>
                      <a:pPr algn="ctr"/>
                      <a:r>
                        <a:rPr kumimoji="1" lang="ja-JP" altLang="en-US" sz="1200" dirty="0"/>
                        <a:t>研修受講歴</a:t>
                      </a:r>
                    </a:p>
                  </a:txBody>
                  <a:tcPr/>
                </a:tc>
                <a:tc>
                  <a:txBody>
                    <a:bodyPr/>
                    <a:lstStyle/>
                    <a:p>
                      <a:pPr algn="ctr"/>
                      <a:r>
                        <a:rPr kumimoji="1" lang="ja-JP" altLang="en-US" sz="1200" dirty="0"/>
                        <a:t>技術力</a:t>
                      </a:r>
                    </a:p>
                  </a:txBody>
                  <a:tcPr/>
                </a:tc>
                <a:tc>
                  <a:txBody>
                    <a:bodyPr/>
                    <a:lstStyle/>
                    <a:p>
                      <a:pPr algn="ctr"/>
                      <a:r>
                        <a:rPr kumimoji="1" lang="ja-JP" altLang="en-US" sz="1200" dirty="0"/>
                        <a:t>受講態度</a:t>
                      </a:r>
                    </a:p>
                  </a:txBody>
                  <a:tcPr/>
                </a:tc>
                <a:tc>
                  <a:txBody>
                    <a:bodyPr/>
                    <a:lstStyle/>
                    <a:p>
                      <a:pPr algn="ctr"/>
                      <a:r>
                        <a:rPr kumimoji="1" lang="ja-JP" altLang="en-US" sz="1200" dirty="0"/>
                        <a:t>コミュニケーション能力</a:t>
                      </a:r>
                    </a:p>
                  </a:txBody>
                  <a:tcPr/>
                </a:tc>
                <a:tc>
                  <a:txBody>
                    <a:bodyPr/>
                    <a:lstStyle/>
                    <a:p>
                      <a:pPr algn="ctr"/>
                      <a:r>
                        <a:rPr kumimoji="1" lang="ja-JP" altLang="en-US" sz="1200" dirty="0"/>
                        <a:t>リーダーシップ</a:t>
                      </a:r>
                    </a:p>
                  </a:txBody>
                  <a:tcPr/>
                </a:tc>
                <a:extLst>
                  <a:ext uri="{0D108BD9-81ED-4DB2-BD59-A6C34878D82A}">
                    <a16:rowId xmlns:a16="http://schemas.microsoft.com/office/drawing/2014/main" val="3031805351"/>
                  </a:ext>
                </a:extLst>
              </a:tr>
              <a:tr h="534788">
                <a:tc>
                  <a:txBody>
                    <a:bodyPr/>
                    <a:lstStyle/>
                    <a:p>
                      <a:r>
                        <a:rPr kumimoji="1" lang="ja-JP" altLang="en-US" sz="1200" dirty="0"/>
                        <a:t>山田 太郎</a:t>
                      </a:r>
                    </a:p>
                  </a:txBody>
                  <a:tcPr>
                    <a:solidFill>
                      <a:srgbClr val="FF0000"/>
                    </a:solidFill>
                  </a:tcPr>
                </a:tc>
                <a:tc>
                  <a:txBody>
                    <a:bodyPr/>
                    <a:lstStyle/>
                    <a:p>
                      <a:r>
                        <a:rPr kumimoji="1" lang="en-US" altLang="ja-JP" sz="1200" dirty="0"/>
                        <a:t>00001</a:t>
                      </a:r>
                    </a:p>
                  </a:txBody>
                  <a:tcPr>
                    <a:solidFill>
                      <a:srgbClr val="FF0000"/>
                    </a:solidFill>
                  </a:tcPr>
                </a:tc>
                <a:tc>
                  <a:txBody>
                    <a:bodyPr/>
                    <a:lstStyle/>
                    <a:p>
                      <a:r>
                        <a:rPr kumimoji="1" lang="en-US" altLang="ja-JP" sz="1200" dirty="0"/>
                        <a:t>1989/2/14</a:t>
                      </a:r>
                      <a:endParaRPr kumimoji="1" lang="ja-JP" altLang="en-US" sz="1200" dirty="0"/>
                    </a:p>
                  </a:txBody>
                  <a:tcPr>
                    <a:solidFill>
                      <a:srgbClr val="FF0000"/>
                    </a:solidFill>
                  </a:tcPr>
                </a:tc>
                <a:tc>
                  <a:txBody>
                    <a:bodyPr/>
                    <a:lstStyle/>
                    <a:p>
                      <a:r>
                        <a:rPr kumimoji="1" lang="en-US" altLang="ja-JP" sz="1200" dirty="0"/>
                        <a:t>2017/4</a:t>
                      </a:r>
                      <a:endParaRPr kumimoji="1" lang="ja-JP" altLang="en-US" sz="1200" dirty="0"/>
                    </a:p>
                  </a:txBody>
                  <a:tcPr>
                    <a:solidFill>
                      <a:srgbClr val="FF0000"/>
                    </a:solidFill>
                  </a:tcPr>
                </a:tc>
                <a:tc>
                  <a:txBody>
                    <a:bodyPr/>
                    <a:lstStyle/>
                    <a:p>
                      <a:r>
                        <a:rPr kumimoji="1" lang="en-US" altLang="ja-JP" sz="1200" dirty="0"/>
                        <a:t>13</a:t>
                      </a:r>
                      <a:r>
                        <a:rPr kumimoji="1" lang="ja-JP" altLang="en-US" sz="1200" dirty="0"/>
                        <a:t>年</a:t>
                      </a:r>
                      <a:r>
                        <a:rPr kumimoji="1" lang="en-US" altLang="ja-JP" sz="1200" dirty="0"/>
                        <a:t>2</a:t>
                      </a:r>
                      <a:r>
                        <a:rPr kumimoji="1" lang="ja-JP" altLang="en-US" sz="1200" dirty="0"/>
                        <a:t>ヶ月</a:t>
                      </a:r>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extLst>
                  <a:ext uri="{0D108BD9-81ED-4DB2-BD59-A6C34878D82A}">
                    <a16:rowId xmlns:a16="http://schemas.microsoft.com/office/drawing/2014/main" val="1181288494"/>
                  </a:ext>
                </a:extLst>
              </a:tr>
              <a:tr h="534788">
                <a:tc>
                  <a:txBody>
                    <a:bodyPr/>
                    <a:lstStyle/>
                    <a:p>
                      <a:r>
                        <a:rPr kumimoji="1" lang="ja-JP" altLang="en-US" sz="1200" dirty="0"/>
                        <a:t>田中 花子</a:t>
                      </a:r>
                    </a:p>
                  </a:txBody>
                  <a:tcPr/>
                </a:tc>
                <a:tc>
                  <a:txBody>
                    <a:bodyPr/>
                    <a:lstStyle/>
                    <a:p>
                      <a:r>
                        <a:rPr kumimoji="1" lang="en-US" altLang="ja-JP" sz="1200" dirty="0"/>
                        <a:t>00002</a:t>
                      </a:r>
                      <a:endParaRPr kumimoji="1" lang="ja-JP" altLang="en-US" sz="1200" dirty="0"/>
                    </a:p>
                  </a:txBody>
                  <a:tcPr/>
                </a:tc>
                <a:tc>
                  <a:txBody>
                    <a:bodyPr/>
                    <a:lstStyle/>
                    <a:p>
                      <a:r>
                        <a:rPr kumimoji="1" lang="en-US" altLang="ja-JP" sz="1200" dirty="0"/>
                        <a:t>1992/1/23</a:t>
                      </a:r>
                      <a:endParaRPr kumimoji="1" lang="ja-JP" altLang="en-US" sz="1200" dirty="0"/>
                    </a:p>
                  </a:txBody>
                  <a:tcPr/>
                </a:tc>
                <a:tc>
                  <a:txBody>
                    <a:bodyPr/>
                    <a:lstStyle/>
                    <a:p>
                      <a:r>
                        <a:rPr kumimoji="1" lang="en-US" altLang="ja-JP" sz="1200" dirty="0"/>
                        <a:t>2017/4</a:t>
                      </a:r>
                      <a:endParaRPr kumimoji="1" lang="ja-JP" altLang="en-US" sz="1200" dirty="0"/>
                    </a:p>
                  </a:txBody>
                  <a:tcPr/>
                </a:tc>
                <a:tc>
                  <a:txBody>
                    <a:bodyPr/>
                    <a:lstStyle/>
                    <a:p>
                      <a:r>
                        <a:rPr kumimoji="1" lang="en-US" altLang="ja-JP" sz="1200" dirty="0"/>
                        <a:t>9</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p>
                    <a:p>
                      <a:endParaRPr kumimoji="1" lang="ja-JP" altLang="en-US" dirty="0"/>
                    </a:p>
                  </a:txBody>
                  <a:tcPr/>
                </a:tc>
                <a:extLst>
                  <a:ext uri="{0D108BD9-81ED-4DB2-BD59-A6C34878D82A}">
                    <a16:rowId xmlns:a16="http://schemas.microsoft.com/office/drawing/2014/main" val="2841193060"/>
                  </a:ext>
                </a:extLst>
              </a:tr>
              <a:tr h="534788">
                <a:tc>
                  <a:txBody>
                    <a:bodyPr/>
                    <a:lstStyle/>
                    <a:p>
                      <a:r>
                        <a:rPr kumimoji="1" lang="ja-JP" altLang="en-US" sz="1200" dirty="0"/>
                        <a:t>佐藤 健</a:t>
                      </a:r>
                    </a:p>
                  </a:txBody>
                  <a:tcPr/>
                </a:tc>
                <a:tc>
                  <a:txBody>
                    <a:bodyPr/>
                    <a:lstStyle/>
                    <a:p>
                      <a:r>
                        <a:rPr kumimoji="1" lang="en-US" altLang="ja-JP" sz="1200" dirty="0"/>
                        <a:t>00003</a:t>
                      </a:r>
                      <a:endParaRPr kumimoji="1" lang="ja-JP" altLang="en-US" sz="1200" dirty="0"/>
                    </a:p>
                  </a:txBody>
                  <a:tcPr/>
                </a:tc>
                <a:tc>
                  <a:txBody>
                    <a:bodyPr/>
                    <a:lstStyle/>
                    <a:p>
                      <a:r>
                        <a:rPr kumimoji="1" lang="en-US" altLang="ja-JP" sz="1200" dirty="0"/>
                        <a:t>1990/12/31</a:t>
                      </a:r>
                      <a:endParaRPr kumimoji="1" lang="ja-JP" altLang="en-US" sz="1200" dirty="0"/>
                    </a:p>
                  </a:txBody>
                  <a:tcPr/>
                </a:tc>
                <a:tc>
                  <a:txBody>
                    <a:bodyPr/>
                    <a:lstStyle/>
                    <a:p>
                      <a:r>
                        <a:rPr kumimoji="1" lang="en-US" altLang="ja-JP" sz="1200" dirty="0"/>
                        <a:t>2017/10</a:t>
                      </a:r>
                      <a:endParaRPr kumimoji="1" lang="ja-JP" altLang="en-US" sz="1200" dirty="0"/>
                    </a:p>
                  </a:txBody>
                  <a:tcPr/>
                </a:tc>
                <a:tc>
                  <a:txBody>
                    <a:bodyPr/>
                    <a:lstStyle/>
                    <a:p>
                      <a:r>
                        <a:rPr kumimoji="1" lang="en-US" altLang="ja-JP" sz="1200" dirty="0"/>
                        <a:t>8</a:t>
                      </a:r>
                      <a:r>
                        <a:rPr kumimoji="1" lang="ja-JP" altLang="en-US" sz="1200" dirty="0"/>
                        <a:t>年</a:t>
                      </a:r>
                      <a:r>
                        <a:rPr kumimoji="1" lang="en-US" altLang="ja-JP" sz="1200" dirty="0"/>
                        <a:t>8</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125601969"/>
                  </a:ext>
                </a:extLst>
              </a:tr>
              <a:tr h="534788">
                <a:tc>
                  <a:txBody>
                    <a:bodyPr/>
                    <a:lstStyle/>
                    <a:p>
                      <a:r>
                        <a:rPr kumimoji="1" lang="ja-JP" altLang="en-US" sz="1200" dirty="0"/>
                        <a:t>木村 直也</a:t>
                      </a:r>
                    </a:p>
                  </a:txBody>
                  <a:tcPr/>
                </a:tc>
                <a:tc>
                  <a:txBody>
                    <a:bodyPr/>
                    <a:lstStyle/>
                    <a:p>
                      <a:r>
                        <a:rPr kumimoji="1" lang="en-US" altLang="ja-JP" sz="1200" dirty="0"/>
                        <a:t>00004</a:t>
                      </a:r>
                      <a:endParaRPr kumimoji="1" lang="ja-JP" altLang="en-US" sz="1200" dirty="0"/>
                    </a:p>
                  </a:txBody>
                  <a:tcPr/>
                </a:tc>
                <a:tc>
                  <a:txBody>
                    <a:bodyPr/>
                    <a:lstStyle/>
                    <a:p>
                      <a:r>
                        <a:rPr kumimoji="1" lang="en-US" altLang="ja-JP" sz="1200" dirty="0"/>
                        <a:t>2000/4/12</a:t>
                      </a:r>
                      <a:endParaRPr kumimoji="1" lang="ja-JP" altLang="en-US" sz="1200" dirty="0"/>
                    </a:p>
                  </a:txBody>
                  <a:tcPr/>
                </a:tc>
                <a:tc>
                  <a:txBody>
                    <a:bodyPr/>
                    <a:lstStyle/>
                    <a:p>
                      <a:r>
                        <a:rPr kumimoji="1" lang="en-US" altLang="ja-JP" sz="1200" dirty="0"/>
                        <a:t>2024/6</a:t>
                      </a:r>
                      <a:endParaRPr kumimoji="1" lang="ja-JP" altLang="en-US" sz="1200" dirty="0"/>
                    </a:p>
                  </a:txBody>
                  <a:tcPr/>
                </a:tc>
                <a:tc>
                  <a:txBody>
                    <a:bodyPr/>
                    <a:lstStyle/>
                    <a:p>
                      <a:r>
                        <a:rPr kumimoji="1" lang="en-US" altLang="ja-JP" sz="1200" dirty="0"/>
                        <a:t>2</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1267473416"/>
                  </a:ext>
                </a:extLst>
              </a:tr>
              <a:tr h="534788">
                <a:tc>
                  <a:txBody>
                    <a:bodyPr/>
                    <a:lstStyle/>
                    <a:p>
                      <a:r>
                        <a:rPr kumimoji="1" lang="ja-JP" altLang="en-US" sz="1200" dirty="0"/>
                        <a:t>間地 佳代</a:t>
                      </a:r>
                    </a:p>
                  </a:txBody>
                  <a:tcPr>
                    <a:solidFill>
                      <a:srgbClr val="FF0000"/>
                    </a:solidFill>
                  </a:tcPr>
                </a:tc>
                <a:tc>
                  <a:txBody>
                    <a:bodyPr/>
                    <a:lstStyle/>
                    <a:p>
                      <a:r>
                        <a:rPr kumimoji="1" lang="en-US" altLang="ja-JP" sz="1200" dirty="0"/>
                        <a:t>00005</a:t>
                      </a:r>
                      <a:endParaRPr kumimoji="1" lang="ja-JP" altLang="en-US" sz="1200" dirty="0"/>
                    </a:p>
                  </a:txBody>
                  <a:tcPr>
                    <a:solidFill>
                      <a:srgbClr val="FF0000"/>
                    </a:solidFill>
                  </a:tcPr>
                </a:tc>
                <a:tc>
                  <a:txBody>
                    <a:bodyPr/>
                    <a:lstStyle/>
                    <a:p>
                      <a:r>
                        <a:rPr kumimoji="1" lang="en-US" altLang="ja-JP" sz="1200" dirty="0"/>
                        <a:t>1995/10/24</a:t>
                      </a:r>
                      <a:endParaRPr kumimoji="1" lang="ja-JP" altLang="en-US" sz="1200" dirty="0"/>
                    </a:p>
                  </a:txBody>
                  <a:tcPr>
                    <a:solidFill>
                      <a:srgbClr val="FF0000"/>
                    </a:solidFill>
                  </a:tcPr>
                </a:tc>
                <a:tc>
                  <a:txBody>
                    <a:bodyPr/>
                    <a:lstStyle/>
                    <a:p>
                      <a:r>
                        <a:rPr kumimoji="1" lang="en-US" altLang="ja-JP" sz="1200" dirty="0"/>
                        <a:t>2019/4</a:t>
                      </a:r>
                      <a:endParaRPr kumimoji="1" lang="ja-JP" altLang="en-US" sz="1200" dirty="0"/>
                    </a:p>
                  </a:txBody>
                  <a:tcPr>
                    <a:solidFill>
                      <a:srgbClr val="FF0000"/>
                    </a:solidFill>
                  </a:tcPr>
                </a:tc>
                <a:tc>
                  <a:txBody>
                    <a:bodyPr/>
                    <a:lstStyle/>
                    <a:p>
                      <a:r>
                        <a:rPr kumimoji="1" lang="en-US" altLang="ja-JP" sz="1200" dirty="0"/>
                        <a:t>10</a:t>
                      </a:r>
                      <a:r>
                        <a:rPr kumimoji="1" lang="ja-JP" altLang="en-US" sz="1200" dirty="0"/>
                        <a:t>年</a:t>
                      </a:r>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extLst>
                  <a:ext uri="{0D108BD9-81ED-4DB2-BD59-A6C34878D82A}">
                    <a16:rowId xmlns:a16="http://schemas.microsoft.com/office/drawing/2014/main" val="761762557"/>
                  </a:ext>
                </a:extLst>
              </a:tr>
              <a:tr h="534788">
                <a:tc>
                  <a:txBody>
                    <a:bodyPr/>
                    <a:lstStyle/>
                    <a:p>
                      <a:r>
                        <a:rPr kumimoji="1" lang="ja-JP" altLang="en-US" sz="1200" dirty="0"/>
                        <a:t>秋葉 花</a:t>
                      </a:r>
                    </a:p>
                  </a:txBody>
                  <a:tcPr/>
                </a:tc>
                <a:tc>
                  <a:txBody>
                    <a:bodyPr/>
                    <a:lstStyle/>
                    <a:p>
                      <a:r>
                        <a:rPr kumimoji="1" lang="en-US" altLang="ja-JP" sz="1200" dirty="0"/>
                        <a:t>00006</a:t>
                      </a:r>
                      <a:endParaRPr kumimoji="1" lang="ja-JP" altLang="en-US" sz="1200" dirty="0"/>
                    </a:p>
                  </a:txBody>
                  <a:tcPr/>
                </a:tc>
                <a:tc>
                  <a:txBody>
                    <a:bodyPr/>
                    <a:lstStyle/>
                    <a:p>
                      <a:r>
                        <a:rPr kumimoji="1" lang="en-US" altLang="ja-JP" sz="1200" dirty="0"/>
                        <a:t>1996/2/23</a:t>
                      </a:r>
                      <a:endParaRPr kumimoji="1" lang="ja-JP" altLang="en-US" sz="1200" dirty="0"/>
                    </a:p>
                  </a:txBody>
                  <a:tcPr/>
                </a:tc>
                <a:tc>
                  <a:txBody>
                    <a:bodyPr/>
                    <a:lstStyle/>
                    <a:p>
                      <a:r>
                        <a:rPr kumimoji="1" lang="en-US" altLang="ja-JP" sz="1200" dirty="0"/>
                        <a:t>2022/7</a:t>
                      </a:r>
                      <a:endParaRPr kumimoji="1" lang="ja-JP" altLang="en-US" sz="1200" dirty="0"/>
                    </a:p>
                  </a:txBody>
                  <a:tcPr/>
                </a:tc>
                <a:tc>
                  <a:txBody>
                    <a:bodyPr/>
                    <a:lstStyle/>
                    <a:p>
                      <a:r>
                        <a:rPr kumimoji="1" lang="en-US" altLang="ja-JP" sz="1200" dirty="0"/>
                        <a:t>3</a:t>
                      </a:r>
                      <a:r>
                        <a:rPr kumimoji="1" lang="ja-JP" altLang="en-US" sz="1200" dirty="0"/>
                        <a:t>年</a:t>
                      </a:r>
                      <a:r>
                        <a:rPr kumimoji="1" lang="en-US" altLang="ja-JP" sz="1200" dirty="0"/>
                        <a:t>10</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902287736"/>
                  </a:ext>
                </a:extLst>
              </a:tr>
              <a:tr h="534788">
                <a:tc>
                  <a:txBody>
                    <a:bodyPr/>
                    <a:lstStyle/>
                    <a:p>
                      <a:r>
                        <a:rPr kumimoji="1" lang="ja-JP" altLang="en-US" sz="1200" dirty="0"/>
                        <a:t>野原 しん</a:t>
                      </a:r>
                    </a:p>
                  </a:txBody>
                  <a:tcPr/>
                </a:tc>
                <a:tc>
                  <a:txBody>
                    <a:bodyPr/>
                    <a:lstStyle/>
                    <a:p>
                      <a:r>
                        <a:rPr kumimoji="1" lang="en-US" altLang="ja-JP" sz="1200" dirty="0"/>
                        <a:t>00007</a:t>
                      </a:r>
                      <a:endParaRPr kumimoji="1" lang="ja-JP" altLang="en-US" sz="1200" dirty="0"/>
                    </a:p>
                  </a:txBody>
                  <a:tcPr/>
                </a:tc>
                <a:tc>
                  <a:txBody>
                    <a:bodyPr/>
                    <a:lstStyle/>
                    <a:p>
                      <a:r>
                        <a:rPr kumimoji="1" lang="en-US" altLang="ja-JP" sz="1200" dirty="0"/>
                        <a:t>2003/1/30</a:t>
                      </a:r>
                      <a:endParaRPr kumimoji="1" lang="ja-JP" altLang="en-US" sz="1200" dirty="0"/>
                    </a:p>
                  </a:txBody>
                  <a:tcPr/>
                </a:tc>
                <a:tc>
                  <a:txBody>
                    <a:bodyPr/>
                    <a:lstStyle/>
                    <a:p>
                      <a:r>
                        <a:rPr kumimoji="1" lang="en-US" altLang="ja-JP" sz="1200" dirty="0"/>
                        <a:t>2025/12</a:t>
                      </a:r>
                      <a:endParaRPr kumimoji="1" lang="ja-JP" altLang="en-US" sz="1200" dirty="0"/>
                    </a:p>
                  </a:txBody>
                  <a:tcPr/>
                </a:tc>
                <a:tc>
                  <a:txBody>
                    <a:bodyPr/>
                    <a:lstStyle/>
                    <a:p>
                      <a:r>
                        <a:rPr kumimoji="1" lang="en-US" altLang="ja-JP" sz="1200" dirty="0"/>
                        <a:t>5</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924052398"/>
                  </a:ext>
                </a:extLst>
              </a:tr>
            </a:tbl>
          </a:graphicData>
        </a:graphic>
      </p:graphicFrame>
      <p:sp>
        <p:nvSpPr>
          <p:cNvPr id="31" name="テキスト ボックス 30">
            <a:extLst>
              <a:ext uri="{FF2B5EF4-FFF2-40B4-BE49-F238E27FC236}">
                <a16:creationId xmlns:a16="http://schemas.microsoft.com/office/drawing/2014/main" id="{DEC74334-BD10-DBDE-DC3D-9274B42258A2}"/>
              </a:ext>
            </a:extLst>
          </p:cNvPr>
          <p:cNvSpPr txBox="1"/>
          <p:nvPr/>
        </p:nvSpPr>
        <p:spPr>
          <a:xfrm>
            <a:off x="5362247" y="1925891"/>
            <a:ext cx="914400" cy="369332"/>
          </a:xfrm>
          <a:prstGeom prst="rect">
            <a:avLst/>
          </a:prstGeom>
          <a:noFill/>
        </p:spPr>
        <p:txBody>
          <a:bodyPr wrap="square" rtlCol="0">
            <a:spAutoFit/>
          </a:bodyPr>
          <a:lstStyle/>
          <a:p>
            <a:r>
              <a:rPr kumimoji="1" lang="ja-JP" altLang="en-US" dirty="0">
                <a:solidFill>
                  <a:schemeClr val="bg1"/>
                </a:solidFill>
              </a:rPr>
              <a:t>ソート</a:t>
            </a:r>
          </a:p>
        </p:txBody>
      </p:sp>
      <p:sp>
        <p:nvSpPr>
          <p:cNvPr id="33" name="テキスト ボックス 32">
            <a:extLst>
              <a:ext uri="{FF2B5EF4-FFF2-40B4-BE49-F238E27FC236}">
                <a16:creationId xmlns:a16="http://schemas.microsoft.com/office/drawing/2014/main" id="{2970781C-F693-5DF4-3F8E-EB1CCC0C469A}"/>
              </a:ext>
            </a:extLst>
          </p:cNvPr>
          <p:cNvSpPr txBox="1"/>
          <p:nvPr/>
        </p:nvSpPr>
        <p:spPr>
          <a:xfrm>
            <a:off x="7361056" y="1923575"/>
            <a:ext cx="914400" cy="369332"/>
          </a:xfrm>
          <a:prstGeom prst="rect">
            <a:avLst/>
          </a:prstGeom>
          <a:noFill/>
        </p:spPr>
        <p:txBody>
          <a:bodyPr wrap="square" rtlCol="0">
            <a:spAutoFit/>
          </a:bodyPr>
          <a:lstStyle/>
          <a:p>
            <a:r>
              <a:rPr kumimoji="1" lang="ja-JP" altLang="en-US" dirty="0"/>
              <a:t>選択</a:t>
            </a:r>
          </a:p>
        </p:txBody>
      </p:sp>
      <p:sp>
        <p:nvSpPr>
          <p:cNvPr id="34" name="テキスト ボックス 33">
            <a:extLst>
              <a:ext uri="{FF2B5EF4-FFF2-40B4-BE49-F238E27FC236}">
                <a16:creationId xmlns:a16="http://schemas.microsoft.com/office/drawing/2014/main" id="{926D3E6D-B195-83BF-D1E3-8FDC8094F406}"/>
              </a:ext>
            </a:extLst>
          </p:cNvPr>
          <p:cNvSpPr txBox="1"/>
          <p:nvPr/>
        </p:nvSpPr>
        <p:spPr>
          <a:xfrm>
            <a:off x="9243905" y="1923575"/>
            <a:ext cx="646331" cy="369332"/>
          </a:xfrm>
          <a:prstGeom prst="rect">
            <a:avLst/>
          </a:prstGeom>
          <a:noFill/>
        </p:spPr>
        <p:txBody>
          <a:bodyPr wrap="none" rtlCol="0">
            <a:spAutoFit/>
          </a:bodyPr>
          <a:lstStyle/>
          <a:p>
            <a:r>
              <a:rPr kumimoji="1" lang="ja-JP" altLang="en-US" dirty="0">
                <a:solidFill>
                  <a:srgbClr val="FF0000"/>
                </a:solidFill>
              </a:rPr>
              <a:t>削除</a:t>
            </a:r>
          </a:p>
        </p:txBody>
      </p:sp>
      <p:sp>
        <p:nvSpPr>
          <p:cNvPr id="35" name="テキスト ボックス 34">
            <a:extLst>
              <a:ext uri="{FF2B5EF4-FFF2-40B4-BE49-F238E27FC236}">
                <a16:creationId xmlns:a16="http://schemas.microsoft.com/office/drawing/2014/main" id="{854C7065-7DFF-6E78-CE77-7472A29D305D}"/>
              </a:ext>
            </a:extLst>
          </p:cNvPr>
          <p:cNvSpPr txBox="1"/>
          <p:nvPr/>
        </p:nvSpPr>
        <p:spPr>
          <a:xfrm>
            <a:off x="11147686" y="1923575"/>
            <a:ext cx="646331" cy="369332"/>
          </a:xfrm>
          <a:prstGeom prst="rect">
            <a:avLst/>
          </a:prstGeom>
          <a:noFill/>
        </p:spPr>
        <p:txBody>
          <a:bodyPr wrap="none" rtlCol="0">
            <a:spAutoFit/>
          </a:bodyPr>
          <a:lstStyle/>
          <a:p>
            <a:r>
              <a:rPr kumimoji="1" lang="ja-JP" altLang="en-US" dirty="0">
                <a:solidFill>
                  <a:schemeClr val="bg1"/>
                </a:solidFill>
              </a:rPr>
              <a:t>出力</a:t>
            </a:r>
          </a:p>
        </p:txBody>
      </p:sp>
    </p:spTree>
    <p:extLst>
      <p:ext uri="{BB962C8B-B14F-4D97-AF65-F5344CB8AC3E}">
        <p14:creationId xmlns:p14="http://schemas.microsoft.com/office/powerpoint/2010/main" val="2016741621"/>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C34D3-E015-4B43-EA85-AA3B95788828}"/>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10BBDCD5-8215-69F1-D7B4-688515EFE0B5}"/>
              </a:ext>
            </a:extLst>
          </p:cNvPr>
          <p:cNvSpPr/>
          <p:nvPr/>
        </p:nvSpPr>
        <p:spPr>
          <a:xfrm>
            <a:off x="0" y="925290"/>
            <a:ext cx="12192000"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4" name="テキスト ボックス 5">
            <a:extLst>
              <a:ext uri="{FF2B5EF4-FFF2-40B4-BE49-F238E27FC236}">
                <a16:creationId xmlns:a16="http://schemas.microsoft.com/office/drawing/2014/main" id="{3D7C1055-E582-7375-2EC2-280FE65C3939}"/>
              </a:ext>
            </a:extLst>
          </p:cNvPr>
          <p:cNvSpPr txBox="1"/>
          <p:nvPr/>
        </p:nvSpPr>
        <p:spPr>
          <a:xfrm>
            <a:off x="400828" y="1097007"/>
            <a:ext cx="3475927" cy="64633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altLang="en-US" sz="3600" b="0" i="0" u="none" strike="noStrike" kern="1200" cap="none" spc="0" baseline="0" dirty="0">
                <a:solidFill>
                  <a:srgbClr val="FFFFFF"/>
                </a:solidFill>
                <a:uFillTx/>
                <a:latin typeface="游ゴシック"/>
                <a:ea typeface="游ゴシック" pitchFamily="50"/>
              </a:rPr>
              <a:t>エンジニア一覧</a:t>
            </a:r>
            <a:endParaRPr lang="en-US" sz="3600" b="0" i="0" u="none" strike="noStrike" kern="1200" cap="none" spc="0" baseline="0" dirty="0">
              <a:solidFill>
                <a:srgbClr val="FFFFFF"/>
              </a:solidFill>
              <a:uFillTx/>
              <a:latin typeface="游ゴシック"/>
              <a:ea typeface="游ゴシック" pitchFamily="50"/>
            </a:endParaRPr>
          </a:p>
        </p:txBody>
      </p:sp>
      <p:sp>
        <p:nvSpPr>
          <p:cNvPr id="6" name="正方形/長方形 6">
            <a:extLst>
              <a:ext uri="{FF2B5EF4-FFF2-40B4-BE49-F238E27FC236}">
                <a16:creationId xmlns:a16="http://schemas.microsoft.com/office/drawing/2014/main" id="{DD957F5D-944C-F39E-1CD8-AC08BAFB8254}"/>
              </a:ext>
            </a:extLst>
          </p:cNvPr>
          <p:cNvSpPr/>
          <p:nvPr/>
        </p:nvSpPr>
        <p:spPr>
          <a:xfrm>
            <a:off x="9428622" y="1134209"/>
            <a:ext cx="2573321" cy="507204"/>
          </a:xfrm>
          <a:prstGeom prst="rect">
            <a:avLst/>
          </a:prstGeom>
          <a:solidFill>
            <a:srgbClr val="D9D9D9"/>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84CF90FB-77C3-7564-26B5-68CCF9DAE6C8}"/>
              </a:ext>
            </a:extLst>
          </p:cNvPr>
          <p:cNvSpPr txBox="1"/>
          <p:nvPr/>
        </p:nvSpPr>
        <p:spPr>
          <a:xfrm>
            <a:off x="304796" y="195946"/>
            <a:ext cx="4572085"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a:t>
            </a:r>
            <a:r>
              <a:rPr lang="en-US" altLang="ja-JP" sz="3600" b="0" i="0" u="none" strike="noStrike" kern="1200" cap="none" spc="0" baseline="0" dirty="0">
                <a:solidFill>
                  <a:srgbClr val="000000"/>
                </a:solidFill>
                <a:uFillTx/>
                <a:latin typeface="游ゴシック"/>
                <a:ea typeface="游ゴシック" pitchFamily="50"/>
              </a:rPr>
              <a:t>-5</a:t>
            </a:r>
            <a:r>
              <a:rPr lang="ja-JP" sz="3600" b="0" i="0" u="none" strike="noStrike" kern="1200" cap="none" spc="0" baseline="0" dirty="0">
                <a:solidFill>
                  <a:srgbClr val="000000"/>
                </a:solidFill>
                <a:uFillTx/>
                <a:latin typeface="游ゴシック"/>
                <a:ea typeface="游ゴシック" pitchFamily="50"/>
              </a:rPr>
              <a:t>　</a:t>
            </a:r>
            <a:r>
              <a:rPr lang="en-US" altLang="ja-JP" sz="3600" dirty="0">
                <a:solidFill>
                  <a:srgbClr val="000000"/>
                </a:solidFill>
                <a:latin typeface="游ゴシック"/>
                <a:ea typeface="游ゴシック" pitchFamily="50"/>
              </a:rPr>
              <a:t>CSV</a:t>
            </a:r>
            <a:r>
              <a:rPr lang="ja-JP" altLang="en-US" sz="3600" dirty="0">
                <a:solidFill>
                  <a:srgbClr val="000000"/>
                </a:solidFill>
                <a:latin typeface="游ゴシック"/>
                <a:ea typeface="游ゴシック" pitchFamily="50"/>
              </a:rPr>
              <a:t>出力</a:t>
            </a:r>
            <a:r>
              <a:rPr lang="ja-JP" altLang="en-US" sz="3600" b="0" i="0" u="none" strike="noStrike" kern="1200" cap="none" spc="0" baseline="0" dirty="0">
                <a:solidFill>
                  <a:srgbClr val="000000"/>
                </a:solidFill>
                <a:uFillTx/>
                <a:latin typeface="游ゴシック"/>
                <a:ea typeface="游ゴシック" pitchFamily="50"/>
              </a:rPr>
              <a:t>機能</a:t>
            </a:r>
            <a:endParaRPr lang="en-US" sz="3600" b="0" i="0" u="none" strike="noStrike" kern="1200" cap="none" spc="0" baseline="0" dirty="0">
              <a:solidFill>
                <a:srgbClr val="000000"/>
              </a:solidFill>
              <a:uFillTx/>
              <a:latin typeface="游ゴシック"/>
              <a:ea typeface="游ゴシック" pitchFamily="50"/>
            </a:endParaRPr>
          </a:p>
        </p:txBody>
      </p:sp>
      <p:sp>
        <p:nvSpPr>
          <p:cNvPr id="20" name="円: 塗りつぶしなし 19">
            <a:extLst>
              <a:ext uri="{FF2B5EF4-FFF2-40B4-BE49-F238E27FC236}">
                <a16:creationId xmlns:a16="http://schemas.microsoft.com/office/drawing/2014/main" id="{81E457A0-DCC7-AD26-6296-B935CBA4605E}"/>
              </a:ext>
            </a:extLst>
          </p:cNvPr>
          <p:cNvSpPr/>
          <p:nvPr/>
        </p:nvSpPr>
        <p:spPr>
          <a:xfrm>
            <a:off x="11457974" y="1194833"/>
            <a:ext cx="283642" cy="266941"/>
          </a:xfrm>
          <a:prstGeom prst="donu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正方形/長方形 23">
            <a:extLst>
              <a:ext uri="{FF2B5EF4-FFF2-40B4-BE49-F238E27FC236}">
                <a16:creationId xmlns:a16="http://schemas.microsoft.com/office/drawing/2014/main" id="{8589DC0D-E115-8627-5173-DE4749B33406}"/>
              </a:ext>
            </a:extLst>
          </p:cNvPr>
          <p:cNvSpPr/>
          <p:nvPr/>
        </p:nvSpPr>
        <p:spPr>
          <a:xfrm rot="7871681">
            <a:off x="11742067" y="1340078"/>
            <a:ext cx="45719" cy="274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E800C0F7-4D3D-A983-2745-4202C7549FBD}"/>
              </a:ext>
            </a:extLst>
          </p:cNvPr>
          <p:cNvSpPr/>
          <p:nvPr/>
        </p:nvSpPr>
        <p:spPr>
          <a:xfrm>
            <a:off x="5228418"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94FFEB4A-CF2D-B45F-9E70-2AF484A3C7E6}"/>
              </a:ext>
            </a:extLst>
          </p:cNvPr>
          <p:cNvSpPr/>
          <p:nvPr/>
        </p:nvSpPr>
        <p:spPr>
          <a:xfrm>
            <a:off x="7132199" y="1894627"/>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2DF194C0-EC27-4FD9-493E-4D57D54FF2A5}"/>
              </a:ext>
            </a:extLst>
          </p:cNvPr>
          <p:cNvSpPr/>
          <p:nvPr/>
        </p:nvSpPr>
        <p:spPr>
          <a:xfrm>
            <a:off x="9035980"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D492FD51-598B-0B8F-0FB4-A9C1AD08F663}"/>
              </a:ext>
            </a:extLst>
          </p:cNvPr>
          <p:cNvSpPr/>
          <p:nvPr/>
        </p:nvSpPr>
        <p:spPr>
          <a:xfrm>
            <a:off x="10939761" y="1904325"/>
            <a:ext cx="1062182" cy="36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0" name="表 29">
            <a:extLst>
              <a:ext uri="{FF2B5EF4-FFF2-40B4-BE49-F238E27FC236}">
                <a16:creationId xmlns:a16="http://schemas.microsoft.com/office/drawing/2014/main" id="{FCB19A4B-B4F3-A0D2-0F53-385F07742233}"/>
              </a:ext>
            </a:extLst>
          </p:cNvPr>
          <p:cNvGraphicFramePr>
            <a:graphicFrameLocks noGrp="1"/>
          </p:cNvGraphicFramePr>
          <p:nvPr/>
        </p:nvGraphicFramePr>
        <p:xfrm>
          <a:off x="0" y="2590586"/>
          <a:ext cx="12192000" cy="4383596"/>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843818313"/>
                    </a:ext>
                  </a:extLst>
                </a:gridCol>
                <a:gridCol w="674914">
                  <a:extLst>
                    <a:ext uri="{9D8B030D-6E8A-4147-A177-3AD203B41FA5}">
                      <a16:colId xmlns:a16="http://schemas.microsoft.com/office/drawing/2014/main" val="2593793615"/>
                    </a:ext>
                  </a:extLst>
                </a:gridCol>
                <a:gridCol w="990600">
                  <a:extLst>
                    <a:ext uri="{9D8B030D-6E8A-4147-A177-3AD203B41FA5}">
                      <a16:colId xmlns:a16="http://schemas.microsoft.com/office/drawing/2014/main" val="3819324818"/>
                    </a:ext>
                  </a:extLst>
                </a:gridCol>
                <a:gridCol w="903515">
                  <a:extLst>
                    <a:ext uri="{9D8B030D-6E8A-4147-A177-3AD203B41FA5}">
                      <a16:colId xmlns:a16="http://schemas.microsoft.com/office/drawing/2014/main" val="582941768"/>
                    </a:ext>
                  </a:extLst>
                </a:gridCol>
                <a:gridCol w="1099457">
                  <a:extLst>
                    <a:ext uri="{9D8B030D-6E8A-4147-A177-3AD203B41FA5}">
                      <a16:colId xmlns:a16="http://schemas.microsoft.com/office/drawing/2014/main" val="326648018"/>
                    </a:ext>
                  </a:extLst>
                </a:gridCol>
                <a:gridCol w="642257">
                  <a:extLst>
                    <a:ext uri="{9D8B030D-6E8A-4147-A177-3AD203B41FA5}">
                      <a16:colId xmlns:a16="http://schemas.microsoft.com/office/drawing/2014/main" val="3442362932"/>
                    </a:ext>
                  </a:extLst>
                </a:gridCol>
                <a:gridCol w="707571">
                  <a:extLst>
                    <a:ext uri="{9D8B030D-6E8A-4147-A177-3AD203B41FA5}">
                      <a16:colId xmlns:a16="http://schemas.microsoft.com/office/drawing/2014/main" val="1894457544"/>
                    </a:ext>
                  </a:extLst>
                </a:gridCol>
                <a:gridCol w="1208315">
                  <a:extLst>
                    <a:ext uri="{9D8B030D-6E8A-4147-A177-3AD203B41FA5}">
                      <a16:colId xmlns:a16="http://schemas.microsoft.com/office/drawing/2014/main" val="3378677225"/>
                    </a:ext>
                  </a:extLst>
                </a:gridCol>
                <a:gridCol w="838200">
                  <a:extLst>
                    <a:ext uri="{9D8B030D-6E8A-4147-A177-3AD203B41FA5}">
                      <a16:colId xmlns:a16="http://schemas.microsoft.com/office/drawing/2014/main" val="2724634915"/>
                    </a:ext>
                  </a:extLst>
                </a:gridCol>
                <a:gridCol w="1012371">
                  <a:extLst>
                    <a:ext uri="{9D8B030D-6E8A-4147-A177-3AD203B41FA5}">
                      <a16:colId xmlns:a16="http://schemas.microsoft.com/office/drawing/2014/main" val="2886769858"/>
                    </a:ext>
                  </a:extLst>
                </a:gridCol>
                <a:gridCol w="1883229">
                  <a:extLst>
                    <a:ext uri="{9D8B030D-6E8A-4147-A177-3AD203B41FA5}">
                      <a16:colId xmlns:a16="http://schemas.microsoft.com/office/drawing/2014/main" val="638158319"/>
                    </a:ext>
                  </a:extLst>
                </a:gridCol>
                <a:gridCol w="1317171">
                  <a:extLst>
                    <a:ext uri="{9D8B030D-6E8A-4147-A177-3AD203B41FA5}">
                      <a16:colId xmlns:a16="http://schemas.microsoft.com/office/drawing/2014/main" val="3725689978"/>
                    </a:ext>
                  </a:extLst>
                </a:gridCol>
              </a:tblGrid>
              <a:tr h="534788">
                <a:tc>
                  <a:txBody>
                    <a:bodyPr/>
                    <a:lstStyle/>
                    <a:p>
                      <a:pPr algn="ctr"/>
                      <a:r>
                        <a:rPr kumimoji="1" lang="ja-JP" altLang="en-US" sz="1200" dirty="0"/>
                        <a:t>氏名</a:t>
                      </a:r>
                    </a:p>
                  </a:txBody>
                  <a:tcPr/>
                </a:tc>
                <a:tc>
                  <a:txBody>
                    <a:bodyPr/>
                    <a:lstStyle/>
                    <a:p>
                      <a:pPr algn="ctr"/>
                      <a:r>
                        <a:rPr kumimoji="1" lang="ja-JP" altLang="en-US" sz="1200" dirty="0"/>
                        <a:t>社員</a:t>
                      </a:r>
                      <a:r>
                        <a:rPr kumimoji="1" lang="en-US" altLang="ja-JP" sz="1200" dirty="0"/>
                        <a:t>ID</a:t>
                      </a:r>
                      <a:endParaRPr kumimoji="1" lang="ja-JP" altLang="en-US" sz="1200" dirty="0"/>
                    </a:p>
                  </a:txBody>
                  <a:tcPr/>
                </a:tc>
                <a:tc>
                  <a:txBody>
                    <a:bodyPr/>
                    <a:lstStyle/>
                    <a:p>
                      <a:pPr algn="ctr"/>
                      <a:r>
                        <a:rPr kumimoji="1" lang="ja-JP" altLang="en-US" sz="1200" dirty="0"/>
                        <a:t>生年月日</a:t>
                      </a:r>
                    </a:p>
                  </a:txBody>
                  <a:tcPr/>
                </a:tc>
                <a:tc>
                  <a:txBody>
                    <a:bodyPr/>
                    <a:lstStyle/>
                    <a:p>
                      <a:pPr algn="ctr"/>
                      <a:r>
                        <a:rPr kumimoji="1" lang="ja-JP" altLang="en-US" sz="1200" dirty="0"/>
                        <a:t>入社年月</a:t>
                      </a:r>
                    </a:p>
                  </a:txBody>
                  <a:tcPr/>
                </a:tc>
                <a:tc>
                  <a:txBody>
                    <a:bodyPr/>
                    <a:lstStyle/>
                    <a:p>
                      <a:pPr algn="ctr"/>
                      <a:r>
                        <a:rPr kumimoji="1" lang="ja-JP" altLang="en-US" sz="1200" dirty="0"/>
                        <a:t>エンジニア歴</a:t>
                      </a:r>
                    </a:p>
                  </a:txBody>
                  <a:tcPr/>
                </a:tc>
                <a:tc>
                  <a:txBody>
                    <a:bodyPr/>
                    <a:lstStyle/>
                    <a:p>
                      <a:pPr algn="ctr"/>
                      <a:r>
                        <a:rPr kumimoji="1" lang="ja-JP" altLang="en-US" sz="1200" dirty="0"/>
                        <a:t>言語</a:t>
                      </a:r>
                    </a:p>
                  </a:txBody>
                  <a:tcPr/>
                </a:tc>
                <a:tc>
                  <a:txBody>
                    <a:bodyPr/>
                    <a:lstStyle/>
                    <a:p>
                      <a:pPr algn="ctr"/>
                      <a:r>
                        <a:rPr kumimoji="1" lang="ja-JP" altLang="en-US" sz="1200" dirty="0"/>
                        <a:t>経歴</a:t>
                      </a:r>
                    </a:p>
                  </a:txBody>
                  <a:tcPr/>
                </a:tc>
                <a:tc>
                  <a:txBody>
                    <a:bodyPr/>
                    <a:lstStyle/>
                    <a:p>
                      <a:pPr algn="ctr"/>
                      <a:r>
                        <a:rPr kumimoji="1" lang="ja-JP" altLang="en-US" sz="1200" dirty="0"/>
                        <a:t>研修受講歴</a:t>
                      </a:r>
                    </a:p>
                  </a:txBody>
                  <a:tcPr/>
                </a:tc>
                <a:tc>
                  <a:txBody>
                    <a:bodyPr/>
                    <a:lstStyle/>
                    <a:p>
                      <a:pPr algn="ctr"/>
                      <a:r>
                        <a:rPr kumimoji="1" lang="ja-JP" altLang="en-US" sz="1200" dirty="0"/>
                        <a:t>技術力</a:t>
                      </a:r>
                    </a:p>
                  </a:txBody>
                  <a:tcPr/>
                </a:tc>
                <a:tc>
                  <a:txBody>
                    <a:bodyPr/>
                    <a:lstStyle/>
                    <a:p>
                      <a:pPr algn="ctr"/>
                      <a:r>
                        <a:rPr kumimoji="1" lang="ja-JP" altLang="en-US" sz="1200" dirty="0"/>
                        <a:t>受講態度</a:t>
                      </a:r>
                    </a:p>
                  </a:txBody>
                  <a:tcPr/>
                </a:tc>
                <a:tc>
                  <a:txBody>
                    <a:bodyPr/>
                    <a:lstStyle/>
                    <a:p>
                      <a:pPr algn="ctr"/>
                      <a:r>
                        <a:rPr kumimoji="1" lang="ja-JP" altLang="en-US" sz="1200" dirty="0"/>
                        <a:t>コミュニケーション能力</a:t>
                      </a:r>
                    </a:p>
                  </a:txBody>
                  <a:tcPr/>
                </a:tc>
                <a:tc>
                  <a:txBody>
                    <a:bodyPr/>
                    <a:lstStyle/>
                    <a:p>
                      <a:pPr algn="ctr"/>
                      <a:r>
                        <a:rPr kumimoji="1" lang="ja-JP" altLang="en-US" sz="1200" dirty="0"/>
                        <a:t>リーダーシップ</a:t>
                      </a:r>
                    </a:p>
                  </a:txBody>
                  <a:tcPr/>
                </a:tc>
                <a:extLst>
                  <a:ext uri="{0D108BD9-81ED-4DB2-BD59-A6C34878D82A}">
                    <a16:rowId xmlns:a16="http://schemas.microsoft.com/office/drawing/2014/main" val="3031805351"/>
                  </a:ext>
                </a:extLst>
              </a:tr>
              <a:tr h="534788">
                <a:tc>
                  <a:txBody>
                    <a:bodyPr/>
                    <a:lstStyle/>
                    <a:p>
                      <a:r>
                        <a:rPr kumimoji="1" lang="ja-JP" altLang="en-US" sz="1200" dirty="0"/>
                        <a:t>山田 太郎</a:t>
                      </a:r>
                    </a:p>
                  </a:txBody>
                  <a:tcPr>
                    <a:solidFill>
                      <a:srgbClr val="FF0000"/>
                    </a:solidFill>
                  </a:tcPr>
                </a:tc>
                <a:tc>
                  <a:txBody>
                    <a:bodyPr/>
                    <a:lstStyle/>
                    <a:p>
                      <a:r>
                        <a:rPr kumimoji="1" lang="en-US" altLang="ja-JP" sz="1200" dirty="0"/>
                        <a:t>00001</a:t>
                      </a:r>
                    </a:p>
                  </a:txBody>
                  <a:tcPr>
                    <a:solidFill>
                      <a:srgbClr val="FF0000"/>
                    </a:solidFill>
                  </a:tcPr>
                </a:tc>
                <a:tc>
                  <a:txBody>
                    <a:bodyPr/>
                    <a:lstStyle/>
                    <a:p>
                      <a:r>
                        <a:rPr kumimoji="1" lang="en-US" altLang="ja-JP" sz="1200" dirty="0"/>
                        <a:t>1989/2/14</a:t>
                      </a:r>
                      <a:endParaRPr kumimoji="1" lang="ja-JP" altLang="en-US" sz="1200" dirty="0"/>
                    </a:p>
                  </a:txBody>
                  <a:tcPr>
                    <a:solidFill>
                      <a:srgbClr val="FF0000"/>
                    </a:solidFill>
                  </a:tcPr>
                </a:tc>
                <a:tc>
                  <a:txBody>
                    <a:bodyPr/>
                    <a:lstStyle/>
                    <a:p>
                      <a:r>
                        <a:rPr kumimoji="1" lang="en-US" altLang="ja-JP" sz="1200" dirty="0"/>
                        <a:t>2017/4</a:t>
                      </a:r>
                      <a:endParaRPr kumimoji="1" lang="ja-JP" altLang="en-US" sz="1200" dirty="0"/>
                    </a:p>
                  </a:txBody>
                  <a:tcPr>
                    <a:solidFill>
                      <a:srgbClr val="FF0000"/>
                    </a:solidFill>
                  </a:tcPr>
                </a:tc>
                <a:tc>
                  <a:txBody>
                    <a:bodyPr/>
                    <a:lstStyle/>
                    <a:p>
                      <a:r>
                        <a:rPr kumimoji="1" lang="en-US" altLang="ja-JP" sz="1200" dirty="0"/>
                        <a:t>13</a:t>
                      </a:r>
                      <a:r>
                        <a:rPr kumimoji="1" lang="ja-JP" altLang="en-US" sz="1200" dirty="0"/>
                        <a:t>年</a:t>
                      </a:r>
                      <a:r>
                        <a:rPr kumimoji="1" lang="en-US" altLang="ja-JP" sz="1200" dirty="0"/>
                        <a:t>2</a:t>
                      </a:r>
                      <a:r>
                        <a:rPr kumimoji="1" lang="ja-JP" altLang="en-US" sz="1200" dirty="0"/>
                        <a:t>ヶ月</a:t>
                      </a:r>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extLst>
                  <a:ext uri="{0D108BD9-81ED-4DB2-BD59-A6C34878D82A}">
                    <a16:rowId xmlns:a16="http://schemas.microsoft.com/office/drawing/2014/main" val="1181288494"/>
                  </a:ext>
                </a:extLst>
              </a:tr>
              <a:tr h="534788">
                <a:tc>
                  <a:txBody>
                    <a:bodyPr/>
                    <a:lstStyle/>
                    <a:p>
                      <a:r>
                        <a:rPr kumimoji="1" lang="ja-JP" altLang="en-US" sz="1200" dirty="0"/>
                        <a:t>田中 花子</a:t>
                      </a:r>
                    </a:p>
                  </a:txBody>
                  <a:tcPr/>
                </a:tc>
                <a:tc>
                  <a:txBody>
                    <a:bodyPr/>
                    <a:lstStyle/>
                    <a:p>
                      <a:r>
                        <a:rPr kumimoji="1" lang="en-US" altLang="ja-JP" sz="1200" dirty="0"/>
                        <a:t>00002</a:t>
                      </a:r>
                      <a:endParaRPr kumimoji="1" lang="ja-JP" altLang="en-US" sz="1200" dirty="0"/>
                    </a:p>
                  </a:txBody>
                  <a:tcPr/>
                </a:tc>
                <a:tc>
                  <a:txBody>
                    <a:bodyPr/>
                    <a:lstStyle/>
                    <a:p>
                      <a:r>
                        <a:rPr kumimoji="1" lang="en-US" altLang="ja-JP" sz="1200" dirty="0"/>
                        <a:t>1992/1/23</a:t>
                      </a:r>
                      <a:endParaRPr kumimoji="1" lang="ja-JP" altLang="en-US" sz="1200" dirty="0"/>
                    </a:p>
                  </a:txBody>
                  <a:tcPr/>
                </a:tc>
                <a:tc>
                  <a:txBody>
                    <a:bodyPr/>
                    <a:lstStyle/>
                    <a:p>
                      <a:r>
                        <a:rPr kumimoji="1" lang="en-US" altLang="ja-JP" sz="1200" dirty="0"/>
                        <a:t>2017/4</a:t>
                      </a:r>
                      <a:endParaRPr kumimoji="1" lang="ja-JP" altLang="en-US" sz="1200" dirty="0"/>
                    </a:p>
                  </a:txBody>
                  <a:tcPr/>
                </a:tc>
                <a:tc>
                  <a:txBody>
                    <a:bodyPr/>
                    <a:lstStyle/>
                    <a:p>
                      <a:r>
                        <a:rPr kumimoji="1" lang="en-US" altLang="ja-JP" sz="1200" dirty="0"/>
                        <a:t>9</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p>
                    <a:p>
                      <a:endParaRPr kumimoji="1" lang="ja-JP" altLang="en-US" dirty="0"/>
                    </a:p>
                  </a:txBody>
                  <a:tcPr/>
                </a:tc>
                <a:extLst>
                  <a:ext uri="{0D108BD9-81ED-4DB2-BD59-A6C34878D82A}">
                    <a16:rowId xmlns:a16="http://schemas.microsoft.com/office/drawing/2014/main" val="2841193060"/>
                  </a:ext>
                </a:extLst>
              </a:tr>
              <a:tr h="534788">
                <a:tc>
                  <a:txBody>
                    <a:bodyPr/>
                    <a:lstStyle/>
                    <a:p>
                      <a:r>
                        <a:rPr kumimoji="1" lang="ja-JP" altLang="en-US" sz="1200" dirty="0"/>
                        <a:t>佐藤 健</a:t>
                      </a:r>
                    </a:p>
                  </a:txBody>
                  <a:tcPr/>
                </a:tc>
                <a:tc>
                  <a:txBody>
                    <a:bodyPr/>
                    <a:lstStyle/>
                    <a:p>
                      <a:r>
                        <a:rPr kumimoji="1" lang="en-US" altLang="ja-JP" sz="1200" dirty="0"/>
                        <a:t>00003</a:t>
                      </a:r>
                      <a:endParaRPr kumimoji="1" lang="ja-JP" altLang="en-US" sz="1200" dirty="0"/>
                    </a:p>
                  </a:txBody>
                  <a:tcPr/>
                </a:tc>
                <a:tc>
                  <a:txBody>
                    <a:bodyPr/>
                    <a:lstStyle/>
                    <a:p>
                      <a:r>
                        <a:rPr kumimoji="1" lang="en-US" altLang="ja-JP" sz="1200" dirty="0"/>
                        <a:t>1990/12/31</a:t>
                      </a:r>
                      <a:endParaRPr kumimoji="1" lang="ja-JP" altLang="en-US" sz="1200" dirty="0"/>
                    </a:p>
                  </a:txBody>
                  <a:tcPr/>
                </a:tc>
                <a:tc>
                  <a:txBody>
                    <a:bodyPr/>
                    <a:lstStyle/>
                    <a:p>
                      <a:r>
                        <a:rPr kumimoji="1" lang="en-US" altLang="ja-JP" sz="1200" dirty="0"/>
                        <a:t>2017/10</a:t>
                      </a:r>
                      <a:endParaRPr kumimoji="1" lang="ja-JP" altLang="en-US" sz="1200" dirty="0"/>
                    </a:p>
                  </a:txBody>
                  <a:tcPr/>
                </a:tc>
                <a:tc>
                  <a:txBody>
                    <a:bodyPr/>
                    <a:lstStyle/>
                    <a:p>
                      <a:r>
                        <a:rPr kumimoji="1" lang="en-US" altLang="ja-JP" sz="1200" dirty="0"/>
                        <a:t>8</a:t>
                      </a:r>
                      <a:r>
                        <a:rPr kumimoji="1" lang="ja-JP" altLang="en-US" sz="1200" dirty="0"/>
                        <a:t>年</a:t>
                      </a:r>
                      <a:r>
                        <a:rPr kumimoji="1" lang="en-US" altLang="ja-JP" sz="1200" dirty="0"/>
                        <a:t>8</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3125601969"/>
                  </a:ext>
                </a:extLst>
              </a:tr>
              <a:tr h="534788">
                <a:tc>
                  <a:txBody>
                    <a:bodyPr/>
                    <a:lstStyle/>
                    <a:p>
                      <a:r>
                        <a:rPr kumimoji="1" lang="ja-JP" altLang="en-US" sz="1200" dirty="0"/>
                        <a:t>木村 直也</a:t>
                      </a:r>
                    </a:p>
                  </a:txBody>
                  <a:tcPr/>
                </a:tc>
                <a:tc>
                  <a:txBody>
                    <a:bodyPr/>
                    <a:lstStyle/>
                    <a:p>
                      <a:r>
                        <a:rPr kumimoji="1" lang="en-US" altLang="ja-JP" sz="1200" dirty="0"/>
                        <a:t>00004</a:t>
                      </a:r>
                      <a:endParaRPr kumimoji="1" lang="ja-JP" altLang="en-US" sz="1200" dirty="0"/>
                    </a:p>
                  </a:txBody>
                  <a:tcPr/>
                </a:tc>
                <a:tc>
                  <a:txBody>
                    <a:bodyPr/>
                    <a:lstStyle/>
                    <a:p>
                      <a:r>
                        <a:rPr kumimoji="1" lang="en-US" altLang="ja-JP" sz="1200" dirty="0"/>
                        <a:t>2000/4/12</a:t>
                      </a:r>
                      <a:endParaRPr kumimoji="1" lang="ja-JP" altLang="en-US" sz="1200" dirty="0"/>
                    </a:p>
                  </a:txBody>
                  <a:tcPr/>
                </a:tc>
                <a:tc>
                  <a:txBody>
                    <a:bodyPr/>
                    <a:lstStyle/>
                    <a:p>
                      <a:r>
                        <a:rPr kumimoji="1" lang="en-US" altLang="ja-JP" sz="1200" dirty="0"/>
                        <a:t>2024/6</a:t>
                      </a:r>
                      <a:endParaRPr kumimoji="1" lang="ja-JP" altLang="en-US" sz="1200" dirty="0"/>
                    </a:p>
                  </a:txBody>
                  <a:tcPr/>
                </a:tc>
                <a:tc>
                  <a:txBody>
                    <a:bodyPr/>
                    <a:lstStyle/>
                    <a:p>
                      <a:r>
                        <a:rPr kumimoji="1" lang="en-US" altLang="ja-JP" sz="1200" dirty="0"/>
                        <a:t>2</a:t>
                      </a:r>
                      <a:r>
                        <a:rPr kumimoji="1" lang="ja-JP" altLang="en-US" sz="1200" dirty="0"/>
                        <a:t>年</a:t>
                      </a:r>
                      <a:r>
                        <a:rPr kumimoji="1" lang="en-US" altLang="ja-JP" sz="1200" dirty="0"/>
                        <a:t>2</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1267473416"/>
                  </a:ext>
                </a:extLst>
              </a:tr>
              <a:tr h="534788">
                <a:tc>
                  <a:txBody>
                    <a:bodyPr/>
                    <a:lstStyle/>
                    <a:p>
                      <a:r>
                        <a:rPr kumimoji="1" lang="ja-JP" altLang="en-US" sz="1200" dirty="0"/>
                        <a:t>間地 佳代</a:t>
                      </a:r>
                    </a:p>
                  </a:txBody>
                  <a:tcPr>
                    <a:solidFill>
                      <a:srgbClr val="FF0000"/>
                    </a:solidFill>
                  </a:tcPr>
                </a:tc>
                <a:tc>
                  <a:txBody>
                    <a:bodyPr/>
                    <a:lstStyle/>
                    <a:p>
                      <a:r>
                        <a:rPr kumimoji="1" lang="en-US" altLang="ja-JP" sz="1200" dirty="0"/>
                        <a:t>00005</a:t>
                      </a:r>
                      <a:endParaRPr kumimoji="1" lang="ja-JP" altLang="en-US" sz="1200" dirty="0"/>
                    </a:p>
                  </a:txBody>
                  <a:tcPr>
                    <a:solidFill>
                      <a:srgbClr val="FF0000"/>
                    </a:solidFill>
                  </a:tcPr>
                </a:tc>
                <a:tc>
                  <a:txBody>
                    <a:bodyPr/>
                    <a:lstStyle/>
                    <a:p>
                      <a:r>
                        <a:rPr kumimoji="1" lang="en-US" altLang="ja-JP" sz="1200" dirty="0"/>
                        <a:t>1995/10/24</a:t>
                      </a:r>
                      <a:endParaRPr kumimoji="1" lang="ja-JP" altLang="en-US" sz="1200" dirty="0"/>
                    </a:p>
                  </a:txBody>
                  <a:tcPr>
                    <a:solidFill>
                      <a:srgbClr val="FF0000"/>
                    </a:solidFill>
                  </a:tcPr>
                </a:tc>
                <a:tc>
                  <a:txBody>
                    <a:bodyPr/>
                    <a:lstStyle/>
                    <a:p>
                      <a:r>
                        <a:rPr kumimoji="1" lang="en-US" altLang="ja-JP" sz="1200" dirty="0"/>
                        <a:t>2019/4</a:t>
                      </a:r>
                      <a:endParaRPr kumimoji="1" lang="ja-JP" altLang="en-US" sz="1200" dirty="0"/>
                    </a:p>
                  </a:txBody>
                  <a:tcPr>
                    <a:solidFill>
                      <a:srgbClr val="FF0000"/>
                    </a:solidFill>
                  </a:tcPr>
                </a:tc>
                <a:tc>
                  <a:txBody>
                    <a:bodyPr/>
                    <a:lstStyle/>
                    <a:p>
                      <a:r>
                        <a:rPr kumimoji="1" lang="en-US" altLang="ja-JP" sz="1200" dirty="0"/>
                        <a:t>10</a:t>
                      </a:r>
                      <a:r>
                        <a:rPr kumimoji="1" lang="ja-JP" altLang="en-US" sz="1200" dirty="0"/>
                        <a:t>年</a:t>
                      </a:r>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tc>
                  <a:txBody>
                    <a:bodyPr/>
                    <a:lstStyle/>
                    <a:p>
                      <a:r>
                        <a:rPr kumimoji="1" lang="en-US" altLang="ja-JP" dirty="0"/>
                        <a:t>~</a:t>
                      </a:r>
                      <a:endParaRPr kumimoji="1" lang="ja-JP" altLang="en-US" dirty="0"/>
                    </a:p>
                  </a:txBody>
                  <a:tcPr>
                    <a:solidFill>
                      <a:srgbClr val="FF0000"/>
                    </a:solidFill>
                  </a:tcPr>
                </a:tc>
                <a:extLst>
                  <a:ext uri="{0D108BD9-81ED-4DB2-BD59-A6C34878D82A}">
                    <a16:rowId xmlns:a16="http://schemas.microsoft.com/office/drawing/2014/main" val="761762557"/>
                  </a:ext>
                </a:extLst>
              </a:tr>
              <a:tr h="534788">
                <a:tc>
                  <a:txBody>
                    <a:bodyPr/>
                    <a:lstStyle/>
                    <a:p>
                      <a:r>
                        <a:rPr kumimoji="1" lang="ja-JP" altLang="en-US" sz="1200" dirty="0"/>
                        <a:t>秋葉 花</a:t>
                      </a:r>
                    </a:p>
                  </a:txBody>
                  <a:tcPr/>
                </a:tc>
                <a:tc>
                  <a:txBody>
                    <a:bodyPr/>
                    <a:lstStyle/>
                    <a:p>
                      <a:r>
                        <a:rPr kumimoji="1" lang="en-US" altLang="ja-JP" sz="1200" dirty="0"/>
                        <a:t>00006</a:t>
                      </a:r>
                      <a:endParaRPr kumimoji="1" lang="ja-JP" altLang="en-US" sz="1200" dirty="0"/>
                    </a:p>
                  </a:txBody>
                  <a:tcPr/>
                </a:tc>
                <a:tc>
                  <a:txBody>
                    <a:bodyPr/>
                    <a:lstStyle/>
                    <a:p>
                      <a:r>
                        <a:rPr kumimoji="1" lang="en-US" altLang="ja-JP" sz="1200" dirty="0"/>
                        <a:t>1996/2/23</a:t>
                      </a:r>
                      <a:endParaRPr kumimoji="1" lang="ja-JP" altLang="en-US" sz="1200" dirty="0"/>
                    </a:p>
                  </a:txBody>
                  <a:tcPr/>
                </a:tc>
                <a:tc>
                  <a:txBody>
                    <a:bodyPr/>
                    <a:lstStyle/>
                    <a:p>
                      <a:r>
                        <a:rPr kumimoji="1" lang="en-US" altLang="ja-JP" sz="1200" dirty="0"/>
                        <a:t>2022/7</a:t>
                      </a:r>
                      <a:endParaRPr kumimoji="1" lang="ja-JP" altLang="en-US" sz="1200" dirty="0"/>
                    </a:p>
                  </a:txBody>
                  <a:tcPr/>
                </a:tc>
                <a:tc>
                  <a:txBody>
                    <a:bodyPr/>
                    <a:lstStyle/>
                    <a:p>
                      <a:r>
                        <a:rPr kumimoji="1" lang="en-US" altLang="ja-JP" sz="1200" dirty="0"/>
                        <a:t>3</a:t>
                      </a:r>
                      <a:r>
                        <a:rPr kumimoji="1" lang="ja-JP" altLang="en-US" sz="1200" dirty="0"/>
                        <a:t>年</a:t>
                      </a:r>
                      <a:r>
                        <a:rPr kumimoji="1" lang="en-US" altLang="ja-JP" sz="1200" dirty="0"/>
                        <a:t>10</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2902287736"/>
                  </a:ext>
                </a:extLst>
              </a:tr>
              <a:tr h="534788">
                <a:tc>
                  <a:txBody>
                    <a:bodyPr/>
                    <a:lstStyle/>
                    <a:p>
                      <a:r>
                        <a:rPr kumimoji="1" lang="ja-JP" altLang="en-US" sz="1200" dirty="0"/>
                        <a:t>野原 しん</a:t>
                      </a:r>
                    </a:p>
                  </a:txBody>
                  <a:tcPr/>
                </a:tc>
                <a:tc>
                  <a:txBody>
                    <a:bodyPr/>
                    <a:lstStyle/>
                    <a:p>
                      <a:r>
                        <a:rPr kumimoji="1" lang="en-US" altLang="ja-JP" sz="1200" dirty="0"/>
                        <a:t>00007</a:t>
                      </a:r>
                      <a:endParaRPr kumimoji="1" lang="ja-JP" altLang="en-US" sz="1200" dirty="0"/>
                    </a:p>
                  </a:txBody>
                  <a:tcPr/>
                </a:tc>
                <a:tc>
                  <a:txBody>
                    <a:bodyPr/>
                    <a:lstStyle/>
                    <a:p>
                      <a:r>
                        <a:rPr kumimoji="1" lang="en-US" altLang="ja-JP" sz="1200" dirty="0"/>
                        <a:t>2003/1/30</a:t>
                      </a:r>
                      <a:endParaRPr kumimoji="1" lang="ja-JP" altLang="en-US" sz="1200" dirty="0"/>
                    </a:p>
                  </a:txBody>
                  <a:tcPr/>
                </a:tc>
                <a:tc>
                  <a:txBody>
                    <a:bodyPr/>
                    <a:lstStyle/>
                    <a:p>
                      <a:r>
                        <a:rPr kumimoji="1" lang="en-US" altLang="ja-JP" sz="1200" dirty="0"/>
                        <a:t>2025/12</a:t>
                      </a:r>
                      <a:endParaRPr kumimoji="1" lang="ja-JP" altLang="en-US" sz="1200" dirty="0"/>
                    </a:p>
                  </a:txBody>
                  <a:tcPr/>
                </a:tc>
                <a:tc>
                  <a:txBody>
                    <a:bodyPr/>
                    <a:lstStyle/>
                    <a:p>
                      <a:r>
                        <a:rPr kumimoji="1" lang="en-US" altLang="ja-JP" sz="1200" dirty="0"/>
                        <a:t>5</a:t>
                      </a:r>
                      <a:r>
                        <a:rPr kumimoji="1" lang="ja-JP" altLang="en-US" sz="1200" dirty="0"/>
                        <a:t>ヶ月</a:t>
                      </a:r>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tc>
                  <a:txBody>
                    <a:bodyPr/>
                    <a:lstStyle/>
                    <a:p>
                      <a:r>
                        <a:rPr kumimoji="1" lang="en-US" altLang="ja-JP" dirty="0"/>
                        <a:t>~</a:t>
                      </a:r>
                      <a:endParaRPr kumimoji="1" lang="ja-JP" altLang="en-US" dirty="0"/>
                    </a:p>
                  </a:txBody>
                  <a:tcPr/>
                </a:tc>
                <a:extLst>
                  <a:ext uri="{0D108BD9-81ED-4DB2-BD59-A6C34878D82A}">
                    <a16:rowId xmlns:a16="http://schemas.microsoft.com/office/drawing/2014/main" val="924052398"/>
                  </a:ext>
                </a:extLst>
              </a:tr>
            </a:tbl>
          </a:graphicData>
        </a:graphic>
      </p:graphicFrame>
      <p:sp>
        <p:nvSpPr>
          <p:cNvPr id="31" name="テキスト ボックス 30">
            <a:extLst>
              <a:ext uri="{FF2B5EF4-FFF2-40B4-BE49-F238E27FC236}">
                <a16:creationId xmlns:a16="http://schemas.microsoft.com/office/drawing/2014/main" id="{3D4FF430-6ABD-8615-408A-13B5D3D167B0}"/>
              </a:ext>
            </a:extLst>
          </p:cNvPr>
          <p:cNvSpPr txBox="1"/>
          <p:nvPr/>
        </p:nvSpPr>
        <p:spPr>
          <a:xfrm>
            <a:off x="5362247" y="1925891"/>
            <a:ext cx="914400" cy="369332"/>
          </a:xfrm>
          <a:prstGeom prst="rect">
            <a:avLst/>
          </a:prstGeom>
          <a:noFill/>
        </p:spPr>
        <p:txBody>
          <a:bodyPr wrap="square" rtlCol="0">
            <a:spAutoFit/>
          </a:bodyPr>
          <a:lstStyle/>
          <a:p>
            <a:r>
              <a:rPr kumimoji="1" lang="ja-JP" altLang="en-US" dirty="0">
                <a:solidFill>
                  <a:schemeClr val="bg1"/>
                </a:solidFill>
              </a:rPr>
              <a:t>ソート</a:t>
            </a:r>
          </a:p>
        </p:txBody>
      </p:sp>
      <p:sp>
        <p:nvSpPr>
          <p:cNvPr id="33" name="テキスト ボックス 32">
            <a:extLst>
              <a:ext uri="{FF2B5EF4-FFF2-40B4-BE49-F238E27FC236}">
                <a16:creationId xmlns:a16="http://schemas.microsoft.com/office/drawing/2014/main" id="{9A550D55-4E26-3C91-E7C0-C671B2D2E5E8}"/>
              </a:ext>
            </a:extLst>
          </p:cNvPr>
          <p:cNvSpPr txBox="1"/>
          <p:nvPr/>
        </p:nvSpPr>
        <p:spPr>
          <a:xfrm>
            <a:off x="7361056" y="1923575"/>
            <a:ext cx="914400" cy="369332"/>
          </a:xfrm>
          <a:prstGeom prst="rect">
            <a:avLst/>
          </a:prstGeom>
          <a:noFill/>
        </p:spPr>
        <p:txBody>
          <a:bodyPr wrap="square" rtlCol="0">
            <a:spAutoFit/>
          </a:bodyPr>
          <a:lstStyle/>
          <a:p>
            <a:r>
              <a:rPr kumimoji="1" lang="ja-JP" altLang="en-US" dirty="0"/>
              <a:t>選択</a:t>
            </a:r>
          </a:p>
        </p:txBody>
      </p:sp>
      <p:sp>
        <p:nvSpPr>
          <p:cNvPr id="34" name="テキスト ボックス 33">
            <a:extLst>
              <a:ext uri="{FF2B5EF4-FFF2-40B4-BE49-F238E27FC236}">
                <a16:creationId xmlns:a16="http://schemas.microsoft.com/office/drawing/2014/main" id="{450A13FF-40B5-E241-EDA8-1F9DD2A6BE97}"/>
              </a:ext>
            </a:extLst>
          </p:cNvPr>
          <p:cNvSpPr txBox="1"/>
          <p:nvPr/>
        </p:nvSpPr>
        <p:spPr>
          <a:xfrm>
            <a:off x="9243905" y="1923575"/>
            <a:ext cx="646331" cy="369332"/>
          </a:xfrm>
          <a:prstGeom prst="rect">
            <a:avLst/>
          </a:prstGeom>
          <a:noFill/>
        </p:spPr>
        <p:txBody>
          <a:bodyPr wrap="none" rtlCol="0">
            <a:spAutoFit/>
          </a:bodyPr>
          <a:lstStyle/>
          <a:p>
            <a:r>
              <a:rPr kumimoji="1" lang="ja-JP" altLang="en-US" dirty="0">
                <a:solidFill>
                  <a:srgbClr val="FF0000"/>
                </a:solidFill>
              </a:rPr>
              <a:t>削除</a:t>
            </a:r>
          </a:p>
        </p:txBody>
      </p:sp>
      <p:sp>
        <p:nvSpPr>
          <p:cNvPr id="35" name="テキスト ボックス 34">
            <a:extLst>
              <a:ext uri="{FF2B5EF4-FFF2-40B4-BE49-F238E27FC236}">
                <a16:creationId xmlns:a16="http://schemas.microsoft.com/office/drawing/2014/main" id="{C3FEFD05-B21F-6AC4-5E4B-E257E5F9AB8B}"/>
              </a:ext>
            </a:extLst>
          </p:cNvPr>
          <p:cNvSpPr txBox="1"/>
          <p:nvPr/>
        </p:nvSpPr>
        <p:spPr>
          <a:xfrm>
            <a:off x="11147686" y="1923575"/>
            <a:ext cx="646331" cy="369332"/>
          </a:xfrm>
          <a:prstGeom prst="rect">
            <a:avLst/>
          </a:prstGeom>
          <a:noFill/>
        </p:spPr>
        <p:txBody>
          <a:bodyPr wrap="none" rtlCol="0">
            <a:spAutoFit/>
          </a:bodyPr>
          <a:lstStyle/>
          <a:p>
            <a:r>
              <a:rPr kumimoji="1" lang="ja-JP" altLang="en-US" dirty="0">
                <a:solidFill>
                  <a:schemeClr val="bg1"/>
                </a:solidFill>
              </a:rPr>
              <a:t>出力</a:t>
            </a:r>
          </a:p>
        </p:txBody>
      </p:sp>
      <p:sp>
        <p:nvSpPr>
          <p:cNvPr id="2" name="正方形/長方形 1">
            <a:extLst>
              <a:ext uri="{FF2B5EF4-FFF2-40B4-BE49-F238E27FC236}">
                <a16:creationId xmlns:a16="http://schemas.microsoft.com/office/drawing/2014/main" id="{D231E389-7C04-517A-95E6-C5786CA20399}"/>
              </a:ext>
            </a:extLst>
          </p:cNvPr>
          <p:cNvSpPr/>
          <p:nvPr/>
        </p:nvSpPr>
        <p:spPr>
          <a:xfrm>
            <a:off x="2775857" y="2579701"/>
            <a:ext cx="6346372" cy="3353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DE03D9B0-B56B-A511-9753-385A11C1219B}"/>
              </a:ext>
            </a:extLst>
          </p:cNvPr>
          <p:cNvSpPr txBox="1"/>
          <p:nvPr/>
        </p:nvSpPr>
        <p:spPr>
          <a:xfrm>
            <a:off x="3420145" y="3464415"/>
            <a:ext cx="5057795" cy="400110"/>
          </a:xfrm>
          <a:prstGeom prst="rect">
            <a:avLst/>
          </a:prstGeom>
          <a:noFill/>
        </p:spPr>
        <p:txBody>
          <a:bodyPr wrap="none" rtlCol="0">
            <a:spAutoFit/>
          </a:bodyPr>
          <a:lstStyle/>
          <a:p>
            <a:r>
              <a:rPr kumimoji="1" lang="ja-JP" altLang="en-US" sz="2000" dirty="0">
                <a:solidFill>
                  <a:schemeClr val="bg1"/>
                </a:solidFill>
              </a:rPr>
              <a:t>選択したエンジニア情報を</a:t>
            </a:r>
            <a:r>
              <a:rPr lang="ja-JP" altLang="en-US" sz="2000" dirty="0">
                <a:solidFill>
                  <a:schemeClr val="bg1"/>
                </a:solidFill>
              </a:rPr>
              <a:t>出力</a:t>
            </a:r>
            <a:r>
              <a:rPr kumimoji="1" lang="ja-JP" altLang="en-US" sz="2000" dirty="0">
                <a:solidFill>
                  <a:schemeClr val="bg1"/>
                </a:solidFill>
              </a:rPr>
              <a:t>しますか？</a:t>
            </a:r>
          </a:p>
        </p:txBody>
      </p:sp>
      <p:sp>
        <p:nvSpPr>
          <p:cNvPr id="8" name="正方形/長方形 7">
            <a:extLst>
              <a:ext uri="{FF2B5EF4-FFF2-40B4-BE49-F238E27FC236}">
                <a16:creationId xmlns:a16="http://schemas.microsoft.com/office/drawing/2014/main" id="{DDA33271-69E1-9334-305E-0CC389E91586}"/>
              </a:ext>
            </a:extLst>
          </p:cNvPr>
          <p:cNvSpPr/>
          <p:nvPr/>
        </p:nvSpPr>
        <p:spPr>
          <a:xfrm>
            <a:off x="6355536" y="4782384"/>
            <a:ext cx="1719942"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9" name="正方形/長方形 8">
            <a:extLst>
              <a:ext uri="{FF2B5EF4-FFF2-40B4-BE49-F238E27FC236}">
                <a16:creationId xmlns:a16="http://schemas.microsoft.com/office/drawing/2014/main" id="{AEBB9246-6A62-3268-DF67-5FF706A280AC}"/>
              </a:ext>
            </a:extLst>
          </p:cNvPr>
          <p:cNvSpPr/>
          <p:nvPr/>
        </p:nvSpPr>
        <p:spPr>
          <a:xfrm>
            <a:off x="3642305" y="4782384"/>
            <a:ext cx="1719942" cy="55909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0" name="テキスト ボックス 9">
            <a:extLst>
              <a:ext uri="{FF2B5EF4-FFF2-40B4-BE49-F238E27FC236}">
                <a16:creationId xmlns:a16="http://schemas.microsoft.com/office/drawing/2014/main" id="{4191F8A8-9A7C-2C7A-6C1E-FBC3F2D2CD9D}"/>
              </a:ext>
            </a:extLst>
          </p:cNvPr>
          <p:cNvSpPr txBox="1"/>
          <p:nvPr/>
        </p:nvSpPr>
        <p:spPr>
          <a:xfrm>
            <a:off x="4102166" y="4831096"/>
            <a:ext cx="800219" cy="461665"/>
          </a:xfrm>
          <a:prstGeom prst="rect">
            <a:avLst/>
          </a:prstGeom>
          <a:noFill/>
        </p:spPr>
        <p:txBody>
          <a:bodyPr wrap="none" rtlCol="0">
            <a:spAutoFit/>
          </a:bodyPr>
          <a:lstStyle/>
          <a:p>
            <a:r>
              <a:rPr kumimoji="1" lang="ja-JP" altLang="en-US" sz="2400" dirty="0">
                <a:solidFill>
                  <a:schemeClr val="bg1"/>
                </a:solidFill>
              </a:rPr>
              <a:t>はい</a:t>
            </a:r>
          </a:p>
        </p:txBody>
      </p:sp>
      <p:sp>
        <p:nvSpPr>
          <p:cNvPr id="11" name="テキスト ボックス 10">
            <a:extLst>
              <a:ext uri="{FF2B5EF4-FFF2-40B4-BE49-F238E27FC236}">
                <a16:creationId xmlns:a16="http://schemas.microsoft.com/office/drawing/2014/main" id="{6AADCDEB-4273-580A-1BE5-847C5C8C6927}"/>
              </a:ext>
            </a:extLst>
          </p:cNvPr>
          <p:cNvSpPr txBox="1"/>
          <p:nvPr/>
        </p:nvSpPr>
        <p:spPr>
          <a:xfrm>
            <a:off x="6661509" y="4831095"/>
            <a:ext cx="1107996" cy="461665"/>
          </a:xfrm>
          <a:prstGeom prst="rect">
            <a:avLst/>
          </a:prstGeom>
          <a:noFill/>
        </p:spPr>
        <p:txBody>
          <a:bodyPr wrap="none" rtlCol="0">
            <a:spAutoFit/>
          </a:bodyPr>
          <a:lstStyle/>
          <a:p>
            <a:r>
              <a:rPr kumimoji="1" lang="ja-JP" altLang="en-US" sz="2400" dirty="0">
                <a:solidFill>
                  <a:schemeClr val="bg1"/>
                </a:solidFill>
              </a:rPr>
              <a:t>いいえ</a:t>
            </a:r>
          </a:p>
        </p:txBody>
      </p:sp>
    </p:spTree>
    <p:extLst>
      <p:ext uri="{BB962C8B-B14F-4D97-AF65-F5344CB8AC3E}">
        <p14:creationId xmlns:p14="http://schemas.microsoft.com/office/powerpoint/2010/main" val="474836609"/>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6F8DA-CEEA-2A6A-5DD1-034F7BC51EEB}"/>
            </a:ext>
          </a:extLst>
        </p:cNvPr>
        <p:cNvGrpSpPr/>
        <p:nvPr/>
      </p:nvGrpSpPr>
      <p:grpSpPr>
        <a:xfrm>
          <a:off x="0" y="0"/>
          <a:ext cx="0" cy="0"/>
          <a:chOff x="0" y="0"/>
          <a:chExt cx="0" cy="0"/>
        </a:xfrm>
      </p:grpSpPr>
      <p:sp>
        <p:nvSpPr>
          <p:cNvPr id="3" name="正方形/長方形 3">
            <a:extLst>
              <a:ext uri="{FF2B5EF4-FFF2-40B4-BE49-F238E27FC236}">
                <a16:creationId xmlns:a16="http://schemas.microsoft.com/office/drawing/2014/main" id="{6A967868-9296-910B-DE9E-C7B75173711E}"/>
              </a:ext>
            </a:extLst>
          </p:cNvPr>
          <p:cNvSpPr/>
          <p:nvPr/>
        </p:nvSpPr>
        <p:spPr>
          <a:xfrm>
            <a:off x="304796" y="925290"/>
            <a:ext cx="6868881" cy="5607859"/>
          </a:xfrm>
          <a:prstGeom prst="rect">
            <a:avLst/>
          </a:prstGeom>
          <a:solidFill>
            <a:srgbClr val="404040"/>
          </a:solidFill>
          <a:ln w="19046" cap="flat">
            <a:solidFill>
              <a:srgbClr val="042433"/>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游ゴシック"/>
              <a:ea typeface="游ゴシック" pitchFamily="50"/>
            </a:endParaRPr>
          </a:p>
        </p:txBody>
      </p:sp>
      <p:sp>
        <p:nvSpPr>
          <p:cNvPr id="7" name="テキスト ボックス 7">
            <a:extLst>
              <a:ext uri="{FF2B5EF4-FFF2-40B4-BE49-F238E27FC236}">
                <a16:creationId xmlns:a16="http://schemas.microsoft.com/office/drawing/2014/main" id="{BC8990F8-64FB-E738-036D-1772F89EC1C6}"/>
              </a:ext>
            </a:extLst>
          </p:cNvPr>
          <p:cNvSpPr txBox="1"/>
          <p:nvPr/>
        </p:nvSpPr>
        <p:spPr>
          <a:xfrm>
            <a:off x="304796" y="195946"/>
            <a:ext cx="4572085" cy="646331"/>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ja-JP" sz="3600" b="0" i="0" u="none" strike="noStrike" kern="1200" cap="none" spc="0" baseline="0" dirty="0">
                <a:solidFill>
                  <a:srgbClr val="000000"/>
                </a:solidFill>
                <a:uFillTx/>
                <a:latin typeface="游ゴシック"/>
                <a:ea typeface="游ゴシック" pitchFamily="50"/>
              </a:rPr>
              <a:t>§</a:t>
            </a:r>
            <a:r>
              <a:rPr lang="en-US" sz="3600" b="0" i="0" u="none" strike="noStrike" kern="1200" cap="none" spc="0" baseline="0" dirty="0">
                <a:solidFill>
                  <a:srgbClr val="000000"/>
                </a:solidFill>
                <a:uFillTx/>
                <a:latin typeface="游ゴシック"/>
                <a:ea typeface="游ゴシック" pitchFamily="50"/>
              </a:rPr>
              <a:t>2-5</a:t>
            </a:r>
            <a:r>
              <a:rPr lang="ja-JP" sz="3600" b="0" i="0" u="none" strike="noStrike" kern="1200" cap="none" spc="0" baseline="0" dirty="0">
                <a:solidFill>
                  <a:srgbClr val="000000"/>
                </a:solidFill>
                <a:uFillTx/>
                <a:latin typeface="游ゴシック"/>
                <a:ea typeface="游ゴシック" pitchFamily="50"/>
              </a:rPr>
              <a:t>　</a:t>
            </a:r>
            <a:r>
              <a:rPr lang="en-US" altLang="ja-JP" sz="3600" b="0" i="0" u="none" strike="noStrike" kern="1200" cap="none" spc="0" baseline="0" dirty="0">
                <a:solidFill>
                  <a:srgbClr val="000000"/>
                </a:solidFill>
                <a:uFillTx/>
                <a:latin typeface="游ゴシック"/>
                <a:ea typeface="游ゴシック" pitchFamily="50"/>
              </a:rPr>
              <a:t>CSV</a:t>
            </a:r>
            <a:r>
              <a:rPr lang="ja-JP" altLang="en-US" sz="3600" b="0" i="0" u="none" strike="noStrike" kern="1200" cap="none" spc="0" baseline="0" dirty="0">
                <a:solidFill>
                  <a:srgbClr val="000000"/>
                </a:solidFill>
                <a:uFillTx/>
                <a:latin typeface="游ゴシック"/>
                <a:ea typeface="游ゴシック" pitchFamily="50"/>
              </a:rPr>
              <a:t>出力機能</a:t>
            </a:r>
            <a:endParaRPr lang="en-US" sz="3600" b="0" i="0" u="none" strike="noStrike" kern="1200" cap="none" spc="0" baseline="0" dirty="0">
              <a:solidFill>
                <a:srgbClr val="000000"/>
              </a:solidFill>
              <a:uFillTx/>
              <a:latin typeface="游ゴシック"/>
              <a:ea typeface="游ゴシック" pitchFamily="50"/>
            </a:endParaRPr>
          </a:p>
        </p:txBody>
      </p:sp>
      <p:graphicFrame>
        <p:nvGraphicFramePr>
          <p:cNvPr id="5" name="表 4">
            <a:extLst>
              <a:ext uri="{FF2B5EF4-FFF2-40B4-BE49-F238E27FC236}">
                <a16:creationId xmlns:a16="http://schemas.microsoft.com/office/drawing/2014/main" id="{EDEF282C-CEB0-01A7-9E06-ABB543697475}"/>
              </a:ext>
            </a:extLst>
          </p:cNvPr>
          <p:cNvGraphicFramePr>
            <a:graphicFrameLocks noGrp="1"/>
          </p:cNvGraphicFramePr>
          <p:nvPr>
            <p:extLst>
              <p:ext uri="{D42A27DB-BD31-4B8C-83A1-F6EECF244321}">
                <p14:modId xmlns:p14="http://schemas.microsoft.com/office/powerpoint/2010/main" val="2270831408"/>
              </p:ext>
            </p:extLst>
          </p:nvPr>
        </p:nvGraphicFramePr>
        <p:xfrm>
          <a:off x="304796" y="925290"/>
          <a:ext cx="6868880" cy="1593508"/>
        </p:xfrm>
        <a:graphic>
          <a:graphicData uri="http://schemas.openxmlformats.org/drawingml/2006/table">
            <a:tbl>
              <a:tblPr>
                <a:tableStyleId>{5C22544A-7EE6-4342-B048-85BDC9FD1C3A}</a:tableStyleId>
              </a:tblPr>
              <a:tblGrid>
                <a:gridCol w="495179">
                  <a:extLst>
                    <a:ext uri="{9D8B030D-6E8A-4147-A177-3AD203B41FA5}">
                      <a16:colId xmlns:a16="http://schemas.microsoft.com/office/drawing/2014/main" val="688084510"/>
                    </a:ext>
                  </a:extLst>
                </a:gridCol>
                <a:gridCol w="6373701">
                  <a:extLst>
                    <a:ext uri="{9D8B030D-6E8A-4147-A177-3AD203B41FA5}">
                      <a16:colId xmlns:a16="http://schemas.microsoft.com/office/drawing/2014/main" val="1072463033"/>
                    </a:ext>
                  </a:extLst>
                </a:gridCol>
              </a:tblGrid>
              <a:tr h="610428">
                <a:tc>
                  <a:txBody>
                    <a:bodyPr/>
                    <a:lstStyle/>
                    <a:p>
                      <a:r>
                        <a:rPr kumimoji="1" lang="en-US" altLang="ja-JP" dirty="0"/>
                        <a:t>1</a:t>
                      </a:r>
                    </a:p>
                  </a:txBody>
                  <a:tcPr/>
                </a:tc>
                <a:tc>
                  <a:txBody>
                    <a:bodyPr/>
                    <a:lstStyle/>
                    <a:p>
                      <a:r>
                        <a:rPr kumimoji="1" lang="ja-JP" altLang="ja-JP" sz="1200" kern="1200" dirty="0">
                          <a:solidFill>
                            <a:schemeClr val="dk1"/>
                          </a:solidFill>
                          <a:effectLst/>
                          <a:latin typeface="+mn-lt"/>
                          <a:ea typeface="+mn-ea"/>
                          <a:cs typeface="+mn-cs"/>
                        </a:rPr>
                        <a:t>氏名</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社員</a:t>
                      </a:r>
                      <a:r>
                        <a:rPr kumimoji="1" lang="en-US" altLang="ja-JP" sz="1200" kern="1200" dirty="0">
                          <a:solidFill>
                            <a:schemeClr val="dk1"/>
                          </a:solidFill>
                          <a:effectLst/>
                          <a:latin typeface="+mn-lt"/>
                          <a:ea typeface="+mn-ea"/>
                          <a:cs typeface="+mn-cs"/>
                        </a:rPr>
                        <a:t>ID,</a:t>
                      </a:r>
                      <a:r>
                        <a:rPr kumimoji="1" lang="ja-JP" altLang="ja-JP" sz="1200" kern="1200" dirty="0">
                          <a:solidFill>
                            <a:schemeClr val="dk1"/>
                          </a:solidFill>
                          <a:effectLst/>
                          <a:latin typeface="+mn-lt"/>
                          <a:ea typeface="+mn-ea"/>
                          <a:cs typeface="+mn-cs"/>
                        </a:rPr>
                        <a:t>生年月日</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入社年月</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エンジニア歴</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扱える言語</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経歴</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研修の受講歴</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技術力</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受講態度</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コミュニケーション能力</a:t>
                      </a:r>
                      <a:r>
                        <a:rPr kumimoji="1" lang="en-US" altLang="ja-JP" sz="1200" kern="1200" dirty="0">
                          <a:solidFill>
                            <a:schemeClr val="dk1"/>
                          </a:solidFill>
                          <a:effectLst/>
                          <a:latin typeface="+mn-lt"/>
                          <a:ea typeface="+mn-ea"/>
                          <a:cs typeface="+mn-cs"/>
                        </a:rPr>
                        <a:t>,</a:t>
                      </a:r>
                      <a:r>
                        <a:rPr kumimoji="1" lang="ja-JP" altLang="ja-JP" sz="1200" kern="1200" dirty="0">
                          <a:solidFill>
                            <a:schemeClr val="dk1"/>
                          </a:solidFill>
                          <a:effectLst/>
                          <a:latin typeface="+mn-lt"/>
                          <a:ea typeface="+mn-ea"/>
                          <a:cs typeface="+mn-cs"/>
                        </a:rPr>
                        <a:t>リーダーシップ備考</a:t>
                      </a:r>
                      <a:endParaRPr kumimoji="1" lang="ja-JP" altLang="en-US" sz="1200" kern="1200" dirty="0">
                        <a:solidFill>
                          <a:schemeClr val="dk1"/>
                        </a:solidFill>
                        <a:effectLst/>
                        <a:latin typeface="+mn-lt"/>
                        <a:ea typeface="+mn-ea"/>
                        <a:cs typeface="+mn-cs"/>
                      </a:endParaRPr>
                    </a:p>
                  </a:txBody>
                  <a:tcPr/>
                </a:tc>
                <a:extLst>
                  <a:ext uri="{0D108BD9-81ED-4DB2-BD59-A6C34878D82A}">
                    <a16:rowId xmlns:a16="http://schemas.microsoft.com/office/drawing/2014/main" val="3979420562"/>
                  </a:ext>
                </a:extLst>
              </a:tr>
              <a:tr h="491540">
                <a:tc>
                  <a:txBody>
                    <a:bodyPr/>
                    <a:lstStyle/>
                    <a:p>
                      <a:r>
                        <a:rPr kumimoji="1" lang="en-US" altLang="ja-JP" dirty="0"/>
                        <a:t>2</a:t>
                      </a:r>
                      <a:endParaRPr kumimoji="1" lang="ja-JP" altLang="en-US" dirty="0"/>
                    </a:p>
                  </a:txBody>
                  <a:tcPr/>
                </a:tc>
                <a:tc>
                  <a:txBody>
                    <a:bodyPr/>
                    <a:lstStyle/>
                    <a:p>
                      <a:r>
                        <a:rPr kumimoji="1" lang="ja-JP" altLang="en-US" dirty="0"/>
                        <a:t>山田太郎</a:t>
                      </a:r>
                      <a:r>
                        <a:rPr kumimoji="1" lang="en-US" altLang="ja-JP" dirty="0"/>
                        <a:t>,00001,~,~,~,~,~,~,~,~,~,~</a:t>
                      </a:r>
                      <a:endParaRPr kumimoji="1" lang="ja-JP" altLang="en-US" dirty="0"/>
                    </a:p>
                  </a:txBody>
                  <a:tcPr/>
                </a:tc>
                <a:extLst>
                  <a:ext uri="{0D108BD9-81ED-4DB2-BD59-A6C34878D82A}">
                    <a16:rowId xmlns:a16="http://schemas.microsoft.com/office/drawing/2014/main" val="1849445293"/>
                  </a:ext>
                </a:extLst>
              </a:tr>
              <a:tr h="491540">
                <a:tc>
                  <a:txBody>
                    <a:bodyPr/>
                    <a:lstStyle/>
                    <a:p>
                      <a:r>
                        <a:rPr kumimoji="1" lang="en-US" altLang="ja-JP" dirty="0"/>
                        <a:t>3</a:t>
                      </a:r>
                      <a:endParaRPr kumimoji="1" lang="ja-JP" altLang="en-US" dirty="0"/>
                    </a:p>
                  </a:txBody>
                  <a:tcPr/>
                </a:tc>
                <a:tc>
                  <a:txBody>
                    <a:bodyPr/>
                    <a:lstStyle/>
                    <a:p>
                      <a:r>
                        <a:rPr kumimoji="1" lang="ja-JP" altLang="en-US" dirty="0"/>
                        <a:t>間地 佳代</a:t>
                      </a:r>
                      <a:r>
                        <a:rPr kumimoji="1" lang="en-US" altLang="ja-JP" dirty="0"/>
                        <a:t>,00005,~,~,~,~,~,~,~,~,~,~</a:t>
                      </a:r>
                      <a:endParaRPr kumimoji="1" lang="ja-JP" altLang="en-US" dirty="0"/>
                    </a:p>
                  </a:txBody>
                  <a:tcPr/>
                </a:tc>
                <a:extLst>
                  <a:ext uri="{0D108BD9-81ED-4DB2-BD59-A6C34878D82A}">
                    <a16:rowId xmlns:a16="http://schemas.microsoft.com/office/drawing/2014/main" val="2798850053"/>
                  </a:ext>
                </a:extLst>
              </a:tr>
            </a:tbl>
          </a:graphicData>
        </a:graphic>
      </p:graphicFrame>
      <p:pic>
        <p:nvPicPr>
          <p:cNvPr id="6" name="図 5">
            <a:extLst>
              <a:ext uri="{FF2B5EF4-FFF2-40B4-BE49-F238E27FC236}">
                <a16:creationId xmlns:a16="http://schemas.microsoft.com/office/drawing/2014/main" id="{62E0B680-BE1F-83F6-9625-8872AC1E2E40}"/>
              </a:ext>
            </a:extLst>
          </p:cNvPr>
          <p:cNvPicPr>
            <a:picLocks noChangeAspect="1"/>
          </p:cNvPicPr>
          <p:nvPr/>
        </p:nvPicPr>
        <p:blipFill>
          <a:blip r:embed="rId3"/>
          <a:stretch>
            <a:fillRect/>
          </a:stretch>
        </p:blipFill>
        <p:spPr>
          <a:xfrm>
            <a:off x="7802825" y="4507548"/>
            <a:ext cx="3838765" cy="1855334"/>
          </a:xfrm>
          <a:prstGeom prst="rect">
            <a:avLst/>
          </a:prstGeom>
        </p:spPr>
      </p:pic>
      <p:sp>
        <p:nvSpPr>
          <p:cNvPr id="8" name="テキスト ボックス 7">
            <a:extLst>
              <a:ext uri="{FF2B5EF4-FFF2-40B4-BE49-F238E27FC236}">
                <a16:creationId xmlns:a16="http://schemas.microsoft.com/office/drawing/2014/main" id="{E8A7074D-1EC0-EF88-21DC-2AF61B329963}"/>
              </a:ext>
            </a:extLst>
          </p:cNvPr>
          <p:cNvSpPr txBox="1"/>
          <p:nvPr/>
        </p:nvSpPr>
        <p:spPr>
          <a:xfrm>
            <a:off x="2155372" y="5570157"/>
            <a:ext cx="3451586" cy="584775"/>
          </a:xfrm>
          <a:prstGeom prst="rect">
            <a:avLst/>
          </a:prstGeom>
          <a:noFill/>
        </p:spPr>
        <p:txBody>
          <a:bodyPr wrap="none" rtlCol="0">
            <a:spAutoFit/>
          </a:bodyPr>
          <a:lstStyle/>
          <a:p>
            <a:r>
              <a:rPr lang="ja-JP" altLang="en-US" sz="3200" dirty="0">
                <a:solidFill>
                  <a:schemeClr val="bg1"/>
                </a:solidFill>
              </a:rPr>
              <a:t>実際の</a:t>
            </a:r>
            <a:r>
              <a:rPr lang="en-US" altLang="ja-JP" sz="3200" dirty="0">
                <a:solidFill>
                  <a:schemeClr val="bg1"/>
                </a:solidFill>
              </a:rPr>
              <a:t>CSV</a:t>
            </a:r>
            <a:r>
              <a:rPr lang="ja-JP" altLang="en-US" sz="3200" dirty="0">
                <a:solidFill>
                  <a:schemeClr val="bg1"/>
                </a:solidFill>
              </a:rPr>
              <a:t>データ</a:t>
            </a:r>
            <a:endParaRPr kumimoji="1" lang="ja-JP" altLang="en-US" sz="3200" dirty="0">
              <a:solidFill>
                <a:schemeClr val="bg1"/>
              </a:solidFill>
            </a:endParaRPr>
          </a:p>
        </p:txBody>
      </p:sp>
    </p:spTree>
    <p:extLst>
      <p:ext uri="{BB962C8B-B14F-4D97-AF65-F5344CB8AC3E}">
        <p14:creationId xmlns:p14="http://schemas.microsoft.com/office/powerpoint/2010/main" val="4252755630"/>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1813</TotalTime>
  <Words>1552</Words>
  <Application>Microsoft Office PowerPoint</Application>
  <PresentationFormat>ワイド画面</PresentationFormat>
  <Paragraphs>957</Paragraphs>
  <Slides>19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19</vt:i4>
      </vt:variant>
    </vt:vector>
  </HeadingPairs>
  <TitlesOfParts>
    <vt:vector size="2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Taisei Yamamoto</dc:creator>
  <cp:lastModifiedBy>Taisei Yamamoto</cp:lastModifiedBy>
  <cp:revision>4</cp:revision>
  <dcterms:created xsi:type="dcterms:W3CDTF">2026-06-01T11:21:14Z</dcterms:created>
  <dcterms:modified xsi:type="dcterms:W3CDTF">2026-06-08T12:22:27Z</dcterms:modified>
</cp:coreProperties>
</file>
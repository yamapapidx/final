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8" r:id="rId3"/>
    <p:sldId id="269" r:id="rId4"/>
    <p:sldId id="270" r:id="rId5"/>
    <p:sldId id="271" r:id="rId6"/>
    <p:sldId id="272" r:id="rId7"/>
    <p:sldId id="273" r:id="rId8"/>
    <p:sldId id="274" r:id="rId9"/>
    <p:sldId id="275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テーマ スタイル 1 - アクセント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5758FB7-9AC5-4552-8A53-C91805E547FA}" styleName="テーマ スタイル 1 - アクセント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テーマ スタイル 1 - アクセント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464" autoAdjust="0"/>
    <p:restoredTop sz="94660"/>
  </p:normalViewPr>
  <p:slideViewPr>
    <p:cSldViewPr snapToGrid="0">
      <p:cViewPr>
        <p:scale>
          <a:sx n="66" d="100"/>
          <a:sy n="66" d="100"/>
        </p:scale>
        <p:origin x="920" y="-2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3FA5BB2-B1EE-0248-4E47-7900373E69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1E7D7F4-653F-1E7A-CC11-0EE5B2D4BB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12AB637-118F-952B-05E8-2DA1D20B2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3ACB6-B4A4-48A9-8A22-DE4836E07CB8}" type="datetimeFigureOut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8B0927B-4EEF-DF64-3B14-777302CA0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DF2AEC6-0283-8370-C7C9-5E41D32AD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58949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215F72-04DA-B0D2-8203-AFD120FB1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20B37D3-AA34-C9EA-3247-68A43AB922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0BCA9DE-6D25-8D02-FB51-3AB4AD5C6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3ACB6-B4A4-48A9-8A22-DE4836E07CB8}" type="datetimeFigureOut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351C688-0D49-4F6E-5E1D-91114A510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3700835-8E88-CCA4-4A56-C620F375C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30494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A5E038-9EE7-E423-0A80-5C2083F8A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9FFC75B-5779-CFDC-6248-B84F5FDFF3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839077C-9241-BF8B-F606-298D88C74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3ACB6-B4A4-48A9-8A22-DE4836E07CB8}" type="datetimeFigureOut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69E1724-027B-ECEF-0E8B-B30CE0093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1371C13-E3CB-CB4E-C52F-48BCAF27A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15574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A46A61-7B06-AD96-6314-A4D54B90F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80533FA-9927-170A-DD2B-AF3E6E9891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4D0509B-7AAC-94B4-40C3-54FBE75B15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B369D96-C979-F877-9AB8-AB307813E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3ACB6-B4A4-48A9-8A22-DE4836E07CB8}" type="datetimeFigureOut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DA5D884-B6C1-DC78-2D56-74BD1B9DF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6E1E829-8DD2-92C7-F746-EDB97D82D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4553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F1707C-4805-2716-FC8B-DF3CAC720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89A8611-A434-D106-8C2D-895CC851E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3D20C2D-71E3-A54F-D7AE-5600ED99A1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6E01BE9-A111-CF62-AB80-7E4F6C1D0E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690935B-8DDD-AE42-C1C6-540693F67D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DBE5A79-FC66-1033-AB16-6BDBFF3F7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3ACB6-B4A4-48A9-8A22-DE4836E07CB8}" type="datetimeFigureOut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E3C224C-BF94-6F21-2E5F-AB7A804B71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F3E9378-80E3-72BE-706F-8F1FB1836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873329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C67369A-05D9-47FD-7E1E-6A0B0E70C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54ADB6C-8329-81A5-CC51-49C827607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3ACB6-B4A4-48A9-8A22-DE4836E07CB8}" type="datetimeFigureOut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CE2461B-5F57-E5F7-64E9-F9B78218E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365D735-0F12-AAA9-04EE-F565094B0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6884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506D8C2-3546-C7C7-74F1-DE66BF10C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3ACB6-B4A4-48A9-8A22-DE4836E07CB8}" type="datetimeFigureOut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52B0CA1-542B-C295-BA92-15EB11BC7D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42CC984-9725-C5C4-C9E2-8705FA075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6418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385A1A6-989C-8781-902C-10BF35941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3CE863C-56CE-38F6-B561-BE35C25EA4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69C32A0-8BF3-6999-6AA0-F34602F8F7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C999DD8-E579-C47F-A4BE-982C3EE83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3ACB6-B4A4-48A9-8A22-DE4836E07CB8}" type="datetimeFigureOut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238CD42-0B34-58BF-A405-E90D80F41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3F5EC84-9441-1C8D-ED7D-36569A12F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336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4E6A27-2784-EF26-493F-C1D0A6ECE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5AC0CA6-E2AC-0DB1-59C7-043BD90382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5C0CB6B-A955-0AEC-3EC0-AA343F2FDC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A2FD14-14E0-E35D-AF7D-0CCF23C29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3ACB6-B4A4-48A9-8A22-DE4836E07CB8}" type="datetimeFigureOut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31AEDDC-7D65-F069-5A9B-7B7601AE0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31CA900-BC7F-FE16-B544-BD9384717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10473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AB83BB-B144-043F-F72A-B12B97EB4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A066D5C-7512-7238-8A6B-31799A0362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C07AF9A-0DFB-59FA-1218-82FC33AC1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3ACB6-B4A4-48A9-8A22-DE4836E07CB8}" type="datetimeFigureOut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FE9DC64-CE0C-C7B0-2BF0-6DA84AF72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5F69513-B0E9-3D19-71BC-000A82CC3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9306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9137391-8FC0-7343-5E31-048C04F500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86DEDA0-3867-55A4-4F57-E80D984BA8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44CE65-F17D-9197-9D05-EBC53E99B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3ACB6-B4A4-48A9-8A22-DE4836E07CB8}" type="datetimeFigureOut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3FCD211-2019-5DDD-4C0B-D89B35AF3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0A67CBD-A8BB-EC35-27B9-6F3550BA7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10578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014E0CD-4674-AFE1-244E-4C15EB401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8C4EE23-AE74-6837-1FBE-96B1B91952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D9D9FF0-5B97-DA39-8A2E-5BFE0EDA51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E3ACB6-B4A4-48A9-8A22-DE4836E07CB8}" type="datetimeFigureOut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193F80-2F9B-0FCE-94E4-4F03696B8B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EBA1AA7-346D-7FA1-2BAA-EB9120FF5A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1125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367A6AF-C3B4-E798-D7FF-AFC096A1CFB2}"/>
              </a:ext>
            </a:extLst>
          </p:cNvPr>
          <p:cNvSpPr txBox="1"/>
          <p:nvPr/>
        </p:nvSpPr>
        <p:spPr>
          <a:xfrm>
            <a:off x="4147457" y="2967335"/>
            <a:ext cx="364715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5400" dirty="0"/>
              <a:t>画面設計図</a:t>
            </a:r>
          </a:p>
        </p:txBody>
      </p:sp>
    </p:spTree>
    <p:extLst>
      <p:ext uri="{BB962C8B-B14F-4D97-AF65-F5344CB8AC3E}">
        <p14:creationId xmlns:p14="http://schemas.microsoft.com/office/powerpoint/2010/main" val="1480939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3EED4-6933-AC37-96EB-DAA2322D6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367C50A4-D2DD-A7D5-4F6F-24B0979310A9}"/>
              </a:ext>
            </a:extLst>
          </p:cNvPr>
          <p:cNvSpPr/>
          <p:nvPr/>
        </p:nvSpPr>
        <p:spPr>
          <a:xfrm>
            <a:off x="0" y="925290"/>
            <a:ext cx="12192000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4" name="テキスト ボックス 5">
            <a:extLst>
              <a:ext uri="{FF2B5EF4-FFF2-40B4-BE49-F238E27FC236}">
                <a16:creationId xmlns:a16="http://schemas.microsoft.com/office/drawing/2014/main" id="{43F251E0-11B4-5DA6-80D6-4D8E83C302E6}"/>
              </a:ext>
            </a:extLst>
          </p:cNvPr>
          <p:cNvSpPr txBox="1"/>
          <p:nvPr/>
        </p:nvSpPr>
        <p:spPr>
          <a:xfrm>
            <a:off x="400828" y="1097007"/>
            <a:ext cx="347592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altLang="en-US" sz="3600" b="0" i="0" u="none" strike="noStrike" kern="1200" cap="none" spc="0" baseline="0" dirty="0">
                <a:solidFill>
                  <a:srgbClr val="FFFFFF"/>
                </a:solidFill>
                <a:uFillTx/>
                <a:latin typeface="游ゴシック"/>
                <a:ea typeface="游ゴシック" pitchFamily="50"/>
              </a:rPr>
              <a:t>エンジニア一覧</a:t>
            </a:r>
            <a:endParaRPr lang="en-US" sz="36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6" name="正方形/長方形 6">
            <a:extLst>
              <a:ext uri="{FF2B5EF4-FFF2-40B4-BE49-F238E27FC236}">
                <a16:creationId xmlns:a16="http://schemas.microsoft.com/office/drawing/2014/main" id="{9ECB4225-C4DA-CE7A-2F99-CE06E3351129}"/>
              </a:ext>
            </a:extLst>
          </p:cNvPr>
          <p:cNvSpPr/>
          <p:nvPr/>
        </p:nvSpPr>
        <p:spPr>
          <a:xfrm>
            <a:off x="9428622" y="1134209"/>
            <a:ext cx="2573321" cy="507204"/>
          </a:xfrm>
          <a:prstGeom prst="rect">
            <a:avLst/>
          </a:prstGeom>
          <a:solidFill>
            <a:srgbClr val="D9D9D9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196B138D-252F-C877-FFEB-D3CE36F8C850}"/>
              </a:ext>
            </a:extLst>
          </p:cNvPr>
          <p:cNvSpPr txBox="1"/>
          <p:nvPr/>
        </p:nvSpPr>
        <p:spPr>
          <a:xfrm>
            <a:off x="304796" y="195946"/>
            <a:ext cx="597150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1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-2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dirty="0">
                <a:solidFill>
                  <a:srgbClr val="000000"/>
                </a:solidFill>
                <a:latin typeface="游ゴシック"/>
                <a:ea typeface="游ゴシック" pitchFamily="50"/>
              </a:rPr>
              <a:t>一覧画面（全体）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20" name="円: 塗りつぶしなし 19">
            <a:extLst>
              <a:ext uri="{FF2B5EF4-FFF2-40B4-BE49-F238E27FC236}">
                <a16:creationId xmlns:a16="http://schemas.microsoft.com/office/drawing/2014/main" id="{557A6876-4C4E-B645-7103-88E308E10DE7}"/>
              </a:ext>
            </a:extLst>
          </p:cNvPr>
          <p:cNvSpPr/>
          <p:nvPr/>
        </p:nvSpPr>
        <p:spPr>
          <a:xfrm>
            <a:off x="11457974" y="1194833"/>
            <a:ext cx="283642" cy="266941"/>
          </a:xfrm>
          <a:prstGeom prst="donu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54BA6ACB-06F7-15FE-5A5B-9D9B18D2714B}"/>
              </a:ext>
            </a:extLst>
          </p:cNvPr>
          <p:cNvSpPr/>
          <p:nvPr/>
        </p:nvSpPr>
        <p:spPr>
          <a:xfrm rot="7871681">
            <a:off x="11742067" y="1340078"/>
            <a:ext cx="45719" cy="2749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24BC80F4-A99A-FF81-2EE1-40CA8CC4AE42}"/>
              </a:ext>
            </a:extLst>
          </p:cNvPr>
          <p:cNvSpPr/>
          <p:nvPr/>
        </p:nvSpPr>
        <p:spPr>
          <a:xfrm>
            <a:off x="5228418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9CA3BCAD-AF2D-8417-DCD2-4264CF959D7E}"/>
              </a:ext>
            </a:extLst>
          </p:cNvPr>
          <p:cNvSpPr/>
          <p:nvPr/>
        </p:nvSpPr>
        <p:spPr>
          <a:xfrm>
            <a:off x="7132199" y="1894627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E1C6B4A8-35AB-2720-32C3-17601788BBEB}"/>
              </a:ext>
            </a:extLst>
          </p:cNvPr>
          <p:cNvSpPr/>
          <p:nvPr/>
        </p:nvSpPr>
        <p:spPr>
          <a:xfrm>
            <a:off x="9035980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6FBF41DB-A165-4856-7773-902E73377E8F}"/>
              </a:ext>
            </a:extLst>
          </p:cNvPr>
          <p:cNvSpPr/>
          <p:nvPr/>
        </p:nvSpPr>
        <p:spPr>
          <a:xfrm>
            <a:off x="10939761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30" name="表 29">
            <a:extLst>
              <a:ext uri="{FF2B5EF4-FFF2-40B4-BE49-F238E27FC236}">
                <a16:creationId xmlns:a16="http://schemas.microsoft.com/office/drawing/2014/main" id="{4671A992-D9BB-B313-886E-1DCD3109D4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2300199"/>
              </p:ext>
            </p:extLst>
          </p:nvPr>
        </p:nvGraphicFramePr>
        <p:xfrm>
          <a:off x="0" y="2579700"/>
          <a:ext cx="12192000" cy="427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8000">
                  <a:extLst>
                    <a:ext uri="{9D8B030D-6E8A-4147-A177-3AD203B41FA5}">
                      <a16:colId xmlns:a16="http://schemas.microsoft.com/office/drawing/2014/main" val="84381831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593793615"/>
                    </a:ext>
                  </a:extLst>
                </a:gridCol>
                <a:gridCol w="956733">
                  <a:extLst>
                    <a:ext uri="{9D8B030D-6E8A-4147-A177-3AD203B41FA5}">
                      <a16:colId xmlns:a16="http://schemas.microsoft.com/office/drawing/2014/main" val="3819324818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582941768"/>
                    </a:ext>
                  </a:extLst>
                </a:gridCol>
                <a:gridCol w="1312334">
                  <a:extLst>
                    <a:ext uri="{9D8B030D-6E8A-4147-A177-3AD203B41FA5}">
                      <a16:colId xmlns:a16="http://schemas.microsoft.com/office/drawing/2014/main" val="326648018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3442362932"/>
                    </a:ext>
                  </a:extLst>
                </a:gridCol>
                <a:gridCol w="584200">
                  <a:extLst>
                    <a:ext uri="{9D8B030D-6E8A-4147-A177-3AD203B41FA5}">
                      <a16:colId xmlns:a16="http://schemas.microsoft.com/office/drawing/2014/main" val="1894457544"/>
                    </a:ext>
                  </a:extLst>
                </a:gridCol>
                <a:gridCol w="1075266">
                  <a:extLst>
                    <a:ext uri="{9D8B030D-6E8A-4147-A177-3AD203B41FA5}">
                      <a16:colId xmlns:a16="http://schemas.microsoft.com/office/drawing/2014/main" val="3378677225"/>
                    </a:ext>
                  </a:extLst>
                </a:gridCol>
                <a:gridCol w="804334">
                  <a:extLst>
                    <a:ext uri="{9D8B030D-6E8A-4147-A177-3AD203B41FA5}">
                      <a16:colId xmlns:a16="http://schemas.microsoft.com/office/drawing/2014/main" val="2724634915"/>
                    </a:ext>
                  </a:extLst>
                </a:gridCol>
                <a:gridCol w="1100666">
                  <a:extLst>
                    <a:ext uri="{9D8B030D-6E8A-4147-A177-3AD203B41FA5}">
                      <a16:colId xmlns:a16="http://schemas.microsoft.com/office/drawing/2014/main" val="2886769858"/>
                    </a:ext>
                  </a:extLst>
                </a:gridCol>
                <a:gridCol w="2269067">
                  <a:extLst>
                    <a:ext uri="{9D8B030D-6E8A-4147-A177-3AD203B41FA5}">
                      <a16:colId xmlns:a16="http://schemas.microsoft.com/office/drawing/2014/main" val="638158319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3725689978"/>
                    </a:ext>
                  </a:extLst>
                </a:gridCol>
              </a:tblGrid>
              <a:tr h="53478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社員</a:t>
                      </a:r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生年月日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入社年月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エンジニア歴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経歴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研修受講歴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技術力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受講態度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コミュニケーション能力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リーダーシップ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805351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1288494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193060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601969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47341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1762557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28773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052398"/>
                  </a:ext>
                </a:extLst>
              </a:tr>
            </a:tbl>
          </a:graphicData>
        </a:graphic>
      </p:graphicFrame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5DC30AF7-C56A-6965-FDAE-E3A4924D5101}"/>
              </a:ext>
            </a:extLst>
          </p:cNvPr>
          <p:cNvSpPr txBox="1"/>
          <p:nvPr/>
        </p:nvSpPr>
        <p:spPr>
          <a:xfrm>
            <a:off x="5362247" y="1925891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ソート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B17BBDE-34E7-AB5F-4A5E-03B03B317468}"/>
              </a:ext>
            </a:extLst>
          </p:cNvPr>
          <p:cNvSpPr txBox="1"/>
          <p:nvPr/>
        </p:nvSpPr>
        <p:spPr>
          <a:xfrm>
            <a:off x="7361056" y="192357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選択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8F8EC6E0-4CAF-473C-367E-86426154E22E}"/>
              </a:ext>
            </a:extLst>
          </p:cNvPr>
          <p:cNvSpPr txBox="1"/>
          <p:nvPr/>
        </p:nvSpPr>
        <p:spPr>
          <a:xfrm>
            <a:off x="9243905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</a:rPr>
              <a:t>削除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E7E69A5F-6BC9-9FA4-93E3-5DFD75078DE3}"/>
              </a:ext>
            </a:extLst>
          </p:cNvPr>
          <p:cNvSpPr txBox="1"/>
          <p:nvPr/>
        </p:nvSpPr>
        <p:spPr>
          <a:xfrm>
            <a:off x="11147686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出力</a:t>
            </a:r>
          </a:p>
        </p:txBody>
      </p:sp>
    </p:spTree>
    <p:extLst>
      <p:ext uri="{BB962C8B-B14F-4D97-AF65-F5344CB8AC3E}">
        <p14:creationId xmlns:p14="http://schemas.microsoft.com/office/powerpoint/2010/main" val="31496646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4CA92-B2B3-54AA-DCCA-E01D36809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78ED8432-18E8-13D1-026C-806C63BF0672}"/>
              </a:ext>
            </a:extLst>
          </p:cNvPr>
          <p:cNvSpPr/>
          <p:nvPr/>
        </p:nvSpPr>
        <p:spPr>
          <a:xfrm>
            <a:off x="304796" y="925290"/>
            <a:ext cx="6868881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4" name="テキスト ボックス 5">
            <a:extLst>
              <a:ext uri="{FF2B5EF4-FFF2-40B4-BE49-F238E27FC236}">
                <a16:creationId xmlns:a16="http://schemas.microsoft.com/office/drawing/2014/main" id="{F5110626-1F96-BFB2-3F82-DA9C77A9CEC6}"/>
              </a:ext>
            </a:extLst>
          </p:cNvPr>
          <p:cNvSpPr txBox="1"/>
          <p:nvPr/>
        </p:nvSpPr>
        <p:spPr>
          <a:xfrm>
            <a:off x="400828" y="1097007"/>
            <a:ext cx="5695172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altLang="en-US" sz="3600" b="0" i="0" u="none" strike="noStrike" kern="1200" cap="none" spc="0" baseline="0" dirty="0">
                <a:solidFill>
                  <a:srgbClr val="FFFFFF"/>
                </a:solidFill>
                <a:uFillTx/>
                <a:latin typeface="游ゴシック"/>
                <a:ea typeface="游ゴシック" pitchFamily="50"/>
              </a:rPr>
              <a:t>エンジニア一覧</a:t>
            </a:r>
            <a:endParaRPr lang="en-US" sz="36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B71514F5-47C0-9B81-F175-486EDDFA3024}"/>
              </a:ext>
            </a:extLst>
          </p:cNvPr>
          <p:cNvSpPr txBox="1"/>
          <p:nvPr/>
        </p:nvSpPr>
        <p:spPr>
          <a:xfrm>
            <a:off x="304796" y="195946"/>
            <a:ext cx="597150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1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-2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dirty="0">
                <a:solidFill>
                  <a:srgbClr val="000000"/>
                </a:solidFill>
                <a:latin typeface="游ゴシック"/>
                <a:ea typeface="游ゴシック" pitchFamily="50"/>
              </a:rPr>
              <a:t>一覧画面（左側）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BDCECD20-F8CC-CA35-EB56-9BC730C0C0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6971" y="3815844"/>
            <a:ext cx="4010233" cy="2632187"/>
          </a:xfrm>
          <a:prstGeom prst="rect">
            <a:avLst/>
          </a:prstGeom>
        </p:spPr>
      </p:pic>
      <p:graphicFrame>
        <p:nvGraphicFramePr>
          <p:cNvPr id="25" name="表 24">
            <a:extLst>
              <a:ext uri="{FF2B5EF4-FFF2-40B4-BE49-F238E27FC236}">
                <a16:creationId xmlns:a16="http://schemas.microsoft.com/office/drawing/2014/main" id="{92B7442D-D9EA-06FF-63D6-16C0F991B09D}"/>
              </a:ext>
            </a:extLst>
          </p:cNvPr>
          <p:cNvGraphicFramePr>
            <a:graphicFrameLocks noGrp="1"/>
          </p:cNvGraphicFramePr>
          <p:nvPr/>
        </p:nvGraphicFramePr>
        <p:xfrm>
          <a:off x="304796" y="2429164"/>
          <a:ext cx="6868881" cy="41027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7677">
                  <a:extLst>
                    <a:ext uri="{9D8B030D-6E8A-4147-A177-3AD203B41FA5}">
                      <a16:colId xmlns:a16="http://schemas.microsoft.com/office/drawing/2014/main" val="638010117"/>
                    </a:ext>
                  </a:extLst>
                </a:gridCol>
                <a:gridCol w="923636">
                  <a:extLst>
                    <a:ext uri="{9D8B030D-6E8A-4147-A177-3AD203B41FA5}">
                      <a16:colId xmlns:a16="http://schemas.microsoft.com/office/drawing/2014/main" val="3779350883"/>
                    </a:ext>
                  </a:extLst>
                </a:gridCol>
                <a:gridCol w="1459346">
                  <a:extLst>
                    <a:ext uri="{9D8B030D-6E8A-4147-A177-3AD203B41FA5}">
                      <a16:colId xmlns:a16="http://schemas.microsoft.com/office/drawing/2014/main" val="3973104674"/>
                    </a:ext>
                  </a:extLst>
                </a:gridCol>
                <a:gridCol w="1283854">
                  <a:extLst>
                    <a:ext uri="{9D8B030D-6E8A-4147-A177-3AD203B41FA5}">
                      <a16:colId xmlns:a16="http://schemas.microsoft.com/office/drawing/2014/main" val="1985344831"/>
                    </a:ext>
                  </a:extLst>
                </a:gridCol>
                <a:gridCol w="1964368">
                  <a:extLst>
                    <a:ext uri="{9D8B030D-6E8A-4147-A177-3AD203B41FA5}">
                      <a16:colId xmlns:a16="http://schemas.microsoft.com/office/drawing/2014/main" val="69931994"/>
                    </a:ext>
                  </a:extLst>
                </a:gridCol>
              </a:tblGrid>
              <a:tr h="339914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社員</a:t>
                      </a:r>
                      <a:r>
                        <a:rPr kumimoji="1" lang="en-US" altLang="ja-JP" dirty="0"/>
                        <a:t>ID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生年月日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入社年月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800" dirty="0"/>
                        <a:t>エンジニア歴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143427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山田 太郎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1989/2/14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2017/4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13</a:t>
                      </a:r>
                      <a:r>
                        <a:rPr kumimoji="1" lang="ja-JP" altLang="en-US" dirty="0"/>
                        <a:t>年</a:t>
                      </a:r>
                      <a:r>
                        <a:rPr kumimoji="1" lang="en-US" altLang="ja-JP" dirty="0"/>
                        <a:t>2</a:t>
                      </a:r>
                      <a:r>
                        <a:rPr kumimoji="1" lang="ja-JP" altLang="en-US" dirty="0"/>
                        <a:t>ヶ月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953203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田中 花子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00002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1992/1/23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2017/4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9</a:t>
                      </a:r>
                      <a:r>
                        <a:rPr kumimoji="1" lang="ja-JP" altLang="en-US" dirty="0"/>
                        <a:t>年</a:t>
                      </a:r>
                      <a:r>
                        <a:rPr kumimoji="1" lang="en-US" altLang="ja-JP" dirty="0"/>
                        <a:t>2</a:t>
                      </a:r>
                      <a:r>
                        <a:rPr kumimoji="1" lang="ja-JP" altLang="en-US" dirty="0"/>
                        <a:t>ヶ月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039770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佐藤 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00003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1990/12/31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2017/10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8</a:t>
                      </a:r>
                      <a:r>
                        <a:rPr kumimoji="1" lang="ja-JP" altLang="en-US" dirty="0"/>
                        <a:t>年</a:t>
                      </a:r>
                      <a:r>
                        <a:rPr kumimoji="1" lang="en-US" altLang="ja-JP" dirty="0"/>
                        <a:t>8</a:t>
                      </a:r>
                      <a:r>
                        <a:rPr kumimoji="1" lang="ja-JP" altLang="en-US" dirty="0"/>
                        <a:t>ヶ月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873742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木村 直也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00004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2000/4/12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2024/6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</a:t>
                      </a:r>
                      <a:r>
                        <a:rPr kumimoji="1" lang="ja-JP" altLang="en-US" dirty="0"/>
                        <a:t>年</a:t>
                      </a:r>
                      <a:r>
                        <a:rPr kumimoji="1" lang="en-US" altLang="ja-JP" dirty="0"/>
                        <a:t>2</a:t>
                      </a:r>
                      <a:r>
                        <a:rPr kumimoji="1" lang="ja-JP" altLang="en-US" dirty="0"/>
                        <a:t>ヶ月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587236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間地 佳代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00005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1995/10/24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2019/4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10</a:t>
                      </a:r>
                      <a:r>
                        <a:rPr kumimoji="1" lang="ja-JP" altLang="en-US" dirty="0"/>
                        <a:t>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8285835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秋葉 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00006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1996/2/23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2022/7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</a:t>
                      </a:r>
                      <a:r>
                        <a:rPr kumimoji="1" lang="ja-JP" altLang="en-US" dirty="0"/>
                        <a:t>年</a:t>
                      </a:r>
                      <a:r>
                        <a:rPr kumimoji="1" lang="en-US" altLang="ja-JP" dirty="0"/>
                        <a:t>10</a:t>
                      </a:r>
                      <a:r>
                        <a:rPr kumimoji="1" lang="ja-JP" altLang="en-US" dirty="0"/>
                        <a:t>ヶ月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648365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野原 しん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00007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2003/1/30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2025/12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</a:t>
                      </a:r>
                      <a:r>
                        <a:rPr kumimoji="1" lang="ja-JP" altLang="en-US" dirty="0"/>
                        <a:t>ヶ月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97680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84125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92633-8A0E-9B00-C4D3-81938DA85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2304E977-3A05-0195-DC70-E0187B30AF72}"/>
              </a:ext>
            </a:extLst>
          </p:cNvPr>
          <p:cNvSpPr/>
          <p:nvPr/>
        </p:nvSpPr>
        <p:spPr>
          <a:xfrm>
            <a:off x="304796" y="925290"/>
            <a:ext cx="6868881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04604E5F-49E7-96D0-7147-B4182F6A7054}"/>
              </a:ext>
            </a:extLst>
          </p:cNvPr>
          <p:cNvSpPr txBox="1"/>
          <p:nvPr/>
        </p:nvSpPr>
        <p:spPr>
          <a:xfrm>
            <a:off x="304796" y="195946"/>
            <a:ext cx="6433171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1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-2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dirty="0">
                <a:solidFill>
                  <a:srgbClr val="000000"/>
                </a:solidFill>
                <a:latin typeface="游ゴシック"/>
                <a:ea typeface="游ゴシック" pitchFamily="50"/>
              </a:rPr>
              <a:t>一覧画面（真ん中）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4C0307B5-C483-3F3A-CFF2-9509C0AA3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6971" y="3815844"/>
            <a:ext cx="4010233" cy="2632187"/>
          </a:xfrm>
          <a:prstGeom prst="rect">
            <a:avLst/>
          </a:prstGeom>
        </p:spPr>
      </p:pic>
      <p:graphicFrame>
        <p:nvGraphicFramePr>
          <p:cNvPr id="25" name="表 24">
            <a:extLst>
              <a:ext uri="{FF2B5EF4-FFF2-40B4-BE49-F238E27FC236}">
                <a16:creationId xmlns:a16="http://schemas.microsoft.com/office/drawing/2014/main" id="{113D67EC-5712-5DC9-941E-8D05B799ED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3884033"/>
              </p:ext>
            </p:extLst>
          </p:nvPr>
        </p:nvGraphicFramePr>
        <p:xfrm>
          <a:off x="304795" y="2429164"/>
          <a:ext cx="6868881" cy="41027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583">
                  <a:extLst>
                    <a:ext uri="{9D8B030D-6E8A-4147-A177-3AD203B41FA5}">
                      <a16:colId xmlns:a16="http://schemas.microsoft.com/office/drawing/2014/main" val="638010117"/>
                    </a:ext>
                  </a:extLst>
                </a:gridCol>
                <a:gridCol w="1059047">
                  <a:extLst>
                    <a:ext uri="{9D8B030D-6E8A-4147-A177-3AD203B41FA5}">
                      <a16:colId xmlns:a16="http://schemas.microsoft.com/office/drawing/2014/main" val="3779350883"/>
                    </a:ext>
                  </a:extLst>
                </a:gridCol>
                <a:gridCol w="2190372">
                  <a:extLst>
                    <a:ext uri="{9D8B030D-6E8A-4147-A177-3AD203B41FA5}">
                      <a16:colId xmlns:a16="http://schemas.microsoft.com/office/drawing/2014/main" val="3973104674"/>
                    </a:ext>
                  </a:extLst>
                </a:gridCol>
                <a:gridCol w="885670">
                  <a:extLst>
                    <a:ext uri="{9D8B030D-6E8A-4147-A177-3AD203B41FA5}">
                      <a16:colId xmlns:a16="http://schemas.microsoft.com/office/drawing/2014/main" val="1985344831"/>
                    </a:ext>
                  </a:extLst>
                </a:gridCol>
                <a:gridCol w="1450209">
                  <a:extLst>
                    <a:ext uri="{9D8B030D-6E8A-4147-A177-3AD203B41FA5}">
                      <a16:colId xmlns:a16="http://schemas.microsoft.com/office/drawing/2014/main" val="1929749117"/>
                    </a:ext>
                  </a:extLst>
                </a:gridCol>
              </a:tblGrid>
              <a:tr h="339914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経歴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研修受講歴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技術力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受講態度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143427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en-US" altLang="ja-JP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953203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039770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873742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2.5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587236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8285835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3.5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3.5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648365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1.5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2.5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9768062"/>
                  </a:ext>
                </a:extLst>
              </a:tr>
            </a:tbl>
          </a:graphicData>
        </a:graphic>
      </p:graphicFrame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3161DD9-86FF-1802-BAB8-025A6CE8721D}"/>
              </a:ext>
            </a:extLst>
          </p:cNvPr>
          <p:cNvSpPr/>
          <p:nvPr/>
        </p:nvSpPr>
        <p:spPr>
          <a:xfrm>
            <a:off x="5228418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0DD08E5-6A8C-7A16-4D99-C288423EEB91}"/>
              </a:ext>
            </a:extLst>
          </p:cNvPr>
          <p:cNvSpPr/>
          <p:nvPr/>
        </p:nvSpPr>
        <p:spPr>
          <a:xfrm>
            <a:off x="2924697" y="1859498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210B38F-9BED-1F02-E7FE-BEED9DC913FD}"/>
              </a:ext>
            </a:extLst>
          </p:cNvPr>
          <p:cNvSpPr txBox="1"/>
          <p:nvPr/>
        </p:nvSpPr>
        <p:spPr>
          <a:xfrm>
            <a:off x="3022782" y="1858279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ソート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A32C32A-A214-5FF3-7B1D-CC1B33F177FB}"/>
              </a:ext>
            </a:extLst>
          </p:cNvPr>
          <p:cNvSpPr txBox="1"/>
          <p:nvPr/>
        </p:nvSpPr>
        <p:spPr>
          <a:xfrm>
            <a:off x="5436343" y="190432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選択</a:t>
            </a:r>
          </a:p>
        </p:txBody>
      </p:sp>
    </p:spTree>
    <p:extLst>
      <p:ext uri="{BB962C8B-B14F-4D97-AF65-F5344CB8AC3E}">
        <p14:creationId xmlns:p14="http://schemas.microsoft.com/office/powerpoint/2010/main" val="4283365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8B0A3-DAAD-0E34-13A4-BE2A03A6B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7799B5DA-0B36-37CA-3560-6C30222ACAB2}"/>
              </a:ext>
            </a:extLst>
          </p:cNvPr>
          <p:cNvSpPr/>
          <p:nvPr/>
        </p:nvSpPr>
        <p:spPr>
          <a:xfrm>
            <a:off x="304796" y="925290"/>
            <a:ext cx="6868881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6" name="正方形/長方形 6">
            <a:extLst>
              <a:ext uri="{FF2B5EF4-FFF2-40B4-BE49-F238E27FC236}">
                <a16:creationId xmlns:a16="http://schemas.microsoft.com/office/drawing/2014/main" id="{2001F2ED-10BC-FE5E-1191-A0236F6724A5}"/>
              </a:ext>
            </a:extLst>
          </p:cNvPr>
          <p:cNvSpPr/>
          <p:nvPr/>
        </p:nvSpPr>
        <p:spPr>
          <a:xfrm>
            <a:off x="2194561" y="1166570"/>
            <a:ext cx="4617316" cy="507204"/>
          </a:xfrm>
          <a:prstGeom prst="rect">
            <a:avLst/>
          </a:prstGeom>
          <a:solidFill>
            <a:srgbClr val="D9D9D9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6CE601D2-5FDA-4490-C5D2-9B0F08AF667E}"/>
              </a:ext>
            </a:extLst>
          </p:cNvPr>
          <p:cNvSpPr txBox="1"/>
          <p:nvPr/>
        </p:nvSpPr>
        <p:spPr>
          <a:xfrm>
            <a:off x="304796" y="195946"/>
            <a:ext cx="597150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1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-2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dirty="0">
                <a:solidFill>
                  <a:srgbClr val="000000"/>
                </a:solidFill>
                <a:latin typeface="游ゴシック"/>
                <a:ea typeface="游ゴシック" pitchFamily="50"/>
              </a:rPr>
              <a:t>一覧画面（右側）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EAFB07AB-9456-6117-2F76-B5FA13076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6971" y="3815844"/>
            <a:ext cx="4010233" cy="2632187"/>
          </a:xfrm>
          <a:prstGeom prst="rect">
            <a:avLst/>
          </a:prstGeom>
        </p:spPr>
      </p:pic>
      <p:sp>
        <p:nvSpPr>
          <p:cNvPr id="20" name="円: 塗りつぶしなし 19">
            <a:extLst>
              <a:ext uri="{FF2B5EF4-FFF2-40B4-BE49-F238E27FC236}">
                <a16:creationId xmlns:a16="http://schemas.microsoft.com/office/drawing/2014/main" id="{9E482E50-491A-BCEA-2A19-336F9AF53304}"/>
              </a:ext>
            </a:extLst>
          </p:cNvPr>
          <p:cNvSpPr/>
          <p:nvPr/>
        </p:nvSpPr>
        <p:spPr>
          <a:xfrm>
            <a:off x="6320529" y="1250933"/>
            <a:ext cx="283642" cy="266941"/>
          </a:xfrm>
          <a:prstGeom prst="donu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A0A0098B-2361-153D-5023-B86F8F878785}"/>
              </a:ext>
            </a:extLst>
          </p:cNvPr>
          <p:cNvSpPr/>
          <p:nvPr/>
        </p:nvSpPr>
        <p:spPr>
          <a:xfrm rot="7871681">
            <a:off x="6581312" y="1396178"/>
            <a:ext cx="45719" cy="2749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25" name="表 24">
            <a:extLst>
              <a:ext uri="{FF2B5EF4-FFF2-40B4-BE49-F238E27FC236}">
                <a16:creationId xmlns:a16="http://schemas.microsoft.com/office/drawing/2014/main" id="{020393DE-7A34-3F2B-28DA-D74D7C7606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1769331"/>
              </p:ext>
            </p:extLst>
          </p:nvPr>
        </p:nvGraphicFramePr>
        <p:xfrm>
          <a:off x="304795" y="2429163"/>
          <a:ext cx="6868880" cy="41039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3624">
                  <a:extLst>
                    <a:ext uri="{9D8B030D-6E8A-4147-A177-3AD203B41FA5}">
                      <a16:colId xmlns:a16="http://schemas.microsoft.com/office/drawing/2014/main" val="638010117"/>
                    </a:ext>
                  </a:extLst>
                </a:gridCol>
                <a:gridCol w="3105256">
                  <a:extLst>
                    <a:ext uri="{9D8B030D-6E8A-4147-A177-3AD203B41FA5}">
                      <a16:colId xmlns:a16="http://schemas.microsoft.com/office/drawing/2014/main" val="3779350883"/>
                    </a:ext>
                  </a:extLst>
                </a:gridCol>
              </a:tblGrid>
              <a:tr h="38149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コミュニケーション能力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リーダーシップ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143427"/>
                  </a:ext>
                </a:extLst>
              </a:tr>
              <a:tr h="556831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953203"/>
                  </a:ext>
                </a:extLst>
              </a:tr>
              <a:tr h="556831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039770"/>
                  </a:ext>
                </a:extLst>
              </a:tr>
              <a:tr h="556831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873742"/>
                  </a:ext>
                </a:extLst>
              </a:tr>
              <a:tr h="556831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587236"/>
                  </a:ext>
                </a:extLst>
              </a:tr>
              <a:tr h="556831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3.5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8285835"/>
                  </a:ext>
                </a:extLst>
              </a:tr>
              <a:tr h="556831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648365"/>
                  </a:ext>
                </a:extLst>
              </a:tr>
              <a:tr h="381499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9768062"/>
                  </a:ext>
                </a:extLst>
              </a:tr>
            </a:tbl>
          </a:graphicData>
        </a:graphic>
      </p:graphicFrame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380F222-46FE-B9C2-E270-62A444870E01}"/>
              </a:ext>
            </a:extLst>
          </p:cNvPr>
          <p:cNvSpPr/>
          <p:nvPr/>
        </p:nvSpPr>
        <p:spPr>
          <a:xfrm>
            <a:off x="5170666" y="1871360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CEC1E99-0176-B555-1233-5DD7AB0E1D89}"/>
              </a:ext>
            </a:extLst>
          </p:cNvPr>
          <p:cNvSpPr/>
          <p:nvPr/>
        </p:nvSpPr>
        <p:spPr>
          <a:xfrm>
            <a:off x="1636590" y="1871360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76F64C8-1361-C079-4FC6-F65C8895D6EC}"/>
              </a:ext>
            </a:extLst>
          </p:cNvPr>
          <p:cNvSpPr txBox="1"/>
          <p:nvPr/>
        </p:nvSpPr>
        <p:spPr>
          <a:xfrm>
            <a:off x="1844515" y="186224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</a:rPr>
              <a:t>削除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E501D34-01D7-5EA8-72D2-27F4C3DF1251}"/>
              </a:ext>
            </a:extLst>
          </p:cNvPr>
          <p:cNvSpPr txBox="1"/>
          <p:nvPr/>
        </p:nvSpPr>
        <p:spPr>
          <a:xfrm>
            <a:off x="5378591" y="187507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出力</a:t>
            </a:r>
          </a:p>
        </p:txBody>
      </p:sp>
    </p:spTree>
    <p:extLst>
      <p:ext uri="{BB962C8B-B14F-4D97-AF65-F5344CB8AC3E}">
        <p14:creationId xmlns:p14="http://schemas.microsoft.com/office/powerpoint/2010/main" val="422095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75310-AE54-4B88-617C-44655370B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F83D060B-F01A-A999-7C35-1C3CC567874A}"/>
              </a:ext>
            </a:extLst>
          </p:cNvPr>
          <p:cNvSpPr/>
          <p:nvPr/>
        </p:nvSpPr>
        <p:spPr>
          <a:xfrm>
            <a:off x="0" y="872453"/>
            <a:ext cx="12192000" cy="4790714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4" name="テキスト ボックス 5">
            <a:extLst>
              <a:ext uri="{FF2B5EF4-FFF2-40B4-BE49-F238E27FC236}">
                <a16:creationId xmlns:a16="http://schemas.microsoft.com/office/drawing/2014/main" id="{8618720A-7A31-BC5F-1FA1-20DFFAB34D17}"/>
              </a:ext>
            </a:extLst>
          </p:cNvPr>
          <p:cNvSpPr txBox="1"/>
          <p:nvPr/>
        </p:nvSpPr>
        <p:spPr>
          <a:xfrm>
            <a:off x="400828" y="1097007"/>
            <a:ext cx="347592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altLang="en-US" sz="3600" b="0" i="0" u="none" strike="noStrike" kern="1200" cap="none" spc="0" baseline="0" dirty="0">
                <a:solidFill>
                  <a:srgbClr val="FFFFFF"/>
                </a:solidFill>
                <a:uFillTx/>
                <a:latin typeface="游ゴシック"/>
                <a:ea typeface="游ゴシック" pitchFamily="50"/>
              </a:rPr>
              <a:t>エンジニア一覧</a:t>
            </a:r>
            <a:endParaRPr lang="en-US" sz="36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6" name="正方形/長方形 6">
            <a:extLst>
              <a:ext uri="{FF2B5EF4-FFF2-40B4-BE49-F238E27FC236}">
                <a16:creationId xmlns:a16="http://schemas.microsoft.com/office/drawing/2014/main" id="{847D78D3-8628-CC94-94BE-065406D520EB}"/>
              </a:ext>
            </a:extLst>
          </p:cNvPr>
          <p:cNvSpPr/>
          <p:nvPr/>
        </p:nvSpPr>
        <p:spPr>
          <a:xfrm>
            <a:off x="9428622" y="1134209"/>
            <a:ext cx="2573321" cy="507204"/>
          </a:xfrm>
          <a:prstGeom prst="rect">
            <a:avLst/>
          </a:prstGeom>
          <a:solidFill>
            <a:srgbClr val="D9D9D9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altLang="en-US" sz="2400" b="0" i="0" u="none" strike="noStrike" kern="1200" cap="none" spc="0" baseline="0" dirty="0">
                <a:uFillTx/>
                <a:latin typeface="游ゴシック"/>
                <a:ea typeface="游ゴシック" pitchFamily="50"/>
              </a:rPr>
              <a:t>山田</a:t>
            </a:r>
            <a:endParaRPr lang="en-US" sz="2400" b="0" i="0" u="none" strike="noStrike" kern="1200" cap="none" spc="0" baseline="0" dirty="0"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6485BEC2-9C4C-625F-1C14-281E3785A54F}"/>
              </a:ext>
            </a:extLst>
          </p:cNvPr>
          <p:cNvSpPr txBox="1"/>
          <p:nvPr/>
        </p:nvSpPr>
        <p:spPr>
          <a:xfrm>
            <a:off x="304796" y="195946"/>
            <a:ext cx="412484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1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-3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検索機能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20" name="円: 塗りつぶしなし 19">
            <a:extLst>
              <a:ext uri="{FF2B5EF4-FFF2-40B4-BE49-F238E27FC236}">
                <a16:creationId xmlns:a16="http://schemas.microsoft.com/office/drawing/2014/main" id="{A420456B-557D-9A6A-A6EB-ED77C2A9522F}"/>
              </a:ext>
            </a:extLst>
          </p:cNvPr>
          <p:cNvSpPr/>
          <p:nvPr/>
        </p:nvSpPr>
        <p:spPr>
          <a:xfrm>
            <a:off x="11457974" y="1194833"/>
            <a:ext cx="283642" cy="266941"/>
          </a:xfrm>
          <a:prstGeom prst="donu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C0ED0CAF-545F-3A92-6597-41ADFDA976DB}"/>
              </a:ext>
            </a:extLst>
          </p:cNvPr>
          <p:cNvSpPr/>
          <p:nvPr/>
        </p:nvSpPr>
        <p:spPr>
          <a:xfrm rot="7871681">
            <a:off x="11742067" y="1340078"/>
            <a:ext cx="45719" cy="2749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FE690C24-D075-BD48-F9E0-60F4348FE2B0}"/>
              </a:ext>
            </a:extLst>
          </p:cNvPr>
          <p:cNvSpPr/>
          <p:nvPr/>
        </p:nvSpPr>
        <p:spPr>
          <a:xfrm>
            <a:off x="5228418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51D76EC8-D799-62D3-3D06-3AB685A6B6A9}"/>
              </a:ext>
            </a:extLst>
          </p:cNvPr>
          <p:cNvSpPr/>
          <p:nvPr/>
        </p:nvSpPr>
        <p:spPr>
          <a:xfrm>
            <a:off x="7132199" y="1894627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FFFB152E-EA17-DDC1-A4B4-AABC164D5A22}"/>
              </a:ext>
            </a:extLst>
          </p:cNvPr>
          <p:cNvSpPr/>
          <p:nvPr/>
        </p:nvSpPr>
        <p:spPr>
          <a:xfrm>
            <a:off x="9035980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E30B5ADB-F4F1-A82F-46D4-B52E19B990D8}"/>
              </a:ext>
            </a:extLst>
          </p:cNvPr>
          <p:cNvSpPr/>
          <p:nvPr/>
        </p:nvSpPr>
        <p:spPr>
          <a:xfrm>
            <a:off x="10939761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30" name="表 29">
            <a:extLst>
              <a:ext uri="{FF2B5EF4-FFF2-40B4-BE49-F238E27FC236}">
                <a16:creationId xmlns:a16="http://schemas.microsoft.com/office/drawing/2014/main" id="{0E1BF937-22EA-4F0B-1472-3C7CD17DD0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4587154"/>
              </p:ext>
            </p:extLst>
          </p:nvPr>
        </p:nvGraphicFramePr>
        <p:xfrm>
          <a:off x="0" y="2579700"/>
          <a:ext cx="12192000" cy="106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7314">
                  <a:extLst>
                    <a:ext uri="{9D8B030D-6E8A-4147-A177-3AD203B41FA5}">
                      <a16:colId xmlns:a16="http://schemas.microsoft.com/office/drawing/2014/main" val="843818313"/>
                    </a:ext>
                  </a:extLst>
                </a:gridCol>
                <a:gridCol w="1055915">
                  <a:extLst>
                    <a:ext uri="{9D8B030D-6E8A-4147-A177-3AD203B41FA5}">
                      <a16:colId xmlns:a16="http://schemas.microsoft.com/office/drawing/2014/main" val="2593793615"/>
                    </a:ext>
                  </a:extLst>
                </a:gridCol>
                <a:gridCol w="925285">
                  <a:extLst>
                    <a:ext uri="{9D8B030D-6E8A-4147-A177-3AD203B41FA5}">
                      <a16:colId xmlns:a16="http://schemas.microsoft.com/office/drawing/2014/main" val="3819324818"/>
                    </a:ext>
                  </a:extLst>
                </a:gridCol>
                <a:gridCol w="859972">
                  <a:extLst>
                    <a:ext uri="{9D8B030D-6E8A-4147-A177-3AD203B41FA5}">
                      <a16:colId xmlns:a16="http://schemas.microsoft.com/office/drawing/2014/main" val="582941768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326648018"/>
                    </a:ext>
                  </a:extLst>
                </a:gridCol>
                <a:gridCol w="729343">
                  <a:extLst>
                    <a:ext uri="{9D8B030D-6E8A-4147-A177-3AD203B41FA5}">
                      <a16:colId xmlns:a16="http://schemas.microsoft.com/office/drawing/2014/main" val="3442362932"/>
                    </a:ext>
                  </a:extLst>
                </a:gridCol>
                <a:gridCol w="664028">
                  <a:extLst>
                    <a:ext uri="{9D8B030D-6E8A-4147-A177-3AD203B41FA5}">
                      <a16:colId xmlns:a16="http://schemas.microsoft.com/office/drawing/2014/main" val="1894457544"/>
                    </a:ext>
                  </a:extLst>
                </a:gridCol>
                <a:gridCol w="1088572">
                  <a:extLst>
                    <a:ext uri="{9D8B030D-6E8A-4147-A177-3AD203B41FA5}">
                      <a16:colId xmlns:a16="http://schemas.microsoft.com/office/drawing/2014/main" val="3378677225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724634915"/>
                    </a:ext>
                  </a:extLst>
                </a:gridCol>
                <a:gridCol w="870857">
                  <a:extLst>
                    <a:ext uri="{9D8B030D-6E8A-4147-A177-3AD203B41FA5}">
                      <a16:colId xmlns:a16="http://schemas.microsoft.com/office/drawing/2014/main" val="2886769858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638158319"/>
                    </a:ext>
                  </a:extLst>
                </a:gridCol>
                <a:gridCol w="1284514">
                  <a:extLst>
                    <a:ext uri="{9D8B030D-6E8A-4147-A177-3AD203B41FA5}">
                      <a16:colId xmlns:a16="http://schemas.microsoft.com/office/drawing/2014/main" val="3725689978"/>
                    </a:ext>
                  </a:extLst>
                </a:gridCol>
              </a:tblGrid>
              <a:tr h="53478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社員</a:t>
                      </a:r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生年月日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入社年月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エンジニア歴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経歴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研修受講歴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技術力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受講態度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コミュニケーション能力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リーダーシップ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805351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山田太郎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00001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1989/2/14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1288494"/>
                  </a:ext>
                </a:extLst>
              </a:tr>
            </a:tbl>
          </a:graphicData>
        </a:graphic>
      </p:graphicFrame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BC797211-21B5-3D13-5E30-E3902D68CE26}"/>
              </a:ext>
            </a:extLst>
          </p:cNvPr>
          <p:cNvSpPr txBox="1"/>
          <p:nvPr/>
        </p:nvSpPr>
        <p:spPr>
          <a:xfrm>
            <a:off x="5362247" y="1925891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ソート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5C23B25-EAAF-379A-AB4D-C0DB6A36D943}"/>
              </a:ext>
            </a:extLst>
          </p:cNvPr>
          <p:cNvSpPr txBox="1"/>
          <p:nvPr/>
        </p:nvSpPr>
        <p:spPr>
          <a:xfrm>
            <a:off x="7361056" y="192357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選択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F152FC73-AB6E-BF9A-62DE-9656B6AD00CA}"/>
              </a:ext>
            </a:extLst>
          </p:cNvPr>
          <p:cNvSpPr txBox="1"/>
          <p:nvPr/>
        </p:nvSpPr>
        <p:spPr>
          <a:xfrm>
            <a:off x="9243905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</a:rPr>
              <a:t>削除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DF8E1245-98A1-038B-D31D-F81366081CDF}"/>
              </a:ext>
            </a:extLst>
          </p:cNvPr>
          <p:cNvSpPr txBox="1"/>
          <p:nvPr/>
        </p:nvSpPr>
        <p:spPr>
          <a:xfrm>
            <a:off x="11147686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出力</a:t>
            </a:r>
          </a:p>
        </p:txBody>
      </p:sp>
    </p:spTree>
    <p:extLst>
      <p:ext uri="{BB962C8B-B14F-4D97-AF65-F5344CB8AC3E}">
        <p14:creationId xmlns:p14="http://schemas.microsoft.com/office/powerpoint/2010/main" val="29600714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A247D-F31C-FA86-2912-AC67B95BC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B29CD32A-7091-19FA-0F14-8CB4B1B5E4C8}"/>
              </a:ext>
            </a:extLst>
          </p:cNvPr>
          <p:cNvSpPr/>
          <p:nvPr/>
        </p:nvSpPr>
        <p:spPr>
          <a:xfrm>
            <a:off x="0" y="925290"/>
            <a:ext cx="12192000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4" name="テキスト ボックス 5">
            <a:extLst>
              <a:ext uri="{FF2B5EF4-FFF2-40B4-BE49-F238E27FC236}">
                <a16:creationId xmlns:a16="http://schemas.microsoft.com/office/drawing/2014/main" id="{99F6BE1C-CD5F-1361-3121-77FC766C7044}"/>
              </a:ext>
            </a:extLst>
          </p:cNvPr>
          <p:cNvSpPr txBox="1"/>
          <p:nvPr/>
        </p:nvSpPr>
        <p:spPr>
          <a:xfrm>
            <a:off x="400828" y="1097007"/>
            <a:ext cx="347592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altLang="en-US" sz="3600" b="0" i="0" u="none" strike="noStrike" kern="1200" cap="none" spc="0" baseline="0" dirty="0">
                <a:solidFill>
                  <a:srgbClr val="FFFFFF"/>
                </a:solidFill>
                <a:uFillTx/>
                <a:latin typeface="游ゴシック"/>
                <a:ea typeface="游ゴシック" pitchFamily="50"/>
              </a:rPr>
              <a:t>エンジニア一覧</a:t>
            </a:r>
            <a:endParaRPr lang="en-US" sz="36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6" name="正方形/長方形 6">
            <a:extLst>
              <a:ext uri="{FF2B5EF4-FFF2-40B4-BE49-F238E27FC236}">
                <a16:creationId xmlns:a16="http://schemas.microsoft.com/office/drawing/2014/main" id="{636381A5-F924-4AD9-9F88-B3964D022CD3}"/>
              </a:ext>
            </a:extLst>
          </p:cNvPr>
          <p:cNvSpPr/>
          <p:nvPr/>
        </p:nvSpPr>
        <p:spPr>
          <a:xfrm>
            <a:off x="9428622" y="1134209"/>
            <a:ext cx="2573321" cy="507204"/>
          </a:xfrm>
          <a:prstGeom prst="rect">
            <a:avLst/>
          </a:prstGeom>
          <a:solidFill>
            <a:srgbClr val="D9D9D9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581642C8-48E5-53E2-188D-0E53ED80F86B}"/>
              </a:ext>
            </a:extLst>
          </p:cNvPr>
          <p:cNvSpPr txBox="1"/>
          <p:nvPr/>
        </p:nvSpPr>
        <p:spPr>
          <a:xfrm>
            <a:off x="304796" y="195946"/>
            <a:ext cx="4586512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1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-4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ソート機能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20" name="円: 塗りつぶしなし 19">
            <a:extLst>
              <a:ext uri="{FF2B5EF4-FFF2-40B4-BE49-F238E27FC236}">
                <a16:creationId xmlns:a16="http://schemas.microsoft.com/office/drawing/2014/main" id="{BEE3AA5E-6B75-2E9B-9F4B-79F8685801ED}"/>
              </a:ext>
            </a:extLst>
          </p:cNvPr>
          <p:cNvSpPr/>
          <p:nvPr/>
        </p:nvSpPr>
        <p:spPr>
          <a:xfrm>
            <a:off x="11457974" y="1194833"/>
            <a:ext cx="283642" cy="266941"/>
          </a:xfrm>
          <a:prstGeom prst="donu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4B8B8AAE-EECE-347E-D6A7-1CF2B2BB8883}"/>
              </a:ext>
            </a:extLst>
          </p:cNvPr>
          <p:cNvSpPr/>
          <p:nvPr/>
        </p:nvSpPr>
        <p:spPr>
          <a:xfrm rot="7871681">
            <a:off x="11742067" y="1340078"/>
            <a:ext cx="45719" cy="2749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739E47D5-C310-676B-4EBF-3C82E8D07451}"/>
              </a:ext>
            </a:extLst>
          </p:cNvPr>
          <p:cNvSpPr/>
          <p:nvPr/>
        </p:nvSpPr>
        <p:spPr>
          <a:xfrm>
            <a:off x="5228418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474D2E41-7B11-E06B-4CDA-99C8481BCD83}"/>
              </a:ext>
            </a:extLst>
          </p:cNvPr>
          <p:cNvSpPr/>
          <p:nvPr/>
        </p:nvSpPr>
        <p:spPr>
          <a:xfrm>
            <a:off x="7132199" y="1894627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6B9D6D3E-D532-A5E7-F0CA-122EB1E94584}"/>
              </a:ext>
            </a:extLst>
          </p:cNvPr>
          <p:cNvSpPr/>
          <p:nvPr/>
        </p:nvSpPr>
        <p:spPr>
          <a:xfrm>
            <a:off x="9035980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BAD216D2-88CE-C7E3-EF65-B77C3749EBA4}"/>
              </a:ext>
            </a:extLst>
          </p:cNvPr>
          <p:cNvSpPr/>
          <p:nvPr/>
        </p:nvSpPr>
        <p:spPr>
          <a:xfrm>
            <a:off x="10939761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30" name="表 29">
            <a:extLst>
              <a:ext uri="{FF2B5EF4-FFF2-40B4-BE49-F238E27FC236}">
                <a16:creationId xmlns:a16="http://schemas.microsoft.com/office/drawing/2014/main" id="{924B9A4A-3B04-9E55-A5FB-4F14EFF04791}"/>
              </a:ext>
            </a:extLst>
          </p:cNvPr>
          <p:cNvGraphicFramePr>
            <a:graphicFrameLocks noGrp="1"/>
          </p:cNvGraphicFramePr>
          <p:nvPr/>
        </p:nvGraphicFramePr>
        <p:xfrm>
          <a:off x="0" y="2579700"/>
          <a:ext cx="12192000" cy="427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8000">
                  <a:extLst>
                    <a:ext uri="{9D8B030D-6E8A-4147-A177-3AD203B41FA5}">
                      <a16:colId xmlns:a16="http://schemas.microsoft.com/office/drawing/2014/main" val="84381831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593793615"/>
                    </a:ext>
                  </a:extLst>
                </a:gridCol>
                <a:gridCol w="956733">
                  <a:extLst>
                    <a:ext uri="{9D8B030D-6E8A-4147-A177-3AD203B41FA5}">
                      <a16:colId xmlns:a16="http://schemas.microsoft.com/office/drawing/2014/main" val="3819324818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582941768"/>
                    </a:ext>
                  </a:extLst>
                </a:gridCol>
                <a:gridCol w="1312334">
                  <a:extLst>
                    <a:ext uri="{9D8B030D-6E8A-4147-A177-3AD203B41FA5}">
                      <a16:colId xmlns:a16="http://schemas.microsoft.com/office/drawing/2014/main" val="326648018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3442362932"/>
                    </a:ext>
                  </a:extLst>
                </a:gridCol>
                <a:gridCol w="584200">
                  <a:extLst>
                    <a:ext uri="{9D8B030D-6E8A-4147-A177-3AD203B41FA5}">
                      <a16:colId xmlns:a16="http://schemas.microsoft.com/office/drawing/2014/main" val="1894457544"/>
                    </a:ext>
                  </a:extLst>
                </a:gridCol>
                <a:gridCol w="1075266">
                  <a:extLst>
                    <a:ext uri="{9D8B030D-6E8A-4147-A177-3AD203B41FA5}">
                      <a16:colId xmlns:a16="http://schemas.microsoft.com/office/drawing/2014/main" val="3378677225"/>
                    </a:ext>
                  </a:extLst>
                </a:gridCol>
                <a:gridCol w="804334">
                  <a:extLst>
                    <a:ext uri="{9D8B030D-6E8A-4147-A177-3AD203B41FA5}">
                      <a16:colId xmlns:a16="http://schemas.microsoft.com/office/drawing/2014/main" val="2724634915"/>
                    </a:ext>
                  </a:extLst>
                </a:gridCol>
                <a:gridCol w="1100666">
                  <a:extLst>
                    <a:ext uri="{9D8B030D-6E8A-4147-A177-3AD203B41FA5}">
                      <a16:colId xmlns:a16="http://schemas.microsoft.com/office/drawing/2014/main" val="2886769858"/>
                    </a:ext>
                  </a:extLst>
                </a:gridCol>
                <a:gridCol w="2269067">
                  <a:extLst>
                    <a:ext uri="{9D8B030D-6E8A-4147-A177-3AD203B41FA5}">
                      <a16:colId xmlns:a16="http://schemas.microsoft.com/office/drawing/2014/main" val="638158319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3725689978"/>
                    </a:ext>
                  </a:extLst>
                </a:gridCol>
              </a:tblGrid>
              <a:tr h="53478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社員</a:t>
                      </a:r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生年月日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入社年月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エンジニア歴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経歴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研修受講歴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技術力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受講態度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コミュニケーション能力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リーダーシップ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805351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1288494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193060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601969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47341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1762557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28773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052398"/>
                  </a:ext>
                </a:extLst>
              </a:tr>
            </a:tbl>
          </a:graphicData>
        </a:graphic>
      </p:graphicFrame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86C92B5D-433C-20DE-E773-0EF3EAAE605B}"/>
              </a:ext>
            </a:extLst>
          </p:cNvPr>
          <p:cNvSpPr txBox="1"/>
          <p:nvPr/>
        </p:nvSpPr>
        <p:spPr>
          <a:xfrm>
            <a:off x="5362247" y="1925891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ソート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838025C-CE79-6C50-902D-E2BD295F0FAD}"/>
              </a:ext>
            </a:extLst>
          </p:cNvPr>
          <p:cNvSpPr txBox="1"/>
          <p:nvPr/>
        </p:nvSpPr>
        <p:spPr>
          <a:xfrm>
            <a:off x="7361056" y="192357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選択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18D079C2-DAE1-2F63-EBE9-041285F639D8}"/>
              </a:ext>
            </a:extLst>
          </p:cNvPr>
          <p:cNvSpPr txBox="1"/>
          <p:nvPr/>
        </p:nvSpPr>
        <p:spPr>
          <a:xfrm>
            <a:off x="9243905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</a:rPr>
              <a:t>削除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C9BF9A5C-8A37-B9B0-3364-1178ECFADEC6}"/>
              </a:ext>
            </a:extLst>
          </p:cNvPr>
          <p:cNvSpPr txBox="1"/>
          <p:nvPr/>
        </p:nvSpPr>
        <p:spPr>
          <a:xfrm>
            <a:off x="11147686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出力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6F5EE9A-4379-0857-DB6E-43C9222D9823}"/>
              </a:ext>
            </a:extLst>
          </p:cNvPr>
          <p:cNvSpPr/>
          <p:nvPr/>
        </p:nvSpPr>
        <p:spPr>
          <a:xfrm>
            <a:off x="2775857" y="2579701"/>
            <a:ext cx="6346372" cy="335301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D98DEDC-0EDC-148D-8911-3DAD7F5356BF}"/>
              </a:ext>
            </a:extLst>
          </p:cNvPr>
          <p:cNvSpPr/>
          <p:nvPr/>
        </p:nvSpPr>
        <p:spPr>
          <a:xfrm>
            <a:off x="5037952" y="3700106"/>
            <a:ext cx="3583533" cy="55909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22728B1-24DE-5DE3-69FB-4BDBFC9663BC}"/>
              </a:ext>
            </a:extLst>
          </p:cNvPr>
          <p:cNvSpPr txBox="1"/>
          <p:nvPr/>
        </p:nvSpPr>
        <p:spPr>
          <a:xfrm>
            <a:off x="3000809" y="3769582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ソート対象：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A354BB0-9A08-5012-B31F-EE2D1303E809}"/>
              </a:ext>
            </a:extLst>
          </p:cNvPr>
          <p:cNvSpPr txBox="1"/>
          <p:nvPr/>
        </p:nvSpPr>
        <p:spPr>
          <a:xfrm>
            <a:off x="5032134" y="2771845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dirty="0">
                <a:solidFill>
                  <a:schemeClr val="bg1"/>
                </a:solidFill>
              </a:rPr>
              <a:t>ソート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A6FAD19E-72D0-D11C-BD05-71D25DF58407}"/>
              </a:ext>
            </a:extLst>
          </p:cNvPr>
          <p:cNvSpPr txBox="1"/>
          <p:nvPr/>
        </p:nvSpPr>
        <p:spPr>
          <a:xfrm>
            <a:off x="4223667" y="4780197"/>
            <a:ext cx="44484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●昇順　　　○降順</a:t>
            </a:r>
          </a:p>
        </p:txBody>
      </p:sp>
      <p:sp>
        <p:nvSpPr>
          <p:cNvPr id="12" name="二等辺三角形 11">
            <a:extLst>
              <a:ext uri="{FF2B5EF4-FFF2-40B4-BE49-F238E27FC236}">
                <a16:creationId xmlns:a16="http://schemas.microsoft.com/office/drawing/2014/main" id="{7A3B68A0-CCF0-B9EE-3AE1-A74758311DD8}"/>
              </a:ext>
            </a:extLst>
          </p:cNvPr>
          <p:cNvSpPr/>
          <p:nvPr/>
        </p:nvSpPr>
        <p:spPr>
          <a:xfrm rot="10800000">
            <a:off x="8089580" y="3876177"/>
            <a:ext cx="371752" cy="276425"/>
          </a:xfrm>
          <a:prstGeom prst="triangle">
            <a:avLst>
              <a:gd name="adj" fmla="val 48974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88864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06D92-900E-9C05-D6D8-AA27BE366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3D4A4904-126D-FD92-CF88-1FFD2B5F9A46}"/>
              </a:ext>
            </a:extLst>
          </p:cNvPr>
          <p:cNvSpPr/>
          <p:nvPr/>
        </p:nvSpPr>
        <p:spPr>
          <a:xfrm>
            <a:off x="0" y="925290"/>
            <a:ext cx="12192000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4" name="テキスト ボックス 5">
            <a:extLst>
              <a:ext uri="{FF2B5EF4-FFF2-40B4-BE49-F238E27FC236}">
                <a16:creationId xmlns:a16="http://schemas.microsoft.com/office/drawing/2014/main" id="{5D75DBC3-29E1-5534-1067-C30EDC3247B9}"/>
              </a:ext>
            </a:extLst>
          </p:cNvPr>
          <p:cNvSpPr txBox="1"/>
          <p:nvPr/>
        </p:nvSpPr>
        <p:spPr>
          <a:xfrm>
            <a:off x="400828" y="1097007"/>
            <a:ext cx="347592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altLang="en-US" sz="3600" b="0" i="0" u="none" strike="noStrike" kern="1200" cap="none" spc="0" baseline="0" dirty="0">
                <a:solidFill>
                  <a:srgbClr val="FFFFFF"/>
                </a:solidFill>
                <a:uFillTx/>
                <a:latin typeface="游ゴシック"/>
                <a:ea typeface="游ゴシック" pitchFamily="50"/>
              </a:rPr>
              <a:t>エンジニア一覧</a:t>
            </a:r>
            <a:endParaRPr lang="en-US" sz="36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6" name="正方形/長方形 6">
            <a:extLst>
              <a:ext uri="{FF2B5EF4-FFF2-40B4-BE49-F238E27FC236}">
                <a16:creationId xmlns:a16="http://schemas.microsoft.com/office/drawing/2014/main" id="{0CB88C5F-CD13-011B-4134-41F3505B9930}"/>
              </a:ext>
            </a:extLst>
          </p:cNvPr>
          <p:cNvSpPr/>
          <p:nvPr/>
        </p:nvSpPr>
        <p:spPr>
          <a:xfrm>
            <a:off x="9428622" y="1134209"/>
            <a:ext cx="2573321" cy="507204"/>
          </a:xfrm>
          <a:prstGeom prst="rect">
            <a:avLst/>
          </a:prstGeom>
          <a:solidFill>
            <a:srgbClr val="D9D9D9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BAFF9BE7-7E72-2FA1-0DC0-C942D8097EBB}"/>
              </a:ext>
            </a:extLst>
          </p:cNvPr>
          <p:cNvSpPr txBox="1"/>
          <p:nvPr/>
        </p:nvSpPr>
        <p:spPr>
          <a:xfrm>
            <a:off x="304796" y="195946"/>
            <a:ext cx="4586512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1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-4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ソート機能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20" name="円: 塗りつぶしなし 19">
            <a:extLst>
              <a:ext uri="{FF2B5EF4-FFF2-40B4-BE49-F238E27FC236}">
                <a16:creationId xmlns:a16="http://schemas.microsoft.com/office/drawing/2014/main" id="{4DD8AA3C-DABF-ACD6-EE91-61BB0E6143FD}"/>
              </a:ext>
            </a:extLst>
          </p:cNvPr>
          <p:cNvSpPr/>
          <p:nvPr/>
        </p:nvSpPr>
        <p:spPr>
          <a:xfrm>
            <a:off x="11457974" y="1194833"/>
            <a:ext cx="283642" cy="266941"/>
          </a:xfrm>
          <a:prstGeom prst="donu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B64E6745-11C1-2D66-5357-9EBF509F1C22}"/>
              </a:ext>
            </a:extLst>
          </p:cNvPr>
          <p:cNvSpPr/>
          <p:nvPr/>
        </p:nvSpPr>
        <p:spPr>
          <a:xfrm rot="7871681">
            <a:off x="11742067" y="1340078"/>
            <a:ext cx="45719" cy="2749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6429824E-8C26-7911-E618-A00DD5C8B39D}"/>
              </a:ext>
            </a:extLst>
          </p:cNvPr>
          <p:cNvSpPr/>
          <p:nvPr/>
        </p:nvSpPr>
        <p:spPr>
          <a:xfrm>
            <a:off x="5228418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A04954C7-C71B-6ED9-82AE-398A4D322259}"/>
              </a:ext>
            </a:extLst>
          </p:cNvPr>
          <p:cNvSpPr/>
          <p:nvPr/>
        </p:nvSpPr>
        <p:spPr>
          <a:xfrm>
            <a:off x="7132199" y="1894627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4BF9943E-C68B-EC5F-19E6-45EC21E980C4}"/>
              </a:ext>
            </a:extLst>
          </p:cNvPr>
          <p:cNvSpPr/>
          <p:nvPr/>
        </p:nvSpPr>
        <p:spPr>
          <a:xfrm>
            <a:off x="9035980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C5628FFC-FF73-C4F6-C12B-401FC7CF9527}"/>
              </a:ext>
            </a:extLst>
          </p:cNvPr>
          <p:cNvSpPr/>
          <p:nvPr/>
        </p:nvSpPr>
        <p:spPr>
          <a:xfrm>
            <a:off x="10939761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30" name="表 29">
            <a:extLst>
              <a:ext uri="{FF2B5EF4-FFF2-40B4-BE49-F238E27FC236}">
                <a16:creationId xmlns:a16="http://schemas.microsoft.com/office/drawing/2014/main" id="{815EBA4D-D406-EBE7-3ED4-880EEF1C98BF}"/>
              </a:ext>
            </a:extLst>
          </p:cNvPr>
          <p:cNvGraphicFramePr>
            <a:graphicFrameLocks noGrp="1"/>
          </p:cNvGraphicFramePr>
          <p:nvPr/>
        </p:nvGraphicFramePr>
        <p:xfrm>
          <a:off x="0" y="2579700"/>
          <a:ext cx="12192000" cy="427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8000">
                  <a:extLst>
                    <a:ext uri="{9D8B030D-6E8A-4147-A177-3AD203B41FA5}">
                      <a16:colId xmlns:a16="http://schemas.microsoft.com/office/drawing/2014/main" val="84381831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593793615"/>
                    </a:ext>
                  </a:extLst>
                </a:gridCol>
                <a:gridCol w="956733">
                  <a:extLst>
                    <a:ext uri="{9D8B030D-6E8A-4147-A177-3AD203B41FA5}">
                      <a16:colId xmlns:a16="http://schemas.microsoft.com/office/drawing/2014/main" val="3819324818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582941768"/>
                    </a:ext>
                  </a:extLst>
                </a:gridCol>
                <a:gridCol w="1312334">
                  <a:extLst>
                    <a:ext uri="{9D8B030D-6E8A-4147-A177-3AD203B41FA5}">
                      <a16:colId xmlns:a16="http://schemas.microsoft.com/office/drawing/2014/main" val="326648018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3442362932"/>
                    </a:ext>
                  </a:extLst>
                </a:gridCol>
                <a:gridCol w="584200">
                  <a:extLst>
                    <a:ext uri="{9D8B030D-6E8A-4147-A177-3AD203B41FA5}">
                      <a16:colId xmlns:a16="http://schemas.microsoft.com/office/drawing/2014/main" val="1894457544"/>
                    </a:ext>
                  </a:extLst>
                </a:gridCol>
                <a:gridCol w="1075266">
                  <a:extLst>
                    <a:ext uri="{9D8B030D-6E8A-4147-A177-3AD203B41FA5}">
                      <a16:colId xmlns:a16="http://schemas.microsoft.com/office/drawing/2014/main" val="3378677225"/>
                    </a:ext>
                  </a:extLst>
                </a:gridCol>
                <a:gridCol w="804334">
                  <a:extLst>
                    <a:ext uri="{9D8B030D-6E8A-4147-A177-3AD203B41FA5}">
                      <a16:colId xmlns:a16="http://schemas.microsoft.com/office/drawing/2014/main" val="2724634915"/>
                    </a:ext>
                  </a:extLst>
                </a:gridCol>
                <a:gridCol w="1100666">
                  <a:extLst>
                    <a:ext uri="{9D8B030D-6E8A-4147-A177-3AD203B41FA5}">
                      <a16:colId xmlns:a16="http://schemas.microsoft.com/office/drawing/2014/main" val="2886769858"/>
                    </a:ext>
                  </a:extLst>
                </a:gridCol>
                <a:gridCol w="2269067">
                  <a:extLst>
                    <a:ext uri="{9D8B030D-6E8A-4147-A177-3AD203B41FA5}">
                      <a16:colId xmlns:a16="http://schemas.microsoft.com/office/drawing/2014/main" val="638158319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3725689978"/>
                    </a:ext>
                  </a:extLst>
                </a:gridCol>
              </a:tblGrid>
              <a:tr h="53478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社員</a:t>
                      </a:r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生年月日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入社年月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エンジニア歴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経歴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研修受講歴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技術力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受講態度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コミュニケーション能力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リーダーシップ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805351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1288494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193060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601969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47341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1762557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28773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052398"/>
                  </a:ext>
                </a:extLst>
              </a:tr>
            </a:tbl>
          </a:graphicData>
        </a:graphic>
      </p:graphicFrame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6F58CC13-5AC3-62D2-3647-F6CE96B84692}"/>
              </a:ext>
            </a:extLst>
          </p:cNvPr>
          <p:cNvSpPr txBox="1"/>
          <p:nvPr/>
        </p:nvSpPr>
        <p:spPr>
          <a:xfrm>
            <a:off x="5362247" y="1925891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ソート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7AFBDB2D-9B97-B154-7823-5E36A92430BA}"/>
              </a:ext>
            </a:extLst>
          </p:cNvPr>
          <p:cNvSpPr txBox="1"/>
          <p:nvPr/>
        </p:nvSpPr>
        <p:spPr>
          <a:xfrm>
            <a:off x="7361056" y="192357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選択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C07A32F2-E970-B3DF-47B8-73614220D09F}"/>
              </a:ext>
            </a:extLst>
          </p:cNvPr>
          <p:cNvSpPr txBox="1"/>
          <p:nvPr/>
        </p:nvSpPr>
        <p:spPr>
          <a:xfrm>
            <a:off x="9243905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</a:rPr>
              <a:t>削除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BF0152C6-65B9-FAF6-54B3-DB3B60F629EA}"/>
              </a:ext>
            </a:extLst>
          </p:cNvPr>
          <p:cNvSpPr txBox="1"/>
          <p:nvPr/>
        </p:nvSpPr>
        <p:spPr>
          <a:xfrm>
            <a:off x="11147686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出力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6AA9440-85D1-8F6B-A3A6-7ECE30C13115}"/>
              </a:ext>
            </a:extLst>
          </p:cNvPr>
          <p:cNvSpPr/>
          <p:nvPr/>
        </p:nvSpPr>
        <p:spPr>
          <a:xfrm>
            <a:off x="2775857" y="2579701"/>
            <a:ext cx="6346372" cy="335301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88E14DA-34A1-37DC-1913-FE5DB032285D}"/>
              </a:ext>
            </a:extLst>
          </p:cNvPr>
          <p:cNvSpPr/>
          <p:nvPr/>
        </p:nvSpPr>
        <p:spPr>
          <a:xfrm>
            <a:off x="5037952" y="3700106"/>
            <a:ext cx="3583533" cy="55909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6E577AF-1CB0-5138-F80D-09D0C23F162A}"/>
              </a:ext>
            </a:extLst>
          </p:cNvPr>
          <p:cNvSpPr txBox="1"/>
          <p:nvPr/>
        </p:nvSpPr>
        <p:spPr>
          <a:xfrm>
            <a:off x="3000809" y="3769582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ソート対象：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769E7BE-849A-032E-DECC-14BAA2386C81}"/>
              </a:ext>
            </a:extLst>
          </p:cNvPr>
          <p:cNvSpPr txBox="1"/>
          <p:nvPr/>
        </p:nvSpPr>
        <p:spPr>
          <a:xfrm>
            <a:off x="5032134" y="2771845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dirty="0">
                <a:solidFill>
                  <a:schemeClr val="bg1"/>
                </a:solidFill>
              </a:rPr>
              <a:t>ソート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6AA64F3-0E56-9E53-DE4C-ACF188419357}"/>
              </a:ext>
            </a:extLst>
          </p:cNvPr>
          <p:cNvSpPr txBox="1"/>
          <p:nvPr/>
        </p:nvSpPr>
        <p:spPr>
          <a:xfrm>
            <a:off x="4223667" y="4780197"/>
            <a:ext cx="44484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●昇順　　　○降順</a:t>
            </a:r>
          </a:p>
        </p:txBody>
      </p:sp>
      <p:sp>
        <p:nvSpPr>
          <p:cNvPr id="12" name="二等辺三角形 11">
            <a:extLst>
              <a:ext uri="{FF2B5EF4-FFF2-40B4-BE49-F238E27FC236}">
                <a16:creationId xmlns:a16="http://schemas.microsoft.com/office/drawing/2014/main" id="{4B7F6C6A-CCB7-CB8F-EB3B-73B3BCB0217D}"/>
              </a:ext>
            </a:extLst>
          </p:cNvPr>
          <p:cNvSpPr/>
          <p:nvPr/>
        </p:nvSpPr>
        <p:spPr>
          <a:xfrm>
            <a:off x="8089580" y="3876177"/>
            <a:ext cx="371752" cy="276425"/>
          </a:xfrm>
          <a:prstGeom prst="triangle">
            <a:avLst>
              <a:gd name="adj" fmla="val 48974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4F3D872-5AFE-2DF5-138D-D5A61677CF6D}"/>
              </a:ext>
            </a:extLst>
          </p:cNvPr>
          <p:cNvSpPr/>
          <p:nvPr/>
        </p:nvSpPr>
        <p:spPr>
          <a:xfrm>
            <a:off x="5037952" y="4259197"/>
            <a:ext cx="3583533" cy="55909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E47BE0D1-F7B2-2877-6E70-3D7C38605199}"/>
              </a:ext>
            </a:extLst>
          </p:cNvPr>
          <p:cNvSpPr/>
          <p:nvPr/>
        </p:nvSpPr>
        <p:spPr>
          <a:xfrm>
            <a:off x="5037951" y="4808147"/>
            <a:ext cx="3583533" cy="55909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1608818A-9821-39B7-F1D3-47621F07E9B4}"/>
              </a:ext>
            </a:extLst>
          </p:cNvPr>
          <p:cNvSpPr/>
          <p:nvPr/>
        </p:nvSpPr>
        <p:spPr>
          <a:xfrm>
            <a:off x="5037951" y="5939958"/>
            <a:ext cx="3583533" cy="55909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85303554-879E-43D4-55DD-40085EABDA93}"/>
              </a:ext>
            </a:extLst>
          </p:cNvPr>
          <p:cNvSpPr/>
          <p:nvPr/>
        </p:nvSpPr>
        <p:spPr>
          <a:xfrm>
            <a:off x="5037951" y="5366103"/>
            <a:ext cx="3583533" cy="55909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FFDDAFEE-718E-4BE0-DCDD-837600D725B6}"/>
              </a:ext>
            </a:extLst>
          </p:cNvPr>
          <p:cNvSpPr txBox="1"/>
          <p:nvPr/>
        </p:nvSpPr>
        <p:spPr>
          <a:xfrm>
            <a:off x="5647686" y="4331924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氏名</a:t>
            </a:r>
            <a:endParaRPr kumimoji="1" lang="en-US" altLang="ja-JP" sz="2400" dirty="0">
              <a:solidFill>
                <a:schemeClr val="bg1"/>
              </a:solidFill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BEF3A4AE-0C6A-E509-124D-D6B6B9BAD897}"/>
              </a:ext>
            </a:extLst>
          </p:cNvPr>
          <p:cNvSpPr txBox="1"/>
          <p:nvPr/>
        </p:nvSpPr>
        <p:spPr>
          <a:xfrm>
            <a:off x="5647686" y="4887612"/>
            <a:ext cx="11192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社員</a:t>
            </a:r>
            <a:r>
              <a:rPr kumimoji="1" lang="en-US" altLang="ja-JP" sz="2400" dirty="0">
                <a:solidFill>
                  <a:schemeClr val="bg1"/>
                </a:solidFill>
              </a:rPr>
              <a:t>ID</a:t>
            </a:r>
            <a:endParaRPr kumimoji="1" lang="ja-JP" altLang="en-US" sz="2400" dirty="0">
              <a:solidFill>
                <a:schemeClr val="bg1"/>
              </a:solidFill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90C629C-7CBB-190E-8FF4-778F9B371D88}"/>
              </a:ext>
            </a:extLst>
          </p:cNvPr>
          <p:cNvSpPr txBox="1"/>
          <p:nvPr/>
        </p:nvSpPr>
        <p:spPr>
          <a:xfrm>
            <a:off x="5647686" y="5414815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年齢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5818F2CD-109E-E3B9-1C9E-AFD73AABA087}"/>
              </a:ext>
            </a:extLst>
          </p:cNvPr>
          <p:cNvSpPr txBox="1"/>
          <p:nvPr/>
        </p:nvSpPr>
        <p:spPr>
          <a:xfrm>
            <a:off x="5333250" y="6003079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✓エンジニア歴</a:t>
            </a:r>
          </a:p>
        </p:txBody>
      </p:sp>
    </p:spTree>
    <p:extLst>
      <p:ext uri="{BB962C8B-B14F-4D97-AF65-F5344CB8AC3E}">
        <p14:creationId xmlns:p14="http://schemas.microsoft.com/office/powerpoint/2010/main" val="7284589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2F617-8203-7D71-35CB-2464CDB65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FA190115-E220-89E5-3820-BDFBDBAF137A}"/>
              </a:ext>
            </a:extLst>
          </p:cNvPr>
          <p:cNvSpPr/>
          <p:nvPr/>
        </p:nvSpPr>
        <p:spPr>
          <a:xfrm>
            <a:off x="0" y="925290"/>
            <a:ext cx="12192000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4" name="テキスト ボックス 5">
            <a:extLst>
              <a:ext uri="{FF2B5EF4-FFF2-40B4-BE49-F238E27FC236}">
                <a16:creationId xmlns:a16="http://schemas.microsoft.com/office/drawing/2014/main" id="{B73FBF27-D8A2-3A13-DB3B-35AF50FA3DE6}"/>
              </a:ext>
            </a:extLst>
          </p:cNvPr>
          <p:cNvSpPr txBox="1"/>
          <p:nvPr/>
        </p:nvSpPr>
        <p:spPr>
          <a:xfrm>
            <a:off x="400828" y="1097007"/>
            <a:ext cx="347592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altLang="en-US" sz="3600" b="0" i="0" u="none" strike="noStrike" kern="1200" cap="none" spc="0" baseline="0" dirty="0">
                <a:solidFill>
                  <a:srgbClr val="FFFFFF"/>
                </a:solidFill>
                <a:uFillTx/>
                <a:latin typeface="游ゴシック"/>
                <a:ea typeface="游ゴシック" pitchFamily="50"/>
              </a:rPr>
              <a:t>エンジニア一覧</a:t>
            </a:r>
            <a:endParaRPr lang="en-US" sz="36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6" name="正方形/長方形 6">
            <a:extLst>
              <a:ext uri="{FF2B5EF4-FFF2-40B4-BE49-F238E27FC236}">
                <a16:creationId xmlns:a16="http://schemas.microsoft.com/office/drawing/2014/main" id="{6BB56C43-6028-BB21-6F27-0EEDB8A340AB}"/>
              </a:ext>
            </a:extLst>
          </p:cNvPr>
          <p:cNvSpPr/>
          <p:nvPr/>
        </p:nvSpPr>
        <p:spPr>
          <a:xfrm>
            <a:off x="9428622" y="1134209"/>
            <a:ext cx="2573321" cy="507204"/>
          </a:xfrm>
          <a:prstGeom prst="rect">
            <a:avLst/>
          </a:prstGeom>
          <a:solidFill>
            <a:srgbClr val="D9D9D9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DC339326-2F3A-7226-2358-C78F5A284BE7}"/>
              </a:ext>
            </a:extLst>
          </p:cNvPr>
          <p:cNvSpPr txBox="1"/>
          <p:nvPr/>
        </p:nvSpPr>
        <p:spPr>
          <a:xfrm>
            <a:off x="304796" y="195946"/>
            <a:ext cx="597150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1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-2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dirty="0">
                <a:solidFill>
                  <a:srgbClr val="000000"/>
                </a:solidFill>
                <a:latin typeface="游ゴシック"/>
                <a:ea typeface="游ゴシック" pitchFamily="50"/>
              </a:rPr>
              <a:t>一覧画面（全体）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20" name="円: 塗りつぶしなし 19">
            <a:extLst>
              <a:ext uri="{FF2B5EF4-FFF2-40B4-BE49-F238E27FC236}">
                <a16:creationId xmlns:a16="http://schemas.microsoft.com/office/drawing/2014/main" id="{5749EA9F-9646-7AB9-999D-A5A2B47782C7}"/>
              </a:ext>
            </a:extLst>
          </p:cNvPr>
          <p:cNvSpPr/>
          <p:nvPr/>
        </p:nvSpPr>
        <p:spPr>
          <a:xfrm>
            <a:off x="11457974" y="1194833"/>
            <a:ext cx="283642" cy="266941"/>
          </a:xfrm>
          <a:prstGeom prst="donu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2FFC42A9-55D2-3AA9-768C-4E25A90B80A9}"/>
              </a:ext>
            </a:extLst>
          </p:cNvPr>
          <p:cNvSpPr/>
          <p:nvPr/>
        </p:nvSpPr>
        <p:spPr>
          <a:xfrm rot="7871681">
            <a:off x="11742067" y="1340078"/>
            <a:ext cx="45719" cy="2749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E641C317-5C7A-75E5-D586-CA9BFA8E6F99}"/>
              </a:ext>
            </a:extLst>
          </p:cNvPr>
          <p:cNvSpPr/>
          <p:nvPr/>
        </p:nvSpPr>
        <p:spPr>
          <a:xfrm>
            <a:off x="5228418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ACC3EEE4-6CF5-82F2-C3C5-C08AC49FA558}"/>
              </a:ext>
            </a:extLst>
          </p:cNvPr>
          <p:cNvSpPr/>
          <p:nvPr/>
        </p:nvSpPr>
        <p:spPr>
          <a:xfrm>
            <a:off x="7132199" y="1894627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58E5F8FB-B531-F253-9395-2C37AAACEF77}"/>
              </a:ext>
            </a:extLst>
          </p:cNvPr>
          <p:cNvSpPr/>
          <p:nvPr/>
        </p:nvSpPr>
        <p:spPr>
          <a:xfrm>
            <a:off x="9035980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06ABD9D5-6E1C-2EE4-3C82-D3FA1E9E462B}"/>
              </a:ext>
            </a:extLst>
          </p:cNvPr>
          <p:cNvSpPr/>
          <p:nvPr/>
        </p:nvSpPr>
        <p:spPr>
          <a:xfrm>
            <a:off x="10939761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30" name="表 29">
            <a:extLst>
              <a:ext uri="{FF2B5EF4-FFF2-40B4-BE49-F238E27FC236}">
                <a16:creationId xmlns:a16="http://schemas.microsoft.com/office/drawing/2014/main" id="{A50A5199-B788-C834-704A-CC8382B65073}"/>
              </a:ext>
            </a:extLst>
          </p:cNvPr>
          <p:cNvGraphicFramePr>
            <a:graphicFrameLocks noGrp="1"/>
          </p:cNvGraphicFramePr>
          <p:nvPr/>
        </p:nvGraphicFramePr>
        <p:xfrm>
          <a:off x="0" y="2579700"/>
          <a:ext cx="12192000" cy="427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8000">
                  <a:extLst>
                    <a:ext uri="{9D8B030D-6E8A-4147-A177-3AD203B41FA5}">
                      <a16:colId xmlns:a16="http://schemas.microsoft.com/office/drawing/2014/main" val="84381831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593793615"/>
                    </a:ext>
                  </a:extLst>
                </a:gridCol>
                <a:gridCol w="956733">
                  <a:extLst>
                    <a:ext uri="{9D8B030D-6E8A-4147-A177-3AD203B41FA5}">
                      <a16:colId xmlns:a16="http://schemas.microsoft.com/office/drawing/2014/main" val="3819324818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582941768"/>
                    </a:ext>
                  </a:extLst>
                </a:gridCol>
                <a:gridCol w="1312334">
                  <a:extLst>
                    <a:ext uri="{9D8B030D-6E8A-4147-A177-3AD203B41FA5}">
                      <a16:colId xmlns:a16="http://schemas.microsoft.com/office/drawing/2014/main" val="326648018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3442362932"/>
                    </a:ext>
                  </a:extLst>
                </a:gridCol>
                <a:gridCol w="584200">
                  <a:extLst>
                    <a:ext uri="{9D8B030D-6E8A-4147-A177-3AD203B41FA5}">
                      <a16:colId xmlns:a16="http://schemas.microsoft.com/office/drawing/2014/main" val="1894457544"/>
                    </a:ext>
                  </a:extLst>
                </a:gridCol>
                <a:gridCol w="1075266">
                  <a:extLst>
                    <a:ext uri="{9D8B030D-6E8A-4147-A177-3AD203B41FA5}">
                      <a16:colId xmlns:a16="http://schemas.microsoft.com/office/drawing/2014/main" val="3378677225"/>
                    </a:ext>
                  </a:extLst>
                </a:gridCol>
                <a:gridCol w="804334">
                  <a:extLst>
                    <a:ext uri="{9D8B030D-6E8A-4147-A177-3AD203B41FA5}">
                      <a16:colId xmlns:a16="http://schemas.microsoft.com/office/drawing/2014/main" val="2724634915"/>
                    </a:ext>
                  </a:extLst>
                </a:gridCol>
                <a:gridCol w="1100666">
                  <a:extLst>
                    <a:ext uri="{9D8B030D-6E8A-4147-A177-3AD203B41FA5}">
                      <a16:colId xmlns:a16="http://schemas.microsoft.com/office/drawing/2014/main" val="2886769858"/>
                    </a:ext>
                  </a:extLst>
                </a:gridCol>
                <a:gridCol w="2269067">
                  <a:extLst>
                    <a:ext uri="{9D8B030D-6E8A-4147-A177-3AD203B41FA5}">
                      <a16:colId xmlns:a16="http://schemas.microsoft.com/office/drawing/2014/main" val="638158319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3725689978"/>
                    </a:ext>
                  </a:extLst>
                </a:gridCol>
              </a:tblGrid>
              <a:tr h="53478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社員</a:t>
                      </a:r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生年月日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入社年月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エンジニア歴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経歴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研修受講歴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技術力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受講態度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コミュニケーション能力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リーダーシップ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805351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1288494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193060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601969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47341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1762557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28773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052398"/>
                  </a:ext>
                </a:extLst>
              </a:tr>
            </a:tbl>
          </a:graphicData>
        </a:graphic>
      </p:graphicFrame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09B2924-F055-463F-2E29-836D7C422CFA}"/>
              </a:ext>
            </a:extLst>
          </p:cNvPr>
          <p:cNvSpPr txBox="1"/>
          <p:nvPr/>
        </p:nvSpPr>
        <p:spPr>
          <a:xfrm>
            <a:off x="5362247" y="1925891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ソート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DE047276-AF9E-B951-D553-F28CC7B888C5}"/>
              </a:ext>
            </a:extLst>
          </p:cNvPr>
          <p:cNvSpPr txBox="1"/>
          <p:nvPr/>
        </p:nvSpPr>
        <p:spPr>
          <a:xfrm>
            <a:off x="7361056" y="192357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選択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61A3165C-B4BA-5106-A3C3-5D183466710D}"/>
              </a:ext>
            </a:extLst>
          </p:cNvPr>
          <p:cNvSpPr txBox="1"/>
          <p:nvPr/>
        </p:nvSpPr>
        <p:spPr>
          <a:xfrm>
            <a:off x="9243905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</a:rPr>
              <a:t>削除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81E8E228-52D7-CEAC-AC49-36134BEED0ED}"/>
              </a:ext>
            </a:extLst>
          </p:cNvPr>
          <p:cNvSpPr txBox="1"/>
          <p:nvPr/>
        </p:nvSpPr>
        <p:spPr>
          <a:xfrm>
            <a:off x="11147686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出力</a:t>
            </a:r>
          </a:p>
        </p:txBody>
      </p:sp>
    </p:spTree>
    <p:extLst>
      <p:ext uri="{BB962C8B-B14F-4D97-AF65-F5344CB8AC3E}">
        <p14:creationId xmlns:p14="http://schemas.microsoft.com/office/powerpoint/2010/main" val="8872655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329</Words>
  <Application>Microsoft Office PowerPoint</Application>
  <PresentationFormat>ワイド画面</PresentationFormat>
  <Paragraphs>197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3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Taisei Yamamoto</dc:creator>
  <cp:lastModifiedBy>Taisei Yamamoto</cp:lastModifiedBy>
  <cp:revision>1</cp:revision>
  <dcterms:created xsi:type="dcterms:W3CDTF">2026-06-01T11:21:14Z</dcterms:created>
  <dcterms:modified xsi:type="dcterms:W3CDTF">2026-06-01T12:52:32Z</dcterms:modified>
</cp:coreProperties>
</file>
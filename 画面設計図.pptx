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1" r:id="rId15"/>
    <p:sldId id="282" r:id="rId16"/>
    <p:sldId id="283" r:id="rId17"/>
    <p:sldId id="286" r:id="rId18"/>
    <p:sldId id="289" r:id="rId19"/>
    <p:sldId id="287" r:id="rId20"/>
    <p:sldId id="290" r:id="rId21"/>
    <p:sldId id="291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4660"/>
  </p:normalViewPr>
  <p:slideViewPr>
    <p:cSldViewPr snapToGrid="0">
      <p:cViewPr varScale="1">
        <p:scale>
          <a:sx n="59" d="100"/>
          <a:sy n="59" d="100"/>
        </p:scale>
        <p:origin x="12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FA5BB2-B1EE-0248-4E47-7900373E69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1E7D7F4-653F-1E7A-CC11-0EE5B2D4B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12AB637-118F-952B-05E8-2DA1D20B2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B0927B-4EEF-DF64-3B14-777302CA0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F2AEC6-0283-8370-C7C9-5E41D32AD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589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15F72-04DA-B0D2-8203-AFD120FB1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0B37D3-AA34-C9EA-3247-68A43AB92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BCA9DE-6D25-8D02-FB51-3AB4AD5C6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51C688-0D49-4F6E-5E1D-91114A510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700835-8E88-CCA4-4A56-C620F375C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3049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A5E038-9EE7-E423-0A80-5C2083F8A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9FFC75B-5779-CFDC-6248-B84F5FDFF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39077C-9241-BF8B-F606-298D88C74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9E1724-027B-ECEF-0E8B-B30CE0093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371C13-E3CB-CB4E-C52F-48BCAF27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557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A46A61-7B06-AD96-6314-A4D54B90F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80533FA-9927-170A-DD2B-AF3E6E9891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4D0509B-7AAC-94B4-40C3-54FBE75B1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369D96-C979-F877-9AB8-AB307813E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A5D884-B6C1-DC78-2D56-74BD1B9DF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6E1E829-8DD2-92C7-F746-EDB97D82D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455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1707C-4805-2716-FC8B-DF3CAC720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9A8611-A434-D106-8C2D-895CC851E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3D20C2D-71E3-A54F-D7AE-5600ED99A1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E01BE9-A111-CF62-AB80-7E4F6C1D0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690935B-8DDD-AE42-C1C6-540693F67D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DBE5A79-FC66-1033-AB16-6BDBFF3F7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E3C224C-BF94-6F21-2E5F-AB7A804B7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F3E9378-80E3-72BE-706F-8F1FB1836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7332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67369A-05D9-47FD-7E1E-6A0B0E70C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54ADB6C-8329-81A5-CC51-49C827607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CE2461B-5F57-E5F7-64E9-F9B78218E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365D735-0F12-AAA9-04EE-F565094B0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6884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506D8C2-3546-C7C7-74F1-DE66BF10C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52B0CA1-542B-C295-BA92-15EB11BC7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42CC984-9725-C5C4-C9E2-8705FA075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6418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85A1A6-989C-8781-902C-10BF35941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CE863C-56CE-38F6-B561-BE35C25EA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9C32A0-8BF3-6999-6AA0-F34602F8F7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999DD8-E579-C47F-A4BE-982C3EE83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38CD42-0B34-58BF-A405-E90D80F41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F5EC84-9441-1C8D-ED7D-36569A12F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3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4E6A27-2784-EF26-493F-C1D0A6ECE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C0CA6-E2AC-0DB1-59C7-043BD9038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0CB6B-A955-0AEC-3EC0-AA343F2FDC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A2FD14-14E0-E35D-AF7D-0CCF23C29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31AEDDC-7D65-F069-5A9B-7B7601AE0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31CA900-BC7F-FE16-B544-BD938471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1047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AB83BB-B144-043F-F72A-B12B97EB4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066D5C-7512-7238-8A6B-31799A036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07AF9A-0DFB-59FA-1218-82FC33AC1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E9DC64-CE0C-C7B0-2BF0-6DA84AF72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5F69513-B0E9-3D19-71BC-000A82CC3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930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9137391-8FC0-7343-5E31-048C04F500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6DEDA0-3867-55A4-4F57-E80D984BA8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44CE65-F17D-9197-9D05-EBC53E99B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FCD211-2019-5DDD-4C0B-D89B35AF3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A67CBD-A8BB-EC35-27B9-6F3550BA7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1057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14E0CD-4674-AFE1-244E-4C15EB401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C4EE23-AE74-6837-1FBE-96B1B9195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9D9FF0-5B97-DA39-8A2E-5BFE0EDA5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E3ACB6-B4A4-48A9-8A22-DE4836E07CB8}" type="datetimeFigureOut">
              <a:rPr kumimoji="1" lang="ja-JP" altLang="en-US" smtClean="0"/>
              <a:t>2026/6/7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193F80-2F9B-0FCE-94E4-4F03696B8B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EBA1AA7-346D-7FA1-2BAA-EB9120FF5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217F7-3503-4398-8AF3-94054DDE77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1125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67A6AF-C3B4-E798-D7FF-AFC096A1CFB2}"/>
              </a:ext>
            </a:extLst>
          </p:cNvPr>
          <p:cNvSpPr txBox="1"/>
          <p:nvPr/>
        </p:nvSpPr>
        <p:spPr>
          <a:xfrm>
            <a:off x="4147457" y="2967335"/>
            <a:ext cx="36471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5400" dirty="0"/>
              <a:t>画面設計図</a:t>
            </a:r>
          </a:p>
        </p:txBody>
      </p:sp>
    </p:spTree>
    <p:extLst>
      <p:ext uri="{BB962C8B-B14F-4D97-AF65-F5344CB8AC3E}">
        <p14:creationId xmlns:p14="http://schemas.microsoft.com/office/powerpoint/2010/main" val="1480939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3EED4-6933-AC37-96EB-DAA2322D6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367C50A4-D2DD-A7D5-4F6F-24B0979310A9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43F251E0-11B4-5DA6-80D6-4D8E83C302E6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9ECB4225-C4DA-CE7A-2F99-CE06E3351129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196B138D-252F-C877-FFEB-D3CE36F8C850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一覧画面（全体）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557A6876-4C4E-B645-7103-88E308E10DE7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54BA6ACB-06F7-15FE-5A5B-9D9B18D2714B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4BC80F4-A99A-FF81-2EE1-40CA8CC4AE42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CA3BCAD-AF2D-8417-DCD2-4264CF959D7E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1C6B4A8-35AB-2720-32C3-17601788BBEB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6FBF41DB-A165-4856-7773-902E73377E8F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4671A992-D9BB-B313-886E-1DCD3109D4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918107"/>
              </p:ext>
            </p:extLst>
          </p:nvPr>
        </p:nvGraphicFramePr>
        <p:xfrm>
          <a:off x="0" y="2579700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5DC30AF7-C56A-6965-FDAE-E3A4924D5101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B17BBDE-34E7-AB5F-4A5E-03B03B317468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F8EC6E0-4CAF-473C-367E-86426154E22E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7E69A5F-6BC9-9FA4-93E3-5DFD75078DE3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3149664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4CA92-B2B3-54AA-DCCA-E01D36809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78ED8432-18E8-13D1-026C-806C63BF067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F5110626-1F96-BFB2-3F82-DA9C77A9CEC6}"/>
              </a:ext>
            </a:extLst>
          </p:cNvPr>
          <p:cNvSpPr txBox="1"/>
          <p:nvPr/>
        </p:nvSpPr>
        <p:spPr>
          <a:xfrm>
            <a:off x="400828" y="1097007"/>
            <a:ext cx="569517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B71514F5-47C0-9B81-F175-486EDDFA3024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一覧画面（左側）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BDCECD20-F8CC-CA35-EB56-9BC730C0C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92B7442D-D9EA-06FF-63D6-16C0F991B09D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429164"/>
          <a:ext cx="6868881" cy="410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7677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923636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  <a:gridCol w="1459346">
                  <a:extLst>
                    <a:ext uri="{9D8B030D-6E8A-4147-A177-3AD203B41FA5}">
                      <a16:colId xmlns:a16="http://schemas.microsoft.com/office/drawing/2014/main" val="3973104674"/>
                    </a:ext>
                  </a:extLst>
                </a:gridCol>
                <a:gridCol w="1283854">
                  <a:extLst>
                    <a:ext uri="{9D8B030D-6E8A-4147-A177-3AD203B41FA5}">
                      <a16:colId xmlns:a16="http://schemas.microsoft.com/office/drawing/2014/main" val="1985344831"/>
                    </a:ext>
                  </a:extLst>
                </a:gridCol>
                <a:gridCol w="1964368">
                  <a:extLst>
                    <a:ext uri="{9D8B030D-6E8A-4147-A177-3AD203B41FA5}">
                      <a16:colId xmlns:a16="http://schemas.microsoft.com/office/drawing/2014/main" val="69931994"/>
                    </a:ext>
                  </a:extLst>
                </a:gridCol>
              </a:tblGrid>
              <a:tr h="33991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社員</a:t>
                      </a:r>
                      <a:r>
                        <a:rPr kumimoji="1" lang="en-US" altLang="ja-JP" dirty="0"/>
                        <a:t>ID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800" dirty="0"/>
                        <a:t>エンジニア歴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1989/2/14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13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1992/1/23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1990/12/31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2017/10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8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2000/4/12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2024/6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2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1995/10/24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2019/4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</a:t>
                      </a:r>
                      <a:r>
                        <a:rPr kumimoji="1" lang="ja-JP" altLang="en-US" dirty="0"/>
                        <a:t>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1996/2/23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2022/7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r>
                        <a:rPr kumimoji="1" lang="ja-JP" altLang="en-US" dirty="0"/>
                        <a:t>年</a:t>
                      </a:r>
                      <a:r>
                        <a:rPr kumimoji="1" lang="en-US" altLang="ja-JP" dirty="0"/>
                        <a:t>10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00007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2003/1/30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2025/12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r>
                        <a:rPr kumimoji="1" lang="ja-JP" altLang="en-US" dirty="0"/>
                        <a:t>ヶ月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8412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92633-8A0E-9B00-C4D3-81938DA85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2304E977-3A05-0195-DC70-E0187B30AF7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04604E5F-49E7-96D0-7147-B4182F6A7054}"/>
              </a:ext>
            </a:extLst>
          </p:cNvPr>
          <p:cNvSpPr txBox="1"/>
          <p:nvPr/>
        </p:nvSpPr>
        <p:spPr>
          <a:xfrm>
            <a:off x="304796" y="195946"/>
            <a:ext cx="6433171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一覧画面（真ん中）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4C0307B5-C483-3F3A-CFF2-9509C0AA3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113D67EC-5712-5DC9-941E-8D05B799E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884033"/>
              </p:ext>
            </p:extLst>
          </p:nvPr>
        </p:nvGraphicFramePr>
        <p:xfrm>
          <a:off x="304795" y="2429164"/>
          <a:ext cx="6868881" cy="4102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583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1059047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  <a:gridCol w="2190372">
                  <a:extLst>
                    <a:ext uri="{9D8B030D-6E8A-4147-A177-3AD203B41FA5}">
                      <a16:colId xmlns:a16="http://schemas.microsoft.com/office/drawing/2014/main" val="3973104674"/>
                    </a:ext>
                  </a:extLst>
                </a:gridCol>
                <a:gridCol w="885670">
                  <a:extLst>
                    <a:ext uri="{9D8B030D-6E8A-4147-A177-3AD203B41FA5}">
                      <a16:colId xmlns:a16="http://schemas.microsoft.com/office/drawing/2014/main" val="1985344831"/>
                    </a:ext>
                  </a:extLst>
                </a:gridCol>
                <a:gridCol w="1450209">
                  <a:extLst>
                    <a:ext uri="{9D8B030D-6E8A-4147-A177-3AD203B41FA5}">
                      <a16:colId xmlns:a16="http://schemas.microsoft.com/office/drawing/2014/main" val="1929749117"/>
                    </a:ext>
                  </a:extLst>
                </a:gridCol>
              </a:tblGrid>
              <a:tr h="33991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53385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2.5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161DD9-86FF-1802-BAB8-025A6CE8721D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0DD08E5-6A8C-7A16-4D99-C288423EEB91}"/>
              </a:ext>
            </a:extLst>
          </p:cNvPr>
          <p:cNvSpPr/>
          <p:nvPr/>
        </p:nvSpPr>
        <p:spPr>
          <a:xfrm>
            <a:off x="2924697" y="1859498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210B38F-9BED-1F02-E7FE-BEED9DC913FD}"/>
              </a:ext>
            </a:extLst>
          </p:cNvPr>
          <p:cNvSpPr txBox="1"/>
          <p:nvPr/>
        </p:nvSpPr>
        <p:spPr>
          <a:xfrm>
            <a:off x="3022782" y="185827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32C32A-A214-5FF3-7B1D-CC1B33F177FB}"/>
              </a:ext>
            </a:extLst>
          </p:cNvPr>
          <p:cNvSpPr txBox="1"/>
          <p:nvPr/>
        </p:nvSpPr>
        <p:spPr>
          <a:xfrm>
            <a:off x="5436343" y="190432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</p:spTree>
    <p:extLst>
      <p:ext uri="{BB962C8B-B14F-4D97-AF65-F5344CB8AC3E}">
        <p14:creationId xmlns:p14="http://schemas.microsoft.com/office/powerpoint/2010/main" val="428336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B0A3-DAAD-0E34-13A4-BE2A03A6B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7799B5DA-0B36-37CA-3560-6C30222ACAB2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2001F2ED-10BC-FE5E-1191-A0236F6724A5}"/>
              </a:ext>
            </a:extLst>
          </p:cNvPr>
          <p:cNvSpPr/>
          <p:nvPr/>
        </p:nvSpPr>
        <p:spPr>
          <a:xfrm>
            <a:off x="2194561" y="1166570"/>
            <a:ext cx="4617316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6CE601D2-5FDA-4490-C5D2-9B0F08AF667E}"/>
              </a:ext>
            </a:extLst>
          </p:cNvPr>
          <p:cNvSpPr txBox="1"/>
          <p:nvPr/>
        </p:nvSpPr>
        <p:spPr>
          <a:xfrm>
            <a:off x="304796" y="195946"/>
            <a:ext cx="597150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一覧画面（右側）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EAFB07AB-9456-6117-2F76-B5FA13076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971" y="3815844"/>
            <a:ext cx="4010233" cy="2632187"/>
          </a:xfrm>
          <a:prstGeom prst="rect">
            <a:avLst/>
          </a:prstGeom>
        </p:spPr>
      </p:pic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9E482E50-491A-BCEA-2A19-336F9AF53304}"/>
              </a:ext>
            </a:extLst>
          </p:cNvPr>
          <p:cNvSpPr/>
          <p:nvPr/>
        </p:nvSpPr>
        <p:spPr>
          <a:xfrm>
            <a:off x="6320529" y="12509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0A0098B-2361-153D-5023-B86F8F878785}"/>
              </a:ext>
            </a:extLst>
          </p:cNvPr>
          <p:cNvSpPr/>
          <p:nvPr/>
        </p:nvSpPr>
        <p:spPr>
          <a:xfrm rot="7871681">
            <a:off x="6581312" y="13961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020393DE-7A34-3F2B-28DA-D74D7C7606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769331"/>
              </p:ext>
            </p:extLst>
          </p:nvPr>
        </p:nvGraphicFramePr>
        <p:xfrm>
          <a:off x="304795" y="2429163"/>
          <a:ext cx="6868880" cy="4103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3624">
                  <a:extLst>
                    <a:ext uri="{9D8B030D-6E8A-4147-A177-3AD203B41FA5}">
                      <a16:colId xmlns:a16="http://schemas.microsoft.com/office/drawing/2014/main" val="638010117"/>
                    </a:ext>
                  </a:extLst>
                </a:gridCol>
                <a:gridCol w="3105256">
                  <a:extLst>
                    <a:ext uri="{9D8B030D-6E8A-4147-A177-3AD203B41FA5}">
                      <a16:colId xmlns:a16="http://schemas.microsoft.com/office/drawing/2014/main" val="3779350883"/>
                    </a:ext>
                  </a:extLst>
                </a:gridCol>
              </a:tblGrid>
              <a:tr h="38149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143427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53203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39770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873742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587236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3.5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285835"/>
                  </a:ext>
                </a:extLst>
              </a:tr>
              <a:tr h="5568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648365"/>
                  </a:ext>
                </a:extLst>
              </a:tr>
              <a:tr h="381499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68062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380F222-46FE-B9C2-E270-62A444870E01}"/>
              </a:ext>
            </a:extLst>
          </p:cNvPr>
          <p:cNvSpPr/>
          <p:nvPr/>
        </p:nvSpPr>
        <p:spPr>
          <a:xfrm>
            <a:off x="5170666" y="1871360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CEC1E99-0176-B555-1233-5DD7AB0E1D89}"/>
              </a:ext>
            </a:extLst>
          </p:cNvPr>
          <p:cNvSpPr/>
          <p:nvPr/>
        </p:nvSpPr>
        <p:spPr>
          <a:xfrm>
            <a:off x="1636590" y="1871360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6F64C8-1361-C079-4FC6-F65C8895D6EC}"/>
              </a:ext>
            </a:extLst>
          </p:cNvPr>
          <p:cNvSpPr txBox="1"/>
          <p:nvPr/>
        </p:nvSpPr>
        <p:spPr>
          <a:xfrm>
            <a:off x="1844515" y="186224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追加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501D34-01D7-5EA8-72D2-27F4C3DF1251}"/>
              </a:ext>
            </a:extLst>
          </p:cNvPr>
          <p:cNvSpPr txBox="1"/>
          <p:nvPr/>
        </p:nvSpPr>
        <p:spPr>
          <a:xfrm>
            <a:off x="5378591" y="187507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42209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75310-AE54-4B88-617C-44655370B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F83D060B-F01A-A999-7C35-1C3CC567874A}"/>
              </a:ext>
            </a:extLst>
          </p:cNvPr>
          <p:cNvSpPr/>
          <p:nvPr/>
        </p:nvSpPr>
        <p:spPr>
          <a:xfrm>
            <a:off x="0" y="872453"/>
            <a:ext cx="12192000" cy="4790714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8618720A-7A31-BC5F-1FA1-20DFFAB34D17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847D78D3-8628-CC94-94BE-065406D520EB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2400" b="0" i="0" u="none" strike="noStrike" kern="1200" cap="none" spc="0" baseline="0" dirty="0">
                <a:uFillTx/>
                <a:latin typeface="游ゴシック"/>
                <a:ea typeface="游ゴシック" pitchFamily="50"/>
              </a:rPr>
              <a:t>山田</a:t>
            </a:r>
            <a:endParaRPr lang="en-US" sz="2400" b="0" i="0" u="none" strike="noStrike" kern="1200" cap="none" spc="0" baseline="0" dirty="0"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6485BEC2-9C4C-625F-1C14-281E3785A54F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-3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検索機能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A420456B-557D-9A6A-A6EB-ED77C2A9522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0ED0CAF-545F-3A92-6597-41ADFDA976DB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E690C24-D075-BD48-F9E0-60F4348FE2B0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1D76EC8-D799-62D3-3D06-3AB685A6B6A9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FFB152E-EA17-DDC1-A4B4-AABC164D5A22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30B5ADB-F4F1-A82F-46D4-B52E19B990D8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0E1BF937-22EA-4F0B-1472-3C7CD17DD0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171946"/>
              </p:ext>
            </p:extLst>
          </p:nvPr>
        </p:nvGraphicFramePr>
        <p:xfrm>
          <a:off x="0" y="2579700"/>
          <a:ext cx="12192000" cy="106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314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1055915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25285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859972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729343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664028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284514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C797211-21B5-3D13-5E30-E3902D68CE26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5C23B25-EAAF-379A-AB4D-C0DB6A36D943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F152FC73-AB6E-BF9A-62DE-9656B6AD00CA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F8E1245-98A1-038B-D31D-F81366081CDF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296007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A247D-F31C-FA86-2912-AC67B95BC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B29CD32A-7091-19FA-0F14-8CB4B1B5E4C8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99F6BE1C-CD5F-1361-3121-77FC766C7044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636381A5-F924-4AD9-9F88-B3964D022CD3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581642C8-48E5-53E2-188D-0E53ED80F86B}"/>
              </a:ext>
            </a:extLst>
          </p:cNvPr>
          <p:cNvSpPr txBox="1"/>
          <p:nvPr/>
        </p:nvSpPr>
        <p:spPr>
          <a:xfrm>
            <a:off x="304796" y="195946"/>
            <a:ext cx="458651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ソート機能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BEE3AA5E-6B75-2E9B-9F4B-79F8685801ED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4B8B8AAE-EECE-347E-D6A7-1CF2B2BB8883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39E47D5-C310-676B-4EBF-3C82E8D07451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474D2E41-7B11-E06B-4CDA-99C8481BCD83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B9D6D3E-D532-A5E7-F0CA-122EB1E94584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AD216D2-88CE-C7E3-EF65-B77C3749EBA4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924B9A4A-3B04-9E55-A5FB-4F14EFF04791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56733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312334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526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100666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269067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6C92B5D-433C-20DE-E773-0EF3EAAE605B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838025C-CE79-6C50-902D-E2BD295F0FAD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8D079C2-DAE1-2F63-EBE9-041285F639D8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9BF9A5C-8A37-B9B0-3364-1178ECFADEC6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6F5EE9A-4379-0857-DB6E-43C9222D9823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98DEDC-0EDC-148D-8911-3DAD7F5356BF}"/>
              </a:ext>
            </a:extLst>
          </p:cNvPr>
          <p:cNvSpPr/>
          <p:nvPr/>
        </p:nvSpPr>
        <p:spPr>
          <a:xfrm>
            <a:off x="5037952" y="3700106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22728B1-24DE-5DE3-69FB-4BDBFC9663BC}"/>
              </a:ext>
            </a:extLst>
          </p:cNvPr>
          <p:cNvSpPr txBox="1"/>
          <p:nvPr/>
        </p:nvSpPr>
        <p:spPr>
          <a:xfrm>
            <a:off x="3000809" y="3769582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ソート対象：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A354BB0-9A08-5012-B31F-EE2D1303E809}"/>
              </a:ext>
            </a:extLst>
          </p:cNvPr>
          <p:cNvSpPr txBox="1"/>
          <p:nvPr/>
        </p:nvSpPr>
        <p:spPr>
          <a:xfrm>
            <a:off x="5032134" y="2771845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6FAD19E-72D0-D11C-BD05-71D25DF58407}"/>
              </a:ext>
            </a:extLst>
          </p:cNvPr>
          <p:cNvSpPr txBox="1"/>
          <p:nvPr/>
        </p:nvSpPr>
        <p:spPr>
          <a:xfrm>
            <a:off x="4223667" y="4780197"/>
            <a:ext cx="4448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●昇順　　　○降順</a:t>
            </a:r>
          </a:p>
        </p:txBody>
      </p: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7A3B68A0-CCF0-B9EE-3AE1-A74758311DD8}"/>
              </a:ext>
            </a:extLst>
          </p:cNvPr>
          <p:cNvSpPr/>
          <p:nvPr/>
        </p:nvSpPr>
        <p:spPr>
          <a:xfrm rot="10800000">
            <a:off x="8089580" y="3876177"/>
            <a:ext cx="371752" cy="276425"/>
          </a:xfrm>
          <a:prstGeom prst="triangle">
            <a:avLst>
              <a:gd name="adj" fmla="val 4897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886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6D92-900E-9C05-D6D8-AA27BE366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3D4A4904-126D-FD92-CF88-1FFD2B5F9A46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5D75DBC3-29E1-5534-1067-C30EDC3247B9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0CB88C5F-CD13-011B-4134-41F3505B9930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BAFF9BE7-7E72-2FA1-0DC0-C942D8097EBB}"/>
              </a:ext>
            </a:extLst>
          </p:cNvPr>
          <p:cNvSpPr txBox="1"/>
          <p:nvPr/>
        </p:nvSpPr>
        <p:spPr>
          <a:xfrm>
            <a:off x="304796" y="195946"/>
            <a:ext cx="458651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ソート機能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4DD8AA3C-DABF-ACD6-EE91-61BB0E6143FD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64E6745-11C1-2D66-5357-9EBF509F1C22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6429824E-8C26-7911-E618-A00DD5C8B39D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04954C7-C71B-6ED9-82AE-398A4D322259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BF9943E-C68B-EC5F-19E6-45EC21E980C4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C5628FFC-FF73-C4F6-C12B-401FC7CF9527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815EBA4D-D406-EBE7-3ED4-880EEF1C98BF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80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56733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312334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584200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526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04334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100666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269067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F58CC13-5AC3-62D2-3647-F6CE96B84692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7AFBDB2D-9B97-B154-7823-5E36A92430BA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07A32F2-E970-B3DF-47B8-73614220D09F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追加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F0152C6-65B9-FAF6-54B3-DB3B60F629EA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6AA9440-85D1-8F6B-A3A6-7ECE30C13115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88E14DA-34A1-37DC-1913-FE5DB032285D}"/>
              </a:ext>
            </a:extLst>
          </p:cNvPr>
          <p:cNvSpPr/>
          <p:nvPr/>
        </p:nvSpPr>
        <p:spPr>
          <a:xfrm>
            <a:off x="5037952" y="3700106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6E577AF-1CB0-5138-F80D-09D0C23F162A}"/>
              </a:ext>
            </a:extLst>
          </p:cNvPr>
          <p:cNvSpPr txBox="1"/>
          <p:nvPr/>
        </p:nvSpPr>
        <p:spPr>
          <a:xfrm>
            <a:off x="3000809" y="3769582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ソート対象：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769E7BE-849A-032E-DECC-14BAA2386C81}"/>
              </a:ext>
            </a:extLst>
          </p:cNvPr>
          <p:cNvSpPr txBox="1"/>
          <p:nvPr/>
        </p:nvSpPr>
        <p:spPr>
          <a:xfrm>
            <a:off x="5032134" y="2771845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6AA64F3-0E56-9E53-DE4C-ACF188419357}"/>
              </a:ext>
            </a:extLst>
          </p:cNvPr>
          <p:cNvSpPr txBox="1"/>
          <p:nvPr/>
        </p:nvSpPr>
        <p:spPr>
          <a:xfrm>
            <a:off x="4223667" y="4780197"/>
            <a:ext cx="4448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●昇順　　　○降順</a:t>
            </a:r>
          </a:p>
        </p:txBody>
      </p: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4B7F6C6A-CCB7-CB8F-EB3B-73B3BCB0217D}"/>
              </a:ext>
            </a:extLst>
          </p:cNvPr>
          <p:cNvSpPr/>
          <p:nvPr/>
        </p:nvSpPr>
        <p:spPr>
          <a:xfrm>
            <a:off x="8089580" y="3876177"/>
            <a:ext cx="371752" cy="276425"/>
          </a:xfrm>
          <a:prstGeom prst="triangle">
            <a:avLst>
              <a:gd name="adj" fmla="val 4897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4F3D872-5AFE-2DF5-138D-D5A61677CF6D}"/>
              </a:ext>
            </a:extLst>
          </p:cNvPr>
          <p:cNvSpPr/>
          <p:nvPr/>
        </p:nvSpPr>
        <p:spPr>
          <a:xfrm>
            <a:off x="5037952" y="4259197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47BE0D1-F7B2-2877-6E70-3D7C38605199}"/>
              </a:ext>
            </a:extLst>
          </p:cNvPr>
          <p:cNvSpPr/>
          <p:nvPr/>
        </p:nvSpPr>
        <p:spPr>
          <a:xfrm>
            <a:off x="5037951" y="4808147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608818A-9821-39B7-F1D3-47621F07E9B4}"/>
              </a:ext>
            </a:extLst>
          </p:cNvPr>
          <p:cNvSpPr/>
          <p:nvPr/>
        </p:nvSpPr>
        <p:spPr>
          <a:xfrm>
            <a:off x="5037951" y="5939958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5303554-879E-43D4-55DD-40085EABDA93}"/>
              </a:ext>
            </a:extLst>
          </p:cNvPr>
          <p:cNvSpPr/>
          <p:nvPr/>
        </p:nvSpPr>
        <p:spPr>
          <a:xfrm>
            <a:off x="5037951" y="5366103"/>
            <a:ext cx="3583533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FDDAFEE-718E-4BE0-DCDD-837600D725B6}"/>
              </a:ext>
            </a:extLst>
          </p:cNvPr>
          <p:cNvSpPr txBox="1"/>
          <p:nvPr/>
        </p:nvSpPr>
        <p:spPr>
          <a:xfrm>
            <a:off x="5647686" y="433192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氏名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EF3A4AE-0C6A-E509-124D-D6B6B9BAD897}"/>
              </a:ext>
            </a:extLst>
          </p:cNvPr>
          <p:cNvSpPr txBox="1"/>
          <p:nvPr/>
        </p:nvSpPr>
        <p:spPr>
          <a:xfrm>
            <a:off x="5647686" y="4887612"/>
            <a:ext cx="11192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社員</a:t>
            </a:r>
            <a:r>
              <a:rPr kumimoji="1" lang="en-US" altLang="ja-JP" sz="2400" dirty="0">
                <a:solidFill>
                  <a:schemeClr val="bg1"/>
                </a:solidFill>
              </a:rPr>
              <a:t>ID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90C629C-7CBB-190E-8FF4-778F9B371D88}"/>
              </a:ext>
            </a:extLst>
          </p:cNvPr>
          <p:cNvSpPr txBox="1"/>
          <p:nvPr/>
        </p:nvSpPr>
        <p:spPr>
          <a:xfrm>
            <a:off x="5647686" y="5414815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年齢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818F2CD-109E-E3B9-1C9E-AFD73AABA087}"/>
              </a:ext>
            </a:extLst>
          </p:cNvPr>
          <p:cNvSpPr txBox="1"/>
          <p:nvPr/>
        </p:nvSpPr>
        <p:spPr>
          <a:xfrm>
            <a:off x="5333250" y="6003079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✓エンジニア歴</a:t>
            </a:r>
          </a:p>
        </p:txBody>
      </p:sp>
    </p:spTree>
    <p:extLst>
      <p:ext uri="{BB962C8B-B14F-4D97-AF65-F5344CB8AC3E}">
        <p14:creationId xmlns:p14="http://schemas.microsoft.com/office/powerpoint/2010/main" val="728458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2F617-8203-7D71-35CB-2464CDB6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FA190115-E220-89E5-3820-BDFBDBAF137A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B73FBF27-D8A2-3A13-DB3B-35AF50FA3DE6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6BB56C43-6028-BB21-6F27-0EEDB8A340AB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DC339326-2F3A-7226-2358-C78F5A284BE7}"/>
              </a:ext>
            </a:extLst>
          </p:cNvPr>
          <p:cNvSpPr txBox="1"/>
          <p:nvPr/>
        </p:nvSpPr>
        <p:spPr>
          <a:xfrm>
            <a:off x="304796" y="195946"/>
            <a:ext cx="4586512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ソート機能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5749EA9F-9646-7AB9-999D-A5A2B47782C7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FFC42A9-55D2-3AA9-768C-4E25A90B80A9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641C317-5C7A-75E5-D586-CA9BFA8E6F99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CC3EEE4-6CF5-82F2-C3C5-C08AC49FA558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8E5F8FB-B531-F253-9395-2C37AAACEF77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6ABD9D5-6E1C-2EE4-3C82-D3FA1E9E462B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A50A5199-B788-C834-704A-CC8382B650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4853011"/>
              </p:ext>
            </p:extLst>
          </p:nvPr>
        </p:nvGraphicFramePr>
        <p:xfrm>
          <a:off x="0" y="2579700"/>
          <a:ext cx="12192000" cy="42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5286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53143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25285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36172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576943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664028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077686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794657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55914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2068286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花子</a:t>
                      </a:r>
                      <a:endParaRPr kumimoji="1" lang="en-US" altLang="ja-JP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~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09B2924-F055-463F-2E29-836D7C422CFA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E047276-AF9E-B951-D553-F28CC7B888C5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1A3165C-B4BA-5106-A3C3-5D183466710D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1E8E228-52D7-CEAC-AC49-36134BEED0ED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887265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3CDF0-EB1E-111D-96F1-571BDD84C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9F149FF8-8B4E-B895-CBD0-5C6CDFE1C50C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7A16AE19-3444-8B2A-8599-152D315A5969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82822F52-B2E4-0B2B-BF39-7A1E1DD9CEAC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5492AB31-A202-5303-83B6-2637BC6C6DB5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-5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削除機能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8B9A77ED-1C74-2322-E969-B5720735FC6C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2B5897F-10B3-89A5-C3BE-4D93DF3B4EF8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8C4DC02E-F175-4A45-04EE-CDFCB07287EC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1978B83-9B81-9546-58F2-71673C5687C3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DDB3C56-04A1-4353-D2E1-D475ED78777E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59EDAF2A-9F78-5BD4-9C38-E477216D02FD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1DC88A8B-5BB4-A475-2759-C881072504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591034"/>
              </p:ext>
            </p:extLst>
          </p:nvPr>
        </p:nvGraphicFramePr>
        <p:xfrm>
          <a:off x="0" y="2590586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AB45A54-0647-0F47-5940-77CCD425DB38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81DAB9-9875-B72D-460D-36D2F8356914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B41F7A8-F0FC-C624-56E0-15E6C06E4898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BF943BD-0FA7-7FEE-73C7-6B7AF1E698E0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1733989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7306E-50FD-E159-18D2-2449D85C1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B7A4D44C-21BF-9C25-DCAB-0EBAD30AD437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67BB5918-74D4-7FF1-0E55-53C8927B93DE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6A39D422-38C9-4383-4B1E-8FC8F83E3D86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CED1A476-D3B2-9253-AF6A-B7370287DB85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1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-5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削除機能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309829D4-8733-2FF1-1248-1FA24157D7F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0F96F00-D50D-3E5A-D278-957BB33A8EEC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1286A52D-3293-4CE4-F80C-31A206321103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15726BA-A323-E301-33CB-BC9E4BF61868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2DD7CA2-C3BC-DA43-5E8B-83DD73F765F4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BE5BBB2-2264-1C7F-1AB6-C17F62CCD534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B9F76936-4CDF-89FB-67B0-D3659D7523A4}"/>
              </a:ext>
            </a:extLst>
          </p:cNvPr>
          <p:cNvGraphicFramePr>
            <a:graphicFrameLocks noGrp="1"/>
          </p:cNvGraphicFramePr>
          <p:nvPr/>
        </p:nvGraphicFramePr>
        <p:xfrm>
          <a:off x="0" y="2590586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86B8898-D180-5C35-9464-4DECDC3F6E94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C886234-5086-BD42-3476-BC98D29BC37E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3857AF0-B5E2-A58D-ED62-D8E7CEABBF4D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24BBEA2-2F9D-580E-4D2F-E69B1AB07326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3C85169-BAA1-F1E9-5054-A847871B5218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41FA6B-C508-A82A-7E15-AD414AB64B3B}"/>
              </a:ext>
            </a:extLst>
          </p:cNvPr>
          <p:cNvSpPr txBox="1"/>
          <p:nvPr/>
        </p:nvSpPr>
        <p:spPr>
          <a:xfrm>
            <a:off x="3420145" y="3464415"/>
            <a:ext cx="50577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選択したエンジニア情報を削除しますか？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42C1C8D-F2B3-1C2D-A47F-C85BEC632868}"/>
              </a:ext>
            </a:extLst>
          </p:cNvPr>
          <p:cNvSpPr/>
          <p:nvPr/>
        </p:nvSpPr>
        <p:spPr>
          <a:xfrm>
            <a:off x="6355536" y="4782384"/>
            <a:ext cx="1719942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6F1414-67BD-0D9F-C1B8-627E8F630F29}"/>
              </a:ext>
            </a:extLst>
          </p:cNvPr>
          <p:cNvSpPr/>
          <p:nvPr/>
        </p:nvSpPr>
        <p:spPr>
          <a:xfrm>
            <a:off x="3642305" y="4782384"/>
            <a:ext cx="1719942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EE28CD2-DD15-BCC6-2347-B1588B773B1A}"/>
              </a:ext>
            </a:extLst>
          </p:cNvPr>
          <p:cNvSpPr txBox="1"/>
          <p:nvPr/>
        </p:nvSpPr>
        <p:spPr>
          <a:xfrm>
            <a:off x="4102166" y="483109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はい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CA6C738-77E2-CE48-85D6-58B4F239FF1C}"/>
              </a:ext>
            </a:extLst>
          </p:cNvPr>
          <p:cNvSpPr txBox="1"/>
          <p:nvPr/>
        </p:nvSpPr>
        <p:spPr>
          <a:xfrm>
            <a:off x="6661509" y="4831095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いいえ</a:t>
            </a:r>
          </a:p>
        </p:txBody>
      </p:sp>
    </p:spTree>
    <p:extLst>
      <p:ext uri="{BB962C8B-B14F-4D97-AF65-F5344CB8AC3E}">
        <p14:creationId xmlns:p14="http://schemas.microsoft.com/office/powerpoint/2010/main" val="540363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9D4B7-8BC7-2649-53DC-4E194A8D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A6A184F9-0628-7C94-9AF0-36C23513E5CF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4EA7BEF9-3088-8698-FF8B-96704DFF6236}"/>
              </a:ext>
            </a:extLst>
          </p:cNvPr>
          <p:cNvSpPr txBox="1"/>
          <p:nvPr/>
        </p:nvSpPr>
        <p:spPr>
          <a:xfrm>
            <a:off x="304796" y="195946"/>
            <a:ext cx="9700091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2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-2, 2-2-3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詳細情報表示、保存日付表示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23B3C79-7819-B918-E348-76CCE5539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335" y="3515404"/>
            <a:ext cx="2857500" cy="23526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2E3B20-7D11-A8E9-85C1-ABDCF3ACC6A7}"/>
              </a:ext>
            </a:extLst>
          </p:cNvPr>
          <p:cNvSpPr txBox="1"/>
          <p:nvPr/>
        </p:nvSpPr>
        <p:spPr>
          <a:xfrm>
            <a:off x="2205839" y="1088573"/>
            <a:ext cx="47019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山田花子　　</a:t>
            </a:r>
            <a:r>
              <a:rPr lang="ja-JP" altLang="en-US" sz="2000" dirty="0">
                <a:solidFill>
                  <a:schemeClr val="bg1"/>
                </a:solidFill>
              </a:rPr>
              <a:t>保存日時：</a:t>
            </a:r>
            <a:r>
              <a:rPr lang="en-US" altLang="ja-JP" sz="2000" dirty="0">
                <a:solidFill>
                  <a:schemeClr val="bg1"/>
                </a:solidFill>
              </a:rPr>
              <a:t>2023/05/21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ID</a:t>
            </a:r>
            <a:r>
              <a:rPr kumimoji="1" lang="ja-JP" altLang="en-US" sz="2000" dirty="0">
                <a:solidFill>
                  <a:schemeClr val="bg1"/>
                </a:solidFill>
              </a:rPr>
              <a:t>：</a:t>
            </a:r>
            <a:r>
              <a:rPr kumimoji="1" lang="en-US" altLang="ja-JP" sz="2000" dirty="0">
                <a:solidFill>
                  <a:schemeClr val="bg1"/>
                </a:solidFill>
              </a:rPr>
              <a:t>00001</a:t>
            </a:r>
            <a:r>
              <a:rPr kumimoji="1" lang="ja-JP" altLang="en-US" sz="2000" dirty="0">
                <a:solidFill>
                  <a:schemeClr val="bg1"/>
                </a:solidFill>
              </a:rPr>
              <a:t>　　 入社年月：</a:t>
            </a:r>
            <a:r>
              <a:rPr kumimoji="1" lang="en-US" altLang="ja-JP" sz="2000" dirty="0">
                <a:solidFill>
                  <a:schemeClr val="bg1"/>
                </a:solidFill>
              </a:rPr>
              <a:t>2010/04/01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4A187DF5-0C98-E9F6-1853-B29DEC2456E1}"/>
              </a:ext>
            </a:extLst>
          </p:cNvPr>
          <p:cNvSpPr/>
          <p:nvPr/>
        </p:nvSpPr>
        <p:spPr>
          <a:xfrm>
            <a:off x="729342" y="1046361"/>
            <a:ext cx="1210587" cy="11538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738F86F8-9705-9F5B-7469-7D749E50F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280697"/>
              </p:ext>
            </p:extLst>
          </p:nvPr>
        </p:nvGraphicFramePr>
        <p:xfrm>
          <a:off x="304796" y="2514600"/>
          <a:ext cx="6868882" cy="4018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4441">
                  <a:extLst>
                    <a:ext uri="{9D8B030D-6E8A-4147-A177-3AD203B41FA5}">
                      <a16:colId xmlns:a16="http://schemas.microsoft.com/office/drawing/2014/main" val="1318044104"/>
                    </a:ext>
                  </a:extLst>
                </a:gridCol>
                <a:gridCol w="3434441">
                  <a:extLst>
                    <a:ext uri="{9D8B030D-6E8A-4147-A177-3AD203B41FA5}">
                      <a16:colId xmlns:a16="http://schemas.microsoft.com/office/drawing/2014/main" val="3473135034"/>
                    </a:ext>
                  </a:extLst>
                </a:gridCol>
              </a:tblGrid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エンジニア歴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094942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2094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875526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9586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02219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79568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586340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07394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142097C-C72F-FCEB-7A3D-ABBD5F3CC97A}"/>
              </a:ext>
            </a:extLst>
          </p:cNvPr>
          <p:cNvSpPr/>
          <p:nvPr/>
        </p:nvSpPr>
        <p:spPr>
          <a:xfrm>
            <a:off x="5713359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934A9AA-9F0E-7BAE-5034-FC6720633242}"/>
              </a:ext>
            </a:extLst>
          </p:cNvPr>
          <p:cNvSpPr/>
          <p:nvPr/>
        </p:nvSpPr>
        <p:spPr>
          <a:xfrm>
            <a:off x="4025712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A8E48A3-69A9-70F2-5D0A-4C586366326C}"/>
              </a:ext>
            </a:extLst>
          </p:cNvPr>
          <p:cNvSpPr txBox="1"/>
          <p:nvPr/>
        </p:nvSpPr>
        <p:spPr>
          <a:xfrm>
            <a:off x="4233637" y="202459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編集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6CF45E2-926B-92E4-7F80-D15F34A3C508}"/>
              </a:ext>
            </a:extLst>
          </p:cNvPr>
          <p:cNvSpPr txBox="1"/>
          <p:nvPr/>
        </p:nvSpPr>
        <p:spPr>
          <a:xfrm>
            <a:off x="5921284" y="2013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2912531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61B2D-BAF6-56B6-D1EE-203B1C9F8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0AFECD16-985E-1BA5-4D07-1747111F4C7F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743CBE2E-B2D4-B3C3-382F-69DBBDF7CAF6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2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情報更新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7F1DF6D-2E22-4F42-D56E-F04F9E66C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335" y="3515404"/>
            <a:ext cx="2857500" cy="23526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4689603-85FD-C862-343C-0682F3C7E29D}"/>
              </a:ext>
            </a:extLst>
          </p:cNvPr>
          <p:cNvSpPr txBox="1"/>
          <p:nvPr/>
        </p:nvSpPr>
        <p:spPr>
          <a:xfrm>
            <a:off x="2205839" y="1088573"/>
            <a:ext cx="47019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山田花子　　</a:t>
            </a:r>
            <a:r>
              <a:rPr lang="ja-JP" altLang="en-US" sz="2000" dirty="0">
                <a:solidFill>
                  <a:schemeClr val="bg1"/>
                </a:solidFill>
              </a:rPr>
              <a:t>保存日時：</a:t>
            </a:r>
            <a:r>
              <a:rPr lang="en-US" altLang="ja-JP" sz="2000" dirty="0">
                <a:solidFill>
                  <a:schemeClr val="bg1"/>
                </a:solidFill>
              </a:rPr>
              <a:t>2023/05/21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ID</a:t>
            </a:r>
            <a:r>
              <a:rPr kumimoji="1" lang="ja-JP" altLang="en-US" sz="2000" dirty="0">
                <a:solidFill>
                  <a:schemeClr val="bg1"/>
                </a:solidFill>
              </a:rPr>
              <a:t>：</a:t>
            </a:r>
            <a:r>
              <a:rPr kumimoji="1" lang="en-US" altLang="ja-JP" sz="2000" dirty="0">
                <a:solidFill>
                  <a:schemeClr val="bg1"/>
                </a:solidFill>
              </a:rPr>
              <a:t>00001</a:t>
            </a:r>
            <a:r>
              <a:rPr kumimoji="1" lang="ja-JP" altLang="en-US" sz="2000" dirty="0">
                <a:solidFill>
                  <a:schemeClr val="bg1"/>
                </a:solidFill>
              </a:rPr>
              <a:t>　　 入社年月：</a:t>
            </a:r>
            <a:r>
              <a:rPr kumimoji="1" lang="en-US" altLang="ja-JP" sz="2000" dirty="0">
                <a:solidFill>
                  <a:schemeClr val="bg1"/>
                </a:solidFill>
              </a:rPr>
              <a:t>2010/04/01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16FE7C12-81B4-6662-8C1F-A90C7FFB5227}"/>
              </a:ext>
            </a:extLst>
          </p:cNvPr>
          <p:cNvSpPr/>
          <p:nvPr/>
        </p:nvSpPr>
        <p:spPr>
          <a:xfrm>
            <a:off x="729342" y="1046361"/>
            <a:ext cx="1210587" cy="11538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F7762D83-A031-9C0C-7D79-0C88A54F6D42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514600"/>
          <a:ext cx="6868882" cy="4018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4441">
                  <a:extLst>
                    <a:ext uri="{9D8B030D-6E8A-4147-A177-3AD203B41FA5}">
                      <a16:colId xmlns:a16="http://schemas.microsoft.com/office/drawing/2014/main" val="1318044104"/>
                    </a:ext>
                  </a:extLst>
                </a:gridCol>
                <a:gridCol w="3434441">
                  <a:extLst>
                    <a:ext uri="{9D8B030D-6E8A-4147-A177-3AD203B41FA5}">
                      <a16:colId xmlns:a16="http://schemas.microsoft.com/office/drawing/2014/main" val="3473135034"/>
                    </a:ext>
                  </a:extLst>
                </a:gridCol>
              </a:tblGrid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エンジニア歴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094942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2094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875526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9586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02219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79568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586340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07394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4A8276C-CD75-92BE-F880-C69D9BD89A6A}"/>
              </a:ext>
            </a:extLst>
          </p:cNvPr>
          <p:cNvSpPr/>
          <p:nvPr/>
        </p:nvSpPr>
        <p:spPr>
          <a:xfrm>
            <a:off x="5713359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55313CA-6240-FBF2-CB55-EBFDA230FA62}"/>
              </a:ext>
            </a:extLst>
          </p:cNvPr>
          <p:cNvSpPr/>
          <p:nvPr/>
        </p:nvSpPr>
        <p:spPr>
          <a:xfrm>
            <a:off x="4025712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D3F34BD-73C7-1DB0-2765-257EF2FA5255}"/>
              </a:ext>
            </a:extLst>
          </p:cNvPr>
          <p:cNvSpPr txBox="1"/>
          <p:nvPr/>
        </p:nvSpPr>
        <p:spPr>
          <a:xfrm>
            <a:off x="4233637" y="202459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編集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F08C41C-574A-37BC-A96E-2334A6CED2A9}"/>
              </a:ext>
            </a:extLst>
          </p:cNvPr>
          <p:cNvSpPr txBox="1"/>
          <p:nvPr/>
        </p:nvSpPr>
        <p:spPr>
          <a:xfrm>
            <a:off x="5921284" y="2013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378321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1D289-5D56-487F-850C-F360FE771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BDE9BE8F-A0F2-B219-FEC4-203789B2B360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1405B83E-DF49-B445-BD8B-E2BDDAA52705}"/>
              </a:ext>
            </a:extLst>
          </p:cNvPr>
          <p:cNvSpPr txBox="1"/>
          <p:nvPr/>
        </p:nvSpPr>
        <p:spPr>
          <a:xfrm>
            <a:off x="304796" y="195946"/>
            <a:ext cx="412484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2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-4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情報更新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AA0FAD2-56B7-FC34-A1A9-469EDD111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335" y="3515404"/>
            <a:ext cx="2857500" cy="23526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DAE774B-C446-286A-8DD7-C15654635E19}"/>
              </a:ext>
            </a:extLst>
          </p:cNvPr>
          <p:cNvSpPr txBox="1"/>
          <p:nvPr/>
        </p:nvSpPr>
        <p:spPr>
          <a:xfrm>
            <a:off x="2205839" y="1088573"/>
            <a:ext cx="47019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山田花子　　</a:t>
            </a:r>
            <a:r>
              <a:rPr lang="ja-JP" altLang="en-US" sz="2000" dirty="0">
                <a:solidFill>
                  <a:schemeClr val="bg1"/>
                </a:solidFill>
              </a:rPr>
              <a:t>保存日時：</a:t>
            </a:r>
            <a:r>
              <a:rPr lang="en-US" altLang="ja-JP" sz="2000" dirty="0">
                <a:solidFill>
                  <a:schemeClr val="bg1"/>
                </a:solidFill>
              </a:rPr>
              <a:t>2023/05/21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r>
              <a:rPr kumimoji="1" lang="en-US" altLang="ja-JP" sz="2000" dirty="0">
                <a:solidFill>
                  <a:schemeClr val="bg1"/>
                </a:solidFill>
              </a:rPr>
              <a:t>ID</a:t>
            </a:r>
            <a:r>
              <a:rPr kumimoji="1" lang="ja-JP" altLang="en-US" sz="2000" dirty="0">
                <a:solidFill>
                  <a:schemeClr val="bg1"/>
                </a:solidFill>
              </a:rPr>
              <a:t>：</a:t>
            </a:r>
            <a:r>
              <a:rPr kumimoji="1" lang="en-US" altLang="ja-JP" sz="2000" dirty="0">
                <a:solidFill>
                  <a:schemeClr val="bg1"/>
                </a:solidFill>
              </a:rPr>
              <a:t>00001</a:t>
            </a:r>
            <a:r>
              <a:rPr kumimoji="1" lang="ja-JP" altLang="en-US" sz="2000" dirty="0">
                <a:solidFill>
                  <a:schemeClr val="bg1"/>
                </a:solidFill>
              </a:rPr>
              <a:t>　　 入社年月：</a:t>
            </a:r>
            <a:r>
              <a:rPr kumimoji="1" lang="en-US" altLang="ja-JP" sz="2000" dirty="0">
                <a:solidFill>
                  <a:schemeClr val="bg1"/>
                </a:solidFill>
              </a:rPr>
              <a:t>2010/04/01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DF22C71D-4D75-EA0D-224A-AE4BC39F5492}"/>
              </a:ext>
            </a:extLst>
          </p:cNvPr>
          <p:cNvSpPr/>
          <p:nvPr/>
        </p:nvSpPr>
        <p:spPr>
          <a:xfrm>
            <a:off x="729342" y="1046361"/>
            <a:ext cx="1210587" cy="11538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1D995383-86C0-8BC7-7570-98DEC820CDD5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514600"/>
          <a:ext cx="6868882" cy="4018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4441">
                  <a:extLst>
                    <a:ext uri="{9D8B030D-6E8A-4147-A177-3AD203B41FA5}">
                      <a16:colId xmlns:a16="http://schemas.microsoft.com/office/drawing/2014/main" val="1318044104"/>
                    </a:ext>
                  </a:extLst>
                </a:gridCol>
                <a:gridCol w="3434441">
                  <a:extLst>
                    <a:ext uri="{9D8B030D-6E8A-4147-A177-3AD203B41FA5}">
                      <a16:colId xmlns:a16="http://schemas.microsoft.com/office/drawing/2014/main" val="3473135034"/>
                    </a:ext>
                  </a:extLst>
                </a:gridCol>
              </a:tblGrid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エンジニア歴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094942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2094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875526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9586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02219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79568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586340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07394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C910036-1CFA-5D75-FB78-5DCFD9998986}"/>
              </a:ext>
            </a:extLst>
          </p:cNvPr>
          <p:cNvSpPr/>
          <p:nvPr/>
        </p:nvSpPr>
        <p:spPr>
          <a:xfrm>
            <a:off x="5713359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BBA2E0B-CE3C-3F8C-0C8C-AA3005FD9553}"/>
              </a:ext>
            </a:extLst>
          </p:cNvPr>
          <p:cNvSpPr/>
          <p:nvPr/>
        </p:nvSpPr>
        <p:spPr>
          <a:xfrm>
            <a:off x="4025712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7535457-4E7E-3D91-D70C-BB256F6B9102}"/>
              </a:ext>
            </a:extLst>
          </p:cNvPr>
          <p:cNvSpPr txBox="1"/>
          <p:nvPr/>
        </p:nvSpPr>
        <p:spPr>
          <a:xfrm>
            <a:off x="4233637" y="202459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更新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6C8EEA4-8307-CE27-69C7-22DD59A1C7EE}"/>
              </a:ext>
            </a:extLst>
          </p:cNvPr>
          <p:cNvSpPr txBox="1"/>
          <p:nvPr/>
        </p:nvSpPr>
        <p:spPr>
          <a:xfrm>
            <a:off x="5921284" y="2013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98954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268C-85F0-6EE4-DA0F-3D4F55B1F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21CF578F-9465-372B-94CC-D4611998DC34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22898D80-DBC2-424D-40B2-3935973E0D41}"/>
              </a:ext>
            </a:extLst>
          </p:cNvPr>
          <p:cNvSpPr txBox="1"/>
          <p:nvPr/>
        </p:nvSpPr>
        <p:spPr>
          <a:xfrm>
            <a:off x="304796" y="195946"/>
            <a:ext cx="7361311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2-3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エンジニアの新規追加画面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CBA83B4-9580-BA38-D62A-DE22F08E4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335" y="3515404"/>
            <a:ext cx="2857500" cy="235267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7BBD5E9-1A04-4DC5-2109-3DEC9FBF48B4}"/>
              </a:ext>
            </a:extLst>
          </p:cNvPr>
          <p:cNvSpPr txBox="1"/>
          <p:nvPr/>
        </p:nvSpPr>
        <p:spPr>
          <a:xfrm>
            <a:off x="2205839" y="1088573"/>
            <a:ext cx="357020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chemeClr val="bg1"/>
                </a:solidFill>
              </a:rPr>
              <a:t>　名前：フルネーム</a:t>
            </a:r>
            <a:r>
              <a:rPr kumimoji="1" lang="ja-JP" altLang="en-US" sz="2400" dirty="0">
                <a:solidFill>
                  <a:schemeClr val="bg1"/>
                </a:solidFill>
              </a:rPr>
              <a:t>　　</a:t>
            </a:r>
            <a:endParaRPr lang="en-US" altLang="ja-JP" sz="2000" dirty="0">
              <a:solidFill>
                <a:schemeClr val="bg1"/>
              </a:solidFill>
            </a:endParaRPr>
          </a:p>
          <a:p>
            <a:r>
              <a:rPr kumimoji="1" lang="ja-JP" altLang="en-US" sz="2000" dirty="0">
                <a:solidFill>
                  <a:schemeClr val="bg1"/>
                </a:solidFill>
              </a:rPr>
              <a:t> 入社年月：</a:t>
            </a:r>
            <a:r>
              <a:rPr lang="en-US" altLang="ja-JP" sz="2000" dirty="0" err="1">
                <a:solidFill>
                  <a:schemeClr val="bg1"/>
                </a:solidFill>
              </a:rPr>
              <a:t>yyyy</a:t>
            </a:r>
            <a:r>
              <a:rPr kumimoji="1" lang="en-US" altLang="ja-JP" sz="2000" dirty="0">
                <a:solidFill>
                  <a:schemeClr val="bg1"/>
                </a:solidFill>
              </a:rPr>
              <a:t>/mm/dd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8F79A1EC-7FE5-E500-BD27-7FB2EF160019}"/>
              </a:ext>
            </a:extLst>
          </p:cNvPr>
          <p:cNvSpPr/>
          <p:nvPr/>
        </p:nvSpPr>
        <p:spPr>
          <a:xfrm>
            <a:off x="729342" y="1046361"/>
            <a:ext cx="1210587" cy="115388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7AFC859D-C2F6-0C28-DADD-084D676E9D15}"/>
              </a:ext>
            </a:extLst>
          </p:cNvPr>
          <p:cNvGraphicFramePr>
            <a:graphicFrameLocks noGrp="1"/>
          </p:cNvGraphicFramePr>
          <p:nvPr/>
        </p:nvGraphicFramePr>
        <p:xfrm>
          <a:off x="304796" y="2514600"/>
          <a:ext cx="6868882" cy="401855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34441">
                  <a:extLst>
                    <a:ext uri="{9D8B030D-6E8A-4147-A177-3AD203B41FA5}">
                      <a16:colId xmlns:a16="http://schemas.microsoft.com/office/drawing/2014/main" val="1318044104"/>
                    </a:ext>
                  </a:extLst>
                </a:gridCol>
                <a:gridCol w="3434441">
                  <a:extLst>
                    <a:ext uri="{9D8B030D-6E8A-4147-A177-3AD203B41FA5}">
                      <a16:colId xmlns:a16="http://schemas.microsoft.com/office/drawing/2014/main" val="3473135034"/>
                    </a:ext>
                  </a:extLst>
                </a:gridCol>
              </a:tblGrid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エンジニア歴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094942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言語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92094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経歴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1875526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研修受講歴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958627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技術力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902219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受講態度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3779568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コミュニケーション能力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586340"/>
                  </a:ext>
                </a:extLst>
              </a:tr>
              <a:tr h="50231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リーダーシップ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07394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ACAF3A0-CC2E-51E2-59B3-B8593BEBFB1D}"/>
              </a:ext>
            </a:extLst>
          </p:cNvPr>
          <p:cNvSpPr/>
          <p:nvPr/>
        </p:nvSpPr>
        <p:spPr>
          <a:xfrm>
            <a:off x="5713359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3C42898-021E-727E-3C6B-EB7729A0D809}"/>
              </a:ext>
            </a:extLst>
          </p:cNvPr>
          <p:cNvSpPr/>
          <p:nvPr/>
        </p:nvSpPr>
        <p:spPr>
          <a:xfrm>
            <a:off x="4025712" y="199904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2096F37-CDB5-6422-6474-6963999F179F}"/>
              </a:ext>
            </a:extLst>
          </p:cNvPr>
          <p:cNvSpPr txBox="1"/>
          <p:nvPr/>
        </p:nvSpPr>
        <p:spPr>
          <a:xfrm>
            <a:off x="4233637" y="202459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更新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4EB42B-0B81-5AAE-6E45-1B323DCA9D93}"/>
              </a:ext>
            </a:extLst>
          </p:cNvPr>
          <p:cNvSpPr txBox="1"/>
          <p:nvPr/>
        </p:nvSpPr>
        <p:spPr>
          <a:xfrm>
            <a:off x="5921284" y="201335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1907336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184E7-6205-8FCA-74D5-A8D18421E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3AA7DB4A-E266-46CB-FFF0-D1EA32FAC8B6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7D35F833-BCAA-36CE-B08F-240CFE83943E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800AF8DC-C88F-DF51-F6CF-018C8468780B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20B502CF-E05A-2663-FEFF-6CB127039331}"/>
              </a:ext>
            </a:extLst>
          </p:cNvPr>
          <p:cNvSpPr txBox="1"/>
          <p:nvPr/>
        </p:nvSpPr>
        <p:spPr>
          <a:xfrm>
            <a:off x="304796" y="195946"/>
            <a:ext cx="320151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4-1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概要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6FDD5080-C18C-5674-EC28-4A88A2BABA7A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A2AD9FC-0FF5-E4C5-01C9-08D6541ACCA1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AFD5558E-1F4E-E583-1F9F-166B4261BC33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6958374F-CFFA-920E-8A0C-420179F05773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B5A2BC68-405A-D199-28DA-2A6798BD858D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E072E95-20E4-9453-ABFE-74C6126A71E2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E437A503-A906-B65C-8C02-F62A0773A909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0DAAF39-2888-6003-3FD2-F49D5FA059F5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D5F2D77-51A2-D272-D1F5-D3306A31EBB7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229AA1D-169E-5718-ACE7-4B28D73A9DA6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56F4828-2D12-7714-4A3A-056CC6329744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2488235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AFF41-16A5-6488-B694-8510FA9DD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6BC2B056-FE12-3217-F3AB-558494ABCF1C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42238935-8111-22BC-24D7-3A6DD5C9CB0C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224AF464-AE9E-5168-0654-15236972B348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87ABB627-0B46-E63C-97B6-835293C71D30}"/>
              </a:ext>
            </a:extLst>
          </p:cNvPr>
          <p:cNvSpPr txBox="1"/>
          <p:nvPr/>
        </p:nvSpPr>
        <p:spPr>
          <a:xfrm>
            <a:off x="304796" y="195946"/>
            <a:ext cx="504817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4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-2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情報一括追加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2E690C91-7506-D293-11B4-38D65A55270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FA9B734-5A8F-9AC5-E798-C09AA8241EA9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BBBB1AA9-B0EF-031E-B4DB-651A4DA7E006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4A266CB9-3945-8DBB-E647-05DAEF7C96E4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44EBD32-DB89-BCE3-5AA3-404366915BF3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B77DBD6-0511-343A-8012-5AC1DF283AB6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7175EEAE-23ED-D6B9-B079-380FE7D752F4}"/>
              </a:ext>
            </a:extLst>
          </p:cNvPr>
          <p:cNvGraphicFramePr>
            <a:graphicFrameLocks noGrp="1"/>
          </p:cNvGraphicFramePr>
          <p:nvPr/>
        </p:nvGraphicFramePr>
        <p:xfrm>
          <a:off x="0" y="2579700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173139A-4943-28A3-72C2-7035BD6ABBE3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58D91A5-D75A-3181-5AD1-548EDCD79A17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E89432D-FBC3-7F46-F99C-EC12DED7ACE9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chemeClr val="bg1"/>
                </a:solidFill>
              </a:rPr>
              <a:t>追加</a:t>
            </a:r>
            <a:endParaRPr kumimoji="1" lang="ja-JP" altLang="en-US" dirty="0">
              <a:solidFill>
                <a:schemeClr val="bg1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911BA4E-B817-5E88-D487-B00800BD77E3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0F5E5D7-B39D-0E50-6E49-D90E56E07E77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0A1CE10-D300-B6E5-CF73-9BD58D84436D}"/>
              </a:ext>
            </a:extLst>
          </p:cNvPr>
          <p:cNvSpPr txBox="1"/>
          <p:nvPr/>
        </p:nvSpPr>
        <p:spPr>
          <a:xfrm>
            <a:off x="3367849" y="3243578"/>
            <a:ext cx="53030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solidFill>
                  <a:schemeClr val="bg1"/>
                </a:solidFill>
              </a:rPr>
              <a:t>CSV</a:t>
            </a:r>
            <a:r>
              <a:rPr lang="ja-JP" altLang="en-US" sz="2000" dirty="0">
                <a:solidFill>
                  <a:schemeClr val="bg1"/>
                </a:solidFill>
              </a:rPr>
              <a:t>で一括出力してもよろしいでしょうか？</a:t>
            </a:r>
            <a:endParaRPr kumimoji="1" lang="ja-JP" altLang="en-US" sz="2000" dirty="0">
              <a:solidFill>
                <a:schemeClr val="bg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33F0DC5-773C-7A89-FC7B-75B6D7C88C56}"/>
              </a:ext>
            </a:extLst>
          </p:cNvPr>
          <p:cNvSpPr/>
          <p:nvPr/>
        </p:nvSpPr>
        <p:spPr>
          <a:xfrm>
            <a:off x="3642305" y="4782384"/>
            <a:ext cx="1719942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DAEB917-ED96-6141-2532-F15F81D0F05F}"/>
              </a:ext>
            </a:extLst>
          </p:cNvPr>
          <p:cNvSpPr/>
          <p:nvPr/>
        </p:nvSpPr>
        <p:spPr>
          <a:xfrm>
            <a:off x="6555514" y="4782384"/>
            <a:ext cx="1719942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52E787C-671C-80BB-84C6-F8D8BA03AAEE}"/>
              </a:ext>
            </a:extLst>
          </p:cNvPr>
          <p:cNvSpPr txBox="1"/>
          <p:nvPr/>
        </p:nvSpPr>
        <p:spPr>
          <a:xfrm>
            <a:off x="4102166" y="483109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はい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BD8FD29-DECB-A537-C371-30C9AA1B2208}"/>
              </a:ext>
            </a:extLst>
          </p:cNvPr>
          <p:cNvSpPr txBox="1"/>
          <p:nvPr/>
        </p:nvSpPr>
        <p:spPr>
          <a:xfrm>
            <a:off x="6861487" y="4815124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いいえ</a:t>
            </a:r>
          </a:p>
        </p:txBody>
      </p:sp>
    </p:spTree>
    <p:extLst>
      <p:ext uri="{BB962C8B-B14F-4D97-AF65-F5344CB8AC3E}">
        <p14:creationId xmlns:p14="http://schemas.microsoft.com/office/powerpoint/2010/main" val="2952701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3A7CA-B3A2-F9BD-3C38-1B35F7491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8DDD9584-21F1-1581-F8D3-1B638E3C29D0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41EF7CEE-96E2-725E-5128-976F24A45B34}"/>
              </a:ext>
            </a:extLst>
          </p:cNvPr>
          <p:cNvSpPr txBox="1"/>
          <p:nvPr/>
        </p:nvSpPr>
        <p:spPr>
          <a:xfrm>
            <a:off x="304796" y="195946"/>
            <a:ext cx="4105611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4-3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CSV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出力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970BF6C-2881-5314-9124-F8D34A374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216579"/>
              </p:ext>
            </p:extLst>
          </p:nvPr>
        </p:nvGraphicFramePr>
        <p:xfrm>
          <a:off x="304796" y="925290"/>
          <a:ext cx="6868880" cy="4051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179">
                  <a:extLst>
                    <a:ext uri="{9D8B030D-6E8A-4147-A177-3AD203B41FA5}">
                      <a16:colId xmlns:a16="http://schemas.microsoft.com/office/drawing/2014/main" val="688084510"/>
                    </a:ext>
                  </a:extLst>
                </a:gridCol>
                <a:gridCol w="6373701">
                  <a:extLst>
                    <a:ext uri="{9D8B030D-6E8A-4147-A177-3AD203B41FA5}">
                      <a16:colId xmlns:a16="http://schemas.microsoft.com/office/drawing/2014/main" val="1072463033"/>
                    </a:ext>
                  </a:extLst>
                </a:gridCol>
              </a:tblGrid>
              <a:tr h="61042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氏名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社員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生年月日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入社年月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エンジニア歴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扱える言語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経歴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研修の受講歴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技術力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受講態度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コミュニケーション能力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リーダーシップ備考</a:t>
                      </a:r>
                      <a:endParaRPr kumimoji="1" lang="ja-JP" altLang="en-US" sz="12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420562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山田太郎</a:t>
                      </a:r>
                      <a:r>
                        <a:rPr kumimoji="1" lang="en-US" altLang="ja-JP" dirty="0"/>
                        <a:t>,00001,~,~,~,~,~,~,~,~,~,~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445293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田中 花子</a:t>
                      </a:r>
                      <a:r>
                        <a:rPr kumimoji="1" lang="en-US" altLang="ja-JP" dirty="0"/>
                        <a:t>,00002,~,~,~,~,~,~,~,~,~,~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715318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佐藤 健</a:t>
                      </a:r>
                      <a:r>
                        <a:rPr kumimoji="1" lang="en-US" altLang="ja-JP" dirty="0"/>
                        <a:t>,00003,~,~,~,~,~,~,~,~,~,~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797237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木村 直也</a:t>
                      </a:r>
                      <a:r>
                        <a:rPr kumimoji="1" lang="en-US" altLang="ja-JP" dirty="0"/>
                        <a:t>,00004,~,~,~,~,~,~,~,~,~,~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95740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間地 佳代</a:t>
                      </a:r>
                      <a:r>
                        <a:rPr kumimoji="1" lang="en-US" altLang="ja-JP" dirty="0"/>
                        <a:t>,00005,~,~,~,~,~,~,~,~,~,~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850053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秋葉 花</a:t>
                      </a:r>
                      <a:r>
                        <a:rPr kumimoji="1" lang="en-US" altLang="ja-JP" dirty="0"/>
                        <a:t>,00006,~,~,~,~,~,~,~,~,~,~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3626659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野原 しん</a:t>
                      </a:r>
                      <a:r>
                        <a:rPr kumimoji="1" lang="en-US" altLang="ja-JP" dirty="0"/>
                        <a:t>,00007,~,~,~,~,~,~,~,~,~,~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197159"/>
                  </a:ext>
                </a:extLst>
              </a:tr>
            </a:tbl>
          </a:graphicData>
        </a:graphic>
      </p:graphicFrame>
      <p:pic>
        <p:nvPicPr>
          <p:cNvPr id="6" name="図 5">
            <a:extLst>
              <a:ext uri="{FF2B5EF4-FFF2-40B4-BE49-F238E27FC236}">
                <a16:creationId xmlns:a16="http://schemas.microsoft.com/office/drawing/2014/main" id="{C39329CD-A1A2-7527-2E05-9D25808886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825" y="4507548"/>
            <a:ext cx="3838765" cy="185533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0EC774-1239-7A2F-E7A9-1D8481EBE9B6}"/>
              </a:ext>
            </a:extLst>
          </p:cNvPr>
          <p:cNvSpPr txBox="1"/>
          <p:nvPr/>
        </p:nvSpPr>
        <p:spPr>
          <a:xfrm>
            <a:off x="2155372" y="5570157"/>
            <a:ext cx="3451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>
                <a:solidFill>
                  <a:schemeClr val="bg1"/>
                </a:solidFill>
              </a:rPr>
              <a:t>実際の</a:t>
            </a:r>
            <a:r>
              <a:rPr lang="en-US" altLang="ja-JP" sz="3200" dirty="0">
                <a:solidFill>
                  <a:schemeClr val="bg1"/>
                </a:solidFill>
              </a:rPr>
              <a:t>CSV</a:t>
            </a:r>
            <a:r>
              <a:rPr lang="ja-JP" altLang="en-US" sz="3200" dirty="0">
                <a:solidFill>
                  <a:schemeClr val="bg1"/>
                </a:solidFill>
              </a:rPr>
              <a:t>データ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17635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2B41D-5251-5E95-B855-E426D4D42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951DCC9F-989A-EA3F-90EB-279D7FF9606A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D2BDB1DD-E956-26F2-9BB9-30DCA7AF6DB3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ACA6A790-ACFA-85B1-63F6-D796BD01D4E2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DCED6B86-5B55-FC64-B375-BF41F288AAE9}"/>
              </a:ext>
            </a:extLst>
          </p:cNvPr>
          <p:cNvSpPr txBox="1"/>
          <p:nvPr/>
        </p:nvSpPr>
        <p:spPr>
          <a:xfrm>
            <a:off x="304796" y="195946"/>
            <a:ext cx="4572085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5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en-US" altLang="ja-JP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CSV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出力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97A5A818-1ADF-FBB8-485E-3994D067E62F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CAEEBA4-5848-8ED0-9BA9-FD8364A3775D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09EC6F2A-EB3D-D66F-C303-4FAC13A125F4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2A79565-B793-73BF-C54D-BB2EA51F7ABD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011DF6E-6499-7E04-3947-FB219CD73B82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2D82FAE-182B-6C1C-D834-20B97B563A9A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FDE8D60A-3014-5F65-8CC7-25C0CA193F57}"/>
              </a:ext>
            </a:extLst>
          </p:cNvPr>
          <p:cNvGraphicFramePr>
            <a:graphicFrameLocks noGrp="1"/>
          </p:cNvGraphicFramePr>
          <p:nvPr/>
        </p:nvGraphicFramePr>
        <p:xfrm>
          <a:off x="0" y="2590586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EC74334-BD10-DBDE-DC3D-9274B42258A2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970781C-F693-5DF4-3F8E-EB1CCC0C469A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26D3E6D-B195-83BF-D1E3-8FDC8094F406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54C7065-7DFF-6E78-CE77-7472A29D305D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</p:spTree>
    <p:extLst>
      <p:ext uri="{BB962C8B-B14F-4D97-AF65-F5344CB8AC3E}">
        <p14:creationId xmlns:p14="http://schemas.microsoft.com/office/powerpoint/2010/main" val="201674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C34D3-E015-4B43-EA85-AA3B9578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10BBDCD5-8215-69F1-D7B4-688515EFE0B5}"/>
              </a:ext>
            </a:extLst>
          </p:cNvPr>
          <p:cNvSpPr/>
          <p:nvPr/>
        </p:nvSpPr>
        <p:spPr>
          <a:xfrm>
            <a:off x="0" y="925290"/>
            <a:ext cx="12192000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4" name="テキスト ボックス 5">
            <a:extLst>
              <a:ext uri="{FF2B5EF4-FFF2-40B4-BE49-F238E27FC236}">
                <a16:creationId xmlns:a16="http://schemas.microsoft.com/office/drawing/2014/main" id="{3D7C1055-E582-7375-2EC2-280FE65C3939}"/>
              </a:ext>
            </a:extLst>
          </p:cNvPr>
          <p:cNvSpPr txBox="1"/>
          <p:nvPr/>
        </p:nvSpPr>
        <p:spPr>
          <a:xfrm>
            <a:off x="400828" y="1097007"/>
            <a:ext cx="3475927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altLang="en-US" sz="3600" b="0" i="0" u="none" strike="noStrike" kern="1200" cap="none" spc="0" baseline="0" dirty="0">
                <a:solidFill>
                  <a:srgbClr val="FFFFFF"/>
                </a:solidFill>
                <a:uFillTx/>
                <a:latin typeface="游ゴシック"/>
                <a:ea typeface="游ゴシック" pitchFamily="50"/>
              </a:rPr>
              <a:t>エンジニア一覧</a:t>
            </a:r>
            <a:endParaRPr lang="en-US" sz="3600" b="0" i="0" u="none" strike="noStrike" kern="1200" cap="none" spc="0" baseline="0" dirty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6" name="正方形/長方形 6">
            <a:extLst>
              <a:ext uri="{FF2B5EF4-FFF2-40B4-BE49-F238E27FC236}">
                <a16:creationId xmlns:a16="http://schemas.microsoft.com/office/drawing/2014/main" id="{DD957F5D-944C-F39E-1CD8-AC08BAFB8254}"/>
              </a:ext>
            </a:extLst>
          </p:cNvPr>
          <p:cNvSpPr/>
          <p:nvPr/>
        </p:nvSpPr>
        <p:spPr>
          <a:xfrm>
            <a:off x="9428622" y="1134209"/>
            <a:ext cx="2573321" cy="507204"/>
          </a:xfrm>
          <a:prstGeom prst="rect">
            <a:avLst/>
          </a:prstGeom>
          <a:solidFill>
            <a:srgbClr val="D9D9D9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84CF90FB-77C3-7564-26B5-68CCF9DAE6C8}"/>
              </a:ext>
            </a:extLst>
          </p:cNvPr>
          <p:cNvSpPr txBox="1"/>
          <p:nvPr/>
        </p:nvSpPr>
        <p:spPr>
          <a:xfrm>
            <a:off x="304796" y="195946"/>
            <a:ext cx="4572085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-5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en-US" altLang="ja-JP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CSV</a:t>
            </a:r>
            <a:r>
              <a:rPr lang="ja-JP" altLang="en-US" sz="3600" dirty="0">
                <a:solidFill>
                  <a:srgbClr val="000000"/>
                </a:solidFill>
                <a:latin typeface="游ゴシック"/>
                <a:ea typeface="游ゴシック" pitchFamily="50"/>
              </a:rPr>
              <a:t>出力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20" name="円: 塗りつぶしなし 19">
            <a:extLst>
              <a:ext uri="{FF2B5EF4-FFF2-40B4-BE49-F238E27FC236}">
                <a16:creationId xmlns:a16="http://schemas.microsoft.com/office/drawing/2014/main" id="{81E457A0-DCC7-AD26-6296-B935CBA4605E}"/>
              </a:ext>
            </a:extLst>
          </p:cNvPr>
          <p:cNvSpPr/>
          <p:nvPr/>
        </p:nvSpPr>
        <p:spPr>
          <a:xfrm>
            <a:off x="11457974" y="1194833"/>
            <a:ext cx="283642" cy="266941"/>
          </a:xfrm>
          <a:prstGeom prst="donu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589DC0D-E115-8627-5173-DE4749B33406}"/>
              </a:ext>
            </a:extLst>
          </p:cNvPr>
          <p:cNvSpPr/>
          <p:nvPr/>
        </p:nvSpPr>
        <p:spPr>
          <a:xfrm rot="7871681">
            <a:off x="11742067" y="1340078"/>
            <a:ext cx="45719" cy="2749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800C0F7-4D3D-A983-2745-4202C7549FBD}"/>
              </a:ext>
            </a:extLst>
          </p:cNvPr>
          <p:cNvSpPr/>
          <p:nvPr/>
        </p:nvSpPr>
        <p:spPr>
          <a:xfrm>
            <a:off x="5228418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4FFEB4A-CF2D-B45F-9E70-2AF484A3C7E6}"/>
              </a:ext>
            </a:extLst>
          </p:cNvPr>
          <p:cNvSpPr/>
          <p:nvPr/>
        </p:nvSpPr>
        <p:spPr>
          <a:xfrm>
            <a:off x="7132199" y="1894627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DF194C0-EC27-4FD9-493E-4D57D54FF2A5}"/>
              </a:ext>
            </a:extLst>
          </p:cNvPr>
          <p:cNvSpPr/>
          <p:nvPr/>
        </p:nvSpPr>
        <p:spPr>
          <a:xfrm>
            <a:off x="9035980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492FD51-598B-0B8F-0FB4-A9C1AD08F663}"/>
              </a:ext>
            </a:extLst>
          </p:cNvPr>
          <p:cNvSpPr/>
          <p:nvPr/>
        </p:nvSpPr>
        <p:spPr>
          <a:xfrm>
            <a:off x="10939761" y="1904325"/>
            <a:ext cx="1062182" cy="3602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FCB19A4B-B4F3-A0D2-0F53-385F07742233}"/>
              </a:ext>
            </a:extLst>
          </p:cNvPr>
          <p:cNvGraphicFramePr>
            <a:graphicFrameLocks noGrp="1"/>
          </p:cNvGraphicFramePr>
          <p:nvPr/>
        </p:nvGraphicFramePr>
        <p:xfrm>
          <a:off x="0" y="2590586"/>
          <a:ext cx="12192000" cy="438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843818313"/>
                    </a:ext>
                  </a:extLst>
                </a:gridCol>
                <a:gridCol w="674914">
                  <a:extLst>
                    <a:ext uri="{9D8B030D-6E8A-4147-A177-3AD203B41FA5}">
                      <a16:colId xmlns:a16="http://schemas.microsoft.com/office/drawing/2014/main" val="259379361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819324818"/>
                    </a:ext>
                  </a:extLst>
                </a:gridCol>
                <a:gridCol w="903515">
                  <a:extLst>
                    <a:ext uri="{9D8B030D-6E8A-4147-A177-3AD203B41FA5}">
                      <a16:colId xmlns:a16="http://schemas.microsoft.com/office/drawing/2014/main" val="582941768"/>
                    </a:ext>
                  </a:extLst>
                </a:gridCol>
                <a:gridCol w="1099457">
                  <a:extLst>
                    <a:ext uri="{9D8B030D-6E8A-4147-A177-3AD203B41FA5}">
                      <a16:colId xmlns:a16="http://schemas.microsoft.com/office/drawing/2014/main" val="326648018"/>
                    </a:ext>
                  </a:extLst>
                </a:gridCol>
                <a:gridCol w="642257">
                  <a:extLst>
                    <a:ext uri="{9D8B030D-6E8A-4147-A177-3AD203B41FA5}">
                      <a16:colId xmlns:a16="http://schemas.microsoft.com/office/drawing/2014/main" val="3442362932"/>
                    </a:ext>
                  </a:extLst>
                </a:gridCol>
                <a:gridCol w="707571">
                  <a:extLst>
                    <a:ext uri="{9D8B030D-6E8A-4147-A177-3AD203B41FA5}">
                      <a16:colId xmlns:a16="http://schemas.microsoft.com/office/drawing/2014/main" val="1894457544"/>
                    </a:ext>
                  </a:extLst>
                </a:gridCol>
                <a:gridCol w="1208315">
                  <a:extLst>
                    <a:ext uri="{9D8B030D-6E8A-4147-A177-3AD203B41FA5}">
                      <a16:colId xmlns:a16="http://schemas.microsoft.com/office/drawing/2014/main" val="3378677225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724634915"/>
                    </a:ext>
                  </a:extLst>
                </a:gridCol>
                <a:gridCol w="1012371">
                  <a:extLst>
                    <a:ext uri="{9D8B030D-6E8A-4147-A177-3AD203B41FA5}">
                      <a16:colId xmlns:a16="http://schemas.microsoft.com/office/drawing/2014/main" val="2886769858"/>
                    </a:ext>
                  </a:extLst>
                </a:gridCol>
                <a:gridCol w="1883229">
                  <a:extLst>
                    <a:ext uri="{9D8B030D-6E8A-4147-A177-3AD203B41FA5}">
                      <a16:colId xmlns:a16="http://schemas.microsoft.com/office/drawing/2014/main" val="638158319"/>
                    </a:ext>
                  </a:extLst>
                </a:gridCol>
                <a:gridCol w="1317171">
                  <a:extLst>
                    <a:ext uri="{9D8B030D-6E8A-4147-A177-3AD203B41FA5}">
                      <a16:colId xmlns:a16="http://schemas.microsoft.com/office/drawing/2014/main" val="3725689978"/>
                    </a:ext>
                  </a:extLst>
                </a:gridCol>
              </a:tblGrid>
              <a:tr h="534788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社員</a:t>
                      </a:r>
                      <a:r>
                        <a:rPr kumimoji="1" lang="en-US" altLang="ja-JP" sz="1200" dirty="0"/>
                        <a:t>ID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生年月日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入社年月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エンジニア歴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経歴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研修受講歴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技術力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受講態度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コミュニケーション能力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/>
                        <a:t>リーダーシップ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805351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山田 太郎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00001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1989/2/14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8494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田中 花子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1992/1/23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9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193060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佐藤 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1990/12/31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2017/10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8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01969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木村 直也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00004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2000/4/12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2024/6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2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47341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間地 佳代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00005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1995/10/24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2019/4</a:t>
                      </a:r>
                      <a:endParaRPr kumimoji="1" lang="ja-JP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年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762557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秋葉 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00006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1996/2/23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2022/7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3</a:t>
                      </a:r>
                      <a:r>
                        <a:rPr kumimoji="1" lang="ja-JP" altLang="en-US" sz="1200" dirty="0"/>
                        <a:t>年</a:t>
                      </a:r>
                      <a:r>
                        <a:rPr kumimoji="1" lang="en-US" altLang="ja-JP" sz="1200" dirty="0"/>
                        <a:t>10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287736"/>
                  </a:ext>
                </a:extLst>
              </a:tr>
              <a:tr h="534788"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野原 しん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00007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2003/1/30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2025/12</a:t>
                      </a:r>
                      <a:endParaRPr kumimoji="1" lang="ja-JP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/>
                        <a:t>5</a:t>
                      </a:r>
                      <a:r>
                        <a:rPr kumimoji="1" lang="ja-JP" altLang="en-US" sz="1200" dirty="0"/>
                        <a:t>ヶ月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052398"/>
                  </a:ext>
                </a:extLst>
              </a:tr>
            </a:tbl>
          </a:graphicData>
        </a:graphic>
      </p:graphicFrame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3D4FF430-6ABD-8615-408A-13B5D3D167B0}"/>
              </a:ext>
            </a:extLst>
          </p:cNvPr>
          <p:cNvSpPr txBox="1"/>
          <p:nvPr/>
        </p:nvSpPr>
        <p:spPr>
          <a:xfrm>
            <a:off x="5362247" y="1925891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ソート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A550D55-4E26-3C91-E7C0-C671B2D2E5E8}"/>
              </a:ext>
            </a:extLst>
          </p:cNvPr>
          <p:cNvSpPr txBox="1"/>
          <p:nvPr/>
        </p:nvSpPr>
        <p:spPr>
          <a:xfrm>
            <a:off x="7361056" y="192357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50A13FF-40B5-E241-EDA8-1F9DD2A6BE97}"/>
              </a:ext>
            </a:extLst>
          </p:cNvPr>
          <p:cNvSpPr txBox="1"/>
          <p:nvPr/>
        </p:nvSpPr>
        <p:spPr>
          <a:xfrm>
            <a:off x="9243905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rgbClr val="FF0000"/>
                </a:solidFill>
              </a:rPr>
              <a:t>削除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3FEFD05-B21F-6AC4-5E4B-E257E5F9AB8B}"/>
              </a:ext>
            </a:extLst>
          </p:cNvPr>
          <p:cNvSpPr txBox="1"/>
          <p:nvPr/>
        </p:nvSpPr>
        <p:spPr>
          <a:xfrm>
            <a:off x="11147686" y="192357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solidFill>
                  <a:schemeClr val="bg1"/>
                </a:solidFill>
              </a:rPr>
              <a:t>出力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231E389-7C04-517A-95E6-C5786CA20399}"/>
              </a:ext>
            </a:extLst>
          </p:cNvPr>
          <p:cNvSpPr/>
          <p:nvPr/>
        </p:nvSpPr>
        <p:spPr>
          <a:xfrm>
            <a:off x="2775857" y="2579701"/>
            <a:ext cx="6346372" cy="33530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03D9B0-B56B-A511-9753-385A11C1219B}"/>
              </a:ext>
            </a:extLst>
          </p:cNvPr>
          <p:cNvSpPr txBox="1"/>
          <p:nvPr/>
        </p:nvSpPr>
        <p:spPr>
          <a:xfrm>
            <a:off x="3420145" y="3464415"/>
            <a:ext cx="50577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>
                <a:solidFill>
                  <a:schemeClr val="bg1"/>
                </a:solidFill>
              </a:rPr>
              <a:t>選択したエンジニア情報を</a:t>
            </a:r>
            <a:r>
              <a:rPr lang="ja-JP" altLang="en-US" sz="2000" dirty="0">
                <a:solidFill>
                  <a:schemeClr val="bg1"/>
                </a:solidFill>
              </a:rPr>
              <a:t>出力</a:t>
            </a:r>
            <a:r>
              <a:rPr kumimoji="1" lang="ja-JP" altLang="en-US" sz="2000" dirty="0">
                <a:solidFill>
                  <a:schemeClr val="bg1"/>
                </a:solidFill>
              </a:rPr>
              <a:t>しますか？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DA33271-69E1-9334-305E-0CC389E91586}"/>
              </a:ext>
            </a:extLst>
          </p:cNvPr>
          <p:cNvSpPr/>
          <p:nvPr/>
        </p:nvSpPr>
        <p:spPr>
          <a:xfrm>
            <a:off x="6355536" y="4782384"/>
            <a:ext cx="1719942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BB9246-6A62-3268-DF67-5FF706A280AC}"/>
              </a:ext>
            </a:extLst>
          </p:cNvPr>
          <p:cNvSpPr/>
          <p:nvPr/>
        </p:nvSpPr>
        <p:spPr>
          <a:xfrm>
            <a:off x="3642305" y="4782384"/>
            <a:ext cx="1719942" cy="55909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191F8A8-9A7C-2C7A-6C1E-FBC3F2D2CD9D}"/>
              </a:ext>
            </a:extLst>
          </p:cNvPr>
          <p:cNvSpPr txBox="1"/>
          <p:nvPr/>
        </p:nvSpPr>
        <p:spPr>
          <a:xfrm>
            <a:off x="4102166" y="483109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はい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AADCDEB-4273-580A-1BE5-847C5C8C6927}"/>
              </a:ext>
            </a:extLst>
          </p:cNvPr>
          <p:cNvSpPr txBox="1"/>
          <p:nvPr/>
        </p:nvSpPr>
        <p:spPr>
          <a:xfrm>
            <a:off x="6661509" y="4831095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いいえ</a:t>
            </a:r>
          </a:p>
        </p:txBody>
      </p:sp>
    </p:spTree>
    <p:extLst>
      <p:ext uri="{BB962C8B-B14F-4D97-AF65-F5344CB8AC3E}">
        <p14:creationId xmlns:p14="http://schemas.microsoft.com/office/powerpoint/2010/main" val="474836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6F8DA-CEEA-2A6A-5DD1-034F7BC51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3">
            <a:extLst>
              <a:ext uri="{FF2B5EF4-FFF2-40B4-BE49-F238E27FC236}">
                <a16:creationId xmlns:a16="http://schemas.microsoft.com/office/drawing/2014/main" id="{6A967868-9296-910B-DE9E-C7B75173711E}"/>
              </a:ext>
            </a:extLst>
          </p:cNvPr>
          <p:cNvSpPr/>
          <p:nvPr/>
        </p:nvSpPr>
        <p:spPr>
          <a:xfrm>
            <a:off x="304796" y="925290"/>
            <a:ext cx="6868881" cy="5607859"/>
          </a:xfrm>
          <a:prstGeom prst="rect">
            <a:avLst/>
          </a:prstGeom>
          <a:solidFill>
            <a:srgbClr val="404040"/>
          </a:solidFill>
          <a:ln w="19046" cap="flat">
            <a:solidFill>
              <a:srgbClr val="042433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游ゴシック"/>
              <a:ea typeface="游ゴシック" pitchFamily="50"/>
            </a:endParaRPr>
          </a:p>
        </p:txBody>
      </p:sp>
      <p:sp>
        <p:nvSpPr>
          <p:cNvPr id="7" name="テキスト ボックス 7">
            <a:extLst>
              <a:ext uri="{FF2B5EF4-FFF2-40B4-BE49-F238E27FC236}">
                <a16:creationId xmlns:a16="http://schemas.microsoft.com/office/drawing/2014/main" id="{BC8990F8-64FB-E738-036D-1772F89EC1C6}"/>
              </a:ext>
            </a:extLst>
          </p:cNvPr>
          <p:cNvSpPr txBox="1"/>
          <p:nvPr/>
        </p:nvSpPr>
        <p:spPr>
          <a:xfrm>
            <a:off x="304796" y="195946"/>
            <a:ext cx="4572085" cy="646331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§</a:t>
            </a:r>
            <a:r>
              <a:rPr 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2-5</a:t>
            </a:r>
            <a:r>
              <a:rPr 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　</a:t>
            </a:r>
            <a:r>
              <a:rPr lang="en-US" altLang="ja-JP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CSV</a:t>
            </a:r>
            <a:r>
              <a:rPr lang="ja-JP" altLang="en-US" sz="3600" b="0" i="0" u="none" strike="noStrike" kern="1200" cap="none" spc="0" baseline="0" dirty="0">
                <a:solidFill>
                  <a:srgbClr val="000000"/>
                </a:solidFill>
                <a:uFillTx/>
                <a:latin typeface="游ゴシック"/>
                <a:ea typeface="游ゴシック" pitchFamily="50"/>
              </a:rPr>
              <a:t>出力機能</a:t>
            </a:r>
            <a:endParaRPr lang="en-US" sz="3600" b="0" i="0" u="none" strike="noStrike" kern="1200" cap="none" spc="0" baseline="0" dirty="0">
              <a:solidFill>
                <a:srgbClr val="000000"/>
              </a:solidFill>
              <a:uFillTx/>
              <a:latin typeface="游ゴシック"/>
              <a:ea typeface="游ゴシック" pitchFamily="50"/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DEF282C-CEB0-01A7-9E06-ABB5436974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0831408"/>
              </p:ext>
            </p:extLst>
          </p:nvPr>
        </p:nvGraphicFramePr>
        <p:xfrm>
          <a:off x="304796" y="925290"/>
          <a:ext cx="6868880" cy="15935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5179">
                  <a:extLst>
                    <a:ext uri="{9D8B030D-6E8A-4147-A177-3AD203B41FA5}">
                      <a16:colId xmlns:a16="http://schemas.microsoft.com/office/drawing/2014/main" val="688084510"/>
                    </a:ext>
                  </a:extLst>
                </a:gridCol>
                <a:gridCol w="6373701">
                  <a:extLst>
                    <a:ext uri="{9D8B030D-6E8A-4147-A177-3AD203B41FA5}">
                      <a16:colId xmlns:a16="http://schemas.microsoft.com/office/drawing/2014/main" val="1072463033"/>
                    </a:ext>
                  </a:extLst>
                </a:gridCol>
              </a:tblGrid>
              <a:tr h="61042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氏名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社員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生年月日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入社年月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エンジニア歴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扱える言語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経歴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研修の受講歴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技術力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受講態度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コミュニケーション能力</a:t>
                      </a:r>
                      <a:r>
                        <a:rPr kumimoji="1" lang="en-US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1" lang="ja-JP" altLang="ja-JP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リーダーシップ備考</a:t>
                      </a:r>
                      <a:endParaRPr kumimoji="1" lang="ja-JP" altLang="en-US" sz="12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420562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山田太郎</a:t>
                      </a:r>
                      <a:r>
                        <a:rPr kumimoji="1" lang="en-US" altLang="ja-JP" dirty="0"/>
                        <a:t>,00001,~,~,~,~,~,~,~,~,~,~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445293"/>
                  </a:ext>
                </a:extLst>
              </a:tr>
              <a:tr h="4915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間地 佳代</a:t>
                      </a:r>
                      <a:r>
                        <a:rPr kumimoji="1" lang="en-US" altLang="ja-JP" dirty="0"/>
                        <a:t>,00005,~,~,~,~,~,~,~,~,~,~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850053"/>
                  </a:ext>
                </a:extLst>
              </a:tr>
            </a:tbl>
          </a:graphicData>
        </a:graphic>
      </p:graphicFrame>
      <p:pic>
        <p:nvPicPr>
          <p:cNvPr id="6" name="図 5">
            <a:extLst>
              <a:ext uri="{FF2B5EF4-FFF2-40B4-BE49-F238E27FC236}">
                <a16:creationId xmlns:a16="http://schemas.microsoft.com/office/drawing/2014/main" id="{62E0B680-BE1F-83F6-9625-8872AC1E2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825" y="4507548"/>
            <a:ext cx="3838765" cy="185533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8A7074D-1EC0-EF88-21DC-2AF61B329963}"/>
              </a:ext>
            </a:extLst>
          </p:cNvPr>
          <p:cNvSpPr txBox="1"/>
          <p:nvPr/>
        </p:nvSpPr>
        <p:spPr>
          <a:xfrm>
            <a:off x="2155372" y="5570157"/>
            <a:ext cx="3451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>
                <a:solidFill>
                  <a:schemeClr val="bg1"/>
                </a:solidFill>
              </a:rPr>
              <a:t>実際の</a:t>
            </a:r>
            <a:r>
              <a:rPr lang="en-US" altLang="ja-JP" sz="3200" dirty="0">
                <a:solidFill>
                  <a:schemeClr val="bg1"/>
                </a:solidFill>
              </a:rPr>
              <a:t>CSV</a:t>
            </a:r>
            <a:r>
              <a:rPr lang="ja-JP" altLang="en-US" sz="3200" dirty="0">
                <a:solidFill>
                  <a:schemeClr val="bg1"/>
                </a:solidFill>
              </a:rPr>
              <a:t>データ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755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1759</TotalTime>
  <Words>1703</Words>
  <Application>Microsoft Office PowerPoint</Application>
  <PresentationFormat>ワイド画面</PresentationFormat>
  <Paragraphs>1064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Taisei Yamamoto</dc:creator>
  <cp:lastModifiedBy>Taisei Yamamoto</cp:lastModifiedBy>
  <cp:revision>3</cp:revision>
  <dcterms:created xsi:type="dcterms:W3CDTF">2026-06-01T11:21:14Z</dcterms:created>
  <dcterms:modified xsi:type="dcterms:W3CDTF">2026-06-08T11:28:14Z</dcterms:modified>
</cp:coreProperties>
</file>